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8" r:id="rId23"/>
    <p:sldId id="279" r:id="rId24"/>
    <p:sldId id="280" r:id="rId25"/>
    <p:sldId id="281" r:id="rId26"/>
    <p:sldId id="282" r:id="rId27"/>
    <p:sldId id="275"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4287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5E61C-7BCB-40D1-F21D-837B8929A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EF27FB-B226-6092-6F9D-099B2E2BA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76C2FC-3C7D-A82E-198F-E13B4520AD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A0C262-1F99-77DC-C25F-DB95995171A9}"/>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3224062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4C1BB-756D-5E4A-5F1A-8FAC63269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919917-F50C-F7DA-E978-5E7E15F47D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3264DF-B284-D4DE-4CED-79F3729ECC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64679C-B8E0-0246-BE88-A197C8463334}"/>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979073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5686B-FAD1-CAA2-EACC-E901A441A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8EF651-B51E-9C23-0076-026FDDBD2E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D8964E-1486-4815-38BD-2FAC21335B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7C519E-9A98-047D-104E-BB1106FC5433}"/>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7764960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E6329-C11C-3E5B-4E2F-D684EAC9B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E6B68-AF08-0F8E-CFFD-17CFFC00D2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10D70F-396E-130D-6667-AD0E32CE75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78D7FD-41AD-2226-18F7-2B9D909525A3}"/>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5412093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DF16F-E718-0F5D-B955-D29995C8D1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3C3B0C-69DB-8F81-5146-E447F1079A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6A3C64-FB1A-F0F6-08F6-99150B97A7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95D3E4-7B25-0554-C097-FB1C8FE44EE3}"/>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750798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F969F-A6BF-F40B-5952-779A36D270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BA3D34-35FE-BBAD-10DC-39A66DEECE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7CF5B6-3E97-1690-BD25-05A6C0501A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989831-6B51-F8B4-7F26-4E7DC369D04F}"/>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1363374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FAD8D-520F-9A36-050F-BFDE9CD4EF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CAE2DD-4B61-7E0C-E9C6-0B1F46A072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91EA16-9677-8776-F7A2-ED4CFBD590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076D4F-1BCD-3635-4CA6-BA079617949D}"/>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3920943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pic>
        <p:nvPicPr>
          <p:cNvPr id="2" name="Image 0" descr="/home/claude/media/image1.png"/>
          <p:cNvPicPr>
            <a:picLocks noChangeAspect="1"/>
          </p:cNvPicPr>
          <p:nvPr/>
        </p:nvPicPr>
        <p:blipFill>
          <a:blip r:embed="rId3">
            <a:alphaModFix amt="80000"/>
          </a:blip>
          <a:srcRect r="99991" b="99989"/>
          <a:stretch/>
        </p:blipFill>
        <p:spPr>
          <a:xfrm>
            <a:off x="0" y="0"/>
            <a:ext cx="520" cy="576"/>
          </a:xfrm>
          <a:prstGeom prst="rect">
            <a:avLst/>
          </a:prstGeom>
        </p:spPr>
      </p:pic>
      <p:sp>
        <p:nvSpPr>
          <p:cNvPr id="3" name="Shape 0"/>
          <p:cNvSpPr/>
          <p:nvPr/>
        </p:nvSpPr>
        <p:spPr>
          <a:xfrm>
            <a:off x="0" y="0"/>
            <a:ext cx="5669280" cy="5143500"/>
          </a:xfrm>
          <a:prstGeom prst="rect">
            <a:avLst/>
          </a:prstGeom>
          <a:solidFill>
            <a:srgbClr val="0A1628">
              <a:alpha val="50000"/>
            </a:srgbClr>
          </a:solidFill>
          <a:ln/>
        </p:spPr>
        <p:txBody>
          <a:bodyPr/>
          <a:lstStyle/>
          <a:p>
            <a:endParaRPr lang="en-IN"/>
          </a:p>
        </p:txBody>
      </p:sp>
      <p:sp>
        <p:nvSpPr>
          <p:cNvPr id="4" name="Shape 1"/>
          <p:cNvSpPr/>
          <p:nvPr/>
        </p:nvSpPr>
        <p:spPr>
          <a:xfrm>
            <a:off x="0" y="0"/>
            <a:ext cx="9144000" cy="54864"/>
          </a:xfrm>
          <a:prstGeom prst="rect">
            <a:avLst/>
          </a:prstGeom>
          <a:solidFill>
            <a:srgbClr val="0C7C99"/>
          </a:solidFill>
          <a:ln/>
        </p:spPr>
        <p:txBody>
          <a:bodyPr/>
          <a:lstStyle/>
          <a:p>
            <a:endParaRPr lang="en-IN"/>
          </a:p>
        </p:txBody>
      </p:sp>
      <p:sp>
        <p:nvSpPr>
          <p:cNvPr id="5" name="Shape 2"/>
          <p:cNvSpPr/>
          <p:nvPr/>
        </p:nvSpPr>
        <p:spPr>
          <a:xfrm>
            <a:off x="5669280" y="0"/>
            <a:ext cx="3474720" cy="5143500"/>
          </a:xfrm>
          <a:prstGeom prst="rect">
            <a:avLst/>
          </a:prstGeom>
          <a:solidFill>
            <a:srgbClr val="122240">
              <a:alpha val="85000"/>
            </a:srgbClr>
          </a:solidFill>
          <a:ln/>
        </p:spPr>
        <p:txBody>
          <a:bodyPr/>
          <a:lstStyle/>
          <a:p>
            <a:endParaRPr lang="en-IN"/>
          </a:p>
        </p:txBody>
      </p:sp>
      <p:sp>
        <p:nvSpPr>
          <p:cNvPr id="6" name="Text 3"/>
          <p:cNvSpPr/>
          <p:nvPr/>
        </p:nvSpPr>
        <p:spPr>
          <a:xfrm>
            <a:off x="640080" y="457200"/>
            <a:ext cx="4572000" cy="320040"/>
          </a:xfrm>
          <a:prstGeom prst="rect">
            <a:avLst/>
          </a:prstGeom>
          <a:noFill/>
          <a:ln/>
        </p:spPr>
        <p:txBody>
          <a:bodyPr wrap="square" lIns="0" tIns="0" rIns="0" bIns="0" rtlCol="0" anchor="ctr"/>
          <a:lstStyle/>
          <a:p>
            <a:pPr marL="0" indent="0">
              <a:buNone/>
            </a:pPr>
            <a:r>
              <a:rPr lang="en-US" sz="1100" b="1" kern="0" spc="300" dirty="0">
                <a:solidFill>
                  <a:srgbClr val="14A3C7"/>
                </a:solidFill>
                <a:latin typeface="Calibri" pitchFamily="34" charset="0"/>
                <a:ea typeface="Calibri" pitchFamily="34" charset="-122"/>
                <a:cs typeface="Calibri" pitchFamily="34" charset="-120"/>
              </a:rPr>
              <a:t>OBJECT-ORIENTED DESIGN PROJECT</a:t>
            </a:r>
            <a:endParaRPr lang="en-US" sz="1100" dirty="0"/>
          </a:p>
        </p:txBody>
      </p:sp>
      <p:sp>
        <p:nvSpPr>
          <p:cNvPr id="7" name="Text 4"/>
          <p:cNvSpPr/>
          <p:nvPr/>
        </p:nvSpPr>
        <p:spPr>
          <a:xfrm>
            <a:off x="640080" y="1005840"/>
            <a:ext cx="4572000" cy="1097280"/>
          </a:xfrm>
          <a:prstGeom prst="rect">
            <a:avLst/>
          </a:prstGeom>
          <a:noFill/>
          <a:ln/>
        </p:spPr>
        <p:txBody>
          <a:bodyPr wrap="square" lIns="0" tIns="0" rIns="0" bIns="0" rtlCol="0" anchor="ctr"/>
          <a:lstStyle/>
          <a:p>
            <a:pPr marL="0" indent="0">
              <a:buNone/>
            </a:pPr>
            <a:r>
              <a:rPr lang="en-US" sz="7200" b="1" dirty="0">
                <a:solidFill>
                  <a:srgbClr val="FFFFFF"/>
                </a:solidFill>
                <a:latin typeface="Cambria" pitchFamily="34" charset="0"/>
                <a:ea typeface="Cambria" pitchFamily="34" charset="-122"/>
                <a:cs typeface="Cambria" pitchFamily="34" charset="-120"/>
              </a:rPr>
              <a:t>SCFMS</a:t>
            </a:r>
            <a:endParaRPr lang="en-US" sz="7200" dirty="0"/>
          </a:p>
        </p:txBody>
      </p:sp>
      <p:sp>
        <p:nvSpPr>
          <p:cNvPr id="8" name="Text 5"/>
          <p:cNvSpPr/>
          <p:nvPr/>
        </p:nvSpPr>
        <p:spPr>
          <a:xfrm>
            <a:off x="640080" y="2103120"/>
            <a:ext cx="4572000" cy="777240"/>
          </a:xfrm>
          <a:prstGeom prst="rect">
            <a:avLst/>
          </a:prstGeom>
          <a:noFill/>
          <a:ln/>
        </p:spPr>
        <p:txBody>
          <a:bodyPr wrap="square" lIns="0" tIns="0" rIns="0" bIns="0" rtlCol="0" anchor="ctr"/>
          <a:lstStyle/>
          <a:p>
            <a:pPr marL="0" indent="0">
              <a:buNone/>
            </a:pPr>
            <a:r>
              <a:rPr lang="en-US" sz="2200" dirty="0">
                <a:solidFill>
                  <a:srgbClr val="A3B8CC"/>
                </a:solidFill>
                <a:latin typeface="Calibri" pitchFamily="34" charset="0"/>
                <a:ea typeface="Calibri" pitchFamily="34" charset="-122"/>
                <a:cs typeface="Calibri" pitchFamily="34" charset="-120"/>
              </a:rPr>
              <a:t>Smart Campus Facility</a:t>
            </a:r>
            <a:endParaRPr lang="en-US" sz="2200" dirty="0"/>
          </a:p>
          <a:p>
            <a:pPr marL="0" indent="0">
              <a:buNone/>
            </a:pPr>
            <a:r>
              <a:rPr lang="en-US" sz="2200" dirty="0">
                <a:solidFill>
                  <a:srgbClr val="A3B8CC"/>
                </a:solidFill>
                <a:latin typeface="Calibri" pitchFamily="34" charset="0"/>
                <a:ea typeface="Calibri" pitchFamily="34" charset="-122"/>
                <a:cs typeface="Calibri" pitchFamily="34" charset="-120"/>
              </a:rPr>
              <a:t>Management System</a:t>
            </a:r>
            <a:endParaRPr lang="en-US" sz="2200" dirty="0"/>
          </a:p>
        </p:txBody>
      </p:sp>
      <p:sp>
        <p:nvSpPr>
          <p:cNvPr id="9" name="Text 6"/>
          <p:cNvSpPr/>
          <p:nvPr/>
        </p:nvSpPr>
        <p:spPr>
          <a:xfrm>
            <a:off x="640080" y="3017520"/>
            <a:ext cx="4572000" cy="320040"/>
          </a:xfrm>
          <a:prstGeom prst="rect">
            <a:avLst/>
          </a:prstGeom>
          <a:noFill/>
          <a:ln/>
        </p:spPr>
        <p:txBody>
          <a:bodyPr wrap="square" lIns="0" tIns="0" rIns="0" bIns="0" rtlCol="0" anchor="ctr"/>
          <a:lstStyle/>
          <a:p>
            <a:pPr marL="0" indent="0">
              <a:buNone/>
            </a:pPr>
            <a:r>
              <a:rPr lang="en-US" sz="1300" i="1" dirty="0">
                <a:solidFill>
                  <a:srgbClr val="5A7A96"/>
                </a:solidFill>
                <a:latin typeface="Calibri" pitchFamily="34" charset="0"/>
                <a:ea typeface="Calibri" pitchFamily="34" charset="-122"/>
                <a:cs typeface="Calibri" pitchFamily="34" charset="-120"/>
              </a:rPr>
              <a:t>Intelligent Solutions for Modern Campus Operations</a:t>
            </a:r>
            <a:endParaRPr lang="en-US" sz="1300" dirty="0"/>
          </a:p>
        </p:txBody>
      </p:sp>
      <p:sp>
        <p:nvSpPr>
          <p:cNvPr id="10" name="Text 7"/>
          <p:cNvSpPr/>
          <p:nvPr/>
        </p:nvSpPr>
        <p:spPr>
          <a:xfrm>
            <a:off x="5943600" y="1828800"/>
            <a:ext cx="292608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Sasi Sai Nadh Boddu</a:t>
            </a:r>
            <a:endParaRPr lang="en-US" sz="1600" dirty="0"/>
          </a:p>
        </p:txBody>
      </p:sp>
      <p:sp>
        <p:nvSpPr>
          <p:cNvPr id="11" name="Text 8"/>
          <p:cNvSpPr/>
          <p:nvPr/>
        </p:nvSpPr>
        <p:spPr>
          <a:xfrm>
            <a:off x="5943600" y="2240280"/>
            <a:ext cx="2926080" cy="274320"/>
          </a:xfrm>
          <a:prstGeom prst="rect">
            <a:avLst/>
          </a:prstGeom>
          <a:noFill/>
          <a:ln/>
        </p:spPr>
        <p:txBody>
          <a:bodyPr wrap="square" rtlCol="0" anchor="ctr"/>
          <a:lstStyle/>
          <a:p>
            <a:pPr marL="0" indent="0" algn="ctr">
              <a:buNone/>
            </a:pPr>
            <a:r>
              <a:rPr lang="en-US" sz="1200" dirty="0">
                <a:solidFill>
                  <a:srgbClr val="14A3C7"/>
                </a:solidFill>
                <a:latin typeface="JetBrains Mono" pitchFamily="34" charset="0"/>
                <a:ea typeface="JetBrains Mono" pitchFamily="34" charset="-122"/>
                <a:cs typeface="JetBrains Mono" pitchFamily="34" charset="-120"/>
              </a:rPr>
              <a:t>GWID: G22742105</a:t>
            </a:r>
            <a:endParaRPr lang="en-US" sz="1200" dirty="0"/>
          </a:p>
        </p:txBody>
      </p:sp>
      <p:sp>
        <p:nvSpPr>
          <p:cNvPr id="12" name="Text 9"/>
          <p:cNvSpPr/>
          <p:nvPr/>
        </p:nvSpPr>
        <p:spPr>
          <a:xfrm>
            <a:off x="5943600" y="2560320"/>
            <a:ext cx="2926080" cy="274320"/>
          </a:xfrm>
          <a:prstGeom prst="rect">
            <a:avLst/>
          </a:prstGeom>
          <a:noFill/>
          <a:ln/>
        </p:spPr>
        <p:txBody>
          <a:bodyPr wrap="square" rtlCol="0" anchor="ctr"/>
          <a:lstStyle/>
          <a:p>
            <a:pPr marL="0" indent="0" algn="ctr">
              <a:buNone/>
            </a:pPr>
            <a:r>
              <a:rPr lang="en-US" sz="1300" dirty="0">
                <a:solidFill>
                  <a:srgbClr val="A3B8CC"/>
                </a:solidFill>
                <a:latin typeface="Calibri" pitchFamily="34" charset="0"/>
                <a:ea typeface="Calibri" pitchFamily="34" charset="-122"/>
                <a:cs typeface="Calibri" pitchFamily="34" charset="-120"/>
              </a:rPr>
              <a:t>Group 24</a:t>
            </a:r>
            <a:endParaRPr lang="en-US" sz="1300" dirty="0"/>
          </a:p>
        </p:txBody>
      </p:sp>
      <p:sp>
        <p:nvSpPr>
          <p:cNvPr id="13" name="Shape 10"/>
          <p:cNvSpPr/>
          <p:nvPr/>
        </p:nvSpPr>
        <p:spPr>
          <a:xfrm>
            <a:off x="0" y="5052060"/>
            <a:ext cx="9144000" cy="91440"/>
          </a:xfrm>
          <a:prstGeom prst="rect">
            <a:avLst/>
          </a:prstGeom>
          <a:solidFill>
            <a:srgbClr val="0C7C99"/>
          </a:solidFill>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Text 1"/>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AGENDA</a:t>
            </a:r>
            <a:endParaRPr lang="en-US" sz="1000" dirty="0"/>
          </a:p>
        </p:txBody>
      </p:sp>
      <p:sp>
        <p:nvSpPr>
          <p:cNvPr id="4" name="Text 2"/>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Project Overview</a:t>
            </a:r>
            <a:endParaRPr lang="en-US" sz="2800" dirty="0"/>
          </a:p>
        </p:txBody>
      </p:sp>
      <p:sp>
        <p:nvSpPr>
          <p:cNvPr id="5" name="Shape 3"/>
          <p:cNvSpPr/>
          <p:nvPr/>
        </p:nvSpPr>
        <p:spPr>
          <a:xfrm>
            <a:off x="640080" y="1234440"/>
            <a:ext cx="365760" cy="365760"/>
          </a:xfrm>
          <a:prstGeom prst="ellipse">
            <a:avLst/>
          </a:prstGeom>
          <a:solidFill>
            <a:srgbClr val="0C7C99"/>
          </a:solidFill>
          <a:ln/>
        </p:spPr>
        <p:txBody>
          <a:bodyPr/>
          <a:lstStyle/>
          <a:p>
            <a:endParaRPr lang="en-IN"/>
          </a:p>
        </p:txBody>
      </p:sp>
      <p:sp>
        <p:nvSpPr>
          <p:cNvPr id="6" name="Text 4"/>
          <p:cNvSpPr/>
          <p:nvPr/>
        </p:nvSpPr>
        <p:spPr>
          <a:xfrm>
            <a:off x="640080" y="1234440"/>
            <a:ext cx="365760" cy="365760"/>
          </a:xfrm>
          <a:prstGeom prst="rect">
            <a:avLst/>
          </a:prstGeom>
          <a:noFill/>
          <a:ln/>
        </p:spPr>
        <p:txBody>
          <a:bodyPr wrap="square" rtlCol="0" anchor="ctr"/>
          <a:lstStyle/>
          <a:p>
            <a:pPr marL="0" indent="0" algn="ctr">
              <a:buNone/>
            </a:pPr>
            <a:r>
              <a:rPr lang="en-US" sz="1100" b="1" dirty="0">
                <a:solidFill>
                  <a:srgbClr val="FFFFFF"/>
                </a:solidFill>
                <a:latin typeface="JetBrains Mono" pitchFamily="34" charset="0"/>
                <a:ea typeface="JetBrains Mono" pitchFamily="34" charset="-122"/>
                <a:cs typeface="JetBrains Mono" pitchFamily="34" charset="-120"/>
              </a:rPr>
              <a:t>01</a:t>
            </a:r>
            <a:endParaRPr lang="en-US" sz="1100" dirty="0"/>
          </a:p>
        </p:txBody>
      </p:sp>
      <p:sp>
        <p:nvSpPr>
          <p:cNvPr id="7" name="Text 5"/>
          <p:cNvSpPr/>
          <p:nvPr/>
        </p:nvSpPr>
        <p:spPr>
          <a:xfrm>
            <a:off x="1188720" y="1234440"/>
            <a:ext cx="6400800" cy="365760"/>
          </a:xfrm>
          <a:prstGeom prst="rect">
            <a:avLst/>
          </a:prstGeom>
          <a:noFill/>
          <a:ln/>
        </p:spPr>
        <p:txBody>
          <a:bodyPr wrap="square" lIns="0" tIns="0" rIns="0" bIns="0" rtlCol="0" anchor="ctr"/>
          <a:lstStyle/>
          <a:p>
            <a:pPr marL="0" indent="0">
              <a:buNone/>
            </a:pPr>
            <a:r>
              <a:rPr lang="en-US" sz="1600" dirty="0">
                <a:solidFill>
                  <a:srgbClr val="F0F4F8"/>
                </a:solidFill>
                <a:latin typeface="Calibri" pitchFamily="34" charset="0"/>
                <a:ea typeface="Calibri" pitchFamily="34" charset="-122"/>
                <a:cs typeface="Calibri" pitchFamily="34" charset="-120"/>
              </a:rPr>
              <a:t>Introduction &amp; Objectives</a:t>
            </a:r>
            <a:endParaRPr lang="en-US" sz="1600" dirty="0"/>
          </a:p>
        </p:txBody>
      </p:sp>
      <p:sp>
        <p:nvSpPr>
          <p:cNvPr id="8" name="Shape 6"/>
          <p:cNvSpPr/>
          <p:nvPr/>
        </p:nvSpPr>
        <p:spPr>
          <a:xfrm>
            <a:off x="640080" y="1691640"/>
            <a:ext cx="365760" cy="365760"/>
          </a:xfrm>
          <a:prstGeom prst="ellipse">
            <a:avLst/>
          </a:prstGeom>
          <a:solidFill>
            <a:srgbClr val="14A3C7"/>
          </a:solidFill>
          <a:ln/>
        </p:spPr>
        <p:txBody>
          <a:bodyPr/>
          <a:lstStyle/>
          <a:p>
            <a:endParaRPr lang="en-IN"/>
          </a:p>
        </p:txBody>
      </p:sp>
      <p:sp>
        <p:nvSpPr>
          <p:cNvPr id="9" name="Text 7"/>
          <p:cNvSpPr/>
          <p:nvPr/>
        </p:nvSpPr>
        <p:spPr>
          <a:xfrm>
            <a:off x="640080" y="1691640"/>
            <a:ext cx="365760" cy="365760"/>
          </a:xfrm>
          <a:prstGeom prst="rect">
            <a:avLst/>
          </a:prstGeom>
          <a:noFill/>
          <a:ln/>
        </p:spPr>
        <p:txBody>
          <a:bodyPr wrap="square" rtlCol="0" anchor="ctr"/>
          <a:lstStyle/>
          <a:p>
            <a:pPr marL="0" indent="0" algn="ctr">
              <a:buNone/>
            </a:pPr>
            <a:r>
              <a:rPr lang="en-US" sz="1100" b="1" dirty="0">
                <a:solidFill>
                  <a:srgbClr val="FFFFFF"/>
                </a:solidFill>
                <a:latin typeface="JetBrains Mono" pitchFamily="34" charset="0"/>
                <a:ea typeface="JetBrains Mono" pitchFamily="34" charset="-122"/>
                <a:cs typeface="JetBrains Mono" pitchFamily="34" charset="-120"/>
              </a:rPr>
              <a:t>02</a:t>
            </a:r>
            <a:endParaRPr lang="en-US" sz="1100" dirty="0"/>
          </a:p>
        </p:txBody>
      </p:sp>
      <p:sp>
        <p:nvSpPr>
          <p:cNvPr id="10" name="Text 8"/>
          <p:cNvSpPr/>
          <p:nvPr/>
        </p:nvSpPr>
        <p:spPr>
          <a:xfrm>
            <a:off x="1188720" y="1691640"/>
            <a:ext cx="6400800" cy="365760"/>
          </a:xfrm>
          <a:prstGeom prst="rect">
            <a:avLst/>
          </a:prstGeom>
          <a:noFill/>
          <a:ln/>
        </p:spPr>
        <p:txBody>
          <a:bodyPr wrap="square" lIns="0" tIns="0" rIns="0" bIns="0" rtlCol="0" anchor="ctr"/>
          <a:lstStyle/>
          <a:p>
            <a:pPr marL="0" indent="0">
              <a:buNone/>
            </a:pPr>
            <a:r>
              <a:rPr lang="en-US" sz="1600" dirty="0">
                <a:solidFill>
                  <a:srgbClr val="F0F4F8"/>
                </a:solidFill>
                <a:latin typeface="Calibri" pitchFamily="34" charset="0"/>
                <a:ea typeface="Calibri" pitchFamily="34" charset="-122"/>
                <a:cs typeface="Calibri" pitchFamily="34" charset="-120"/>
              </a:rPr>
              <a:t>Requirements Model — Use Case Diagram</a:t>
            </a:r>
            <a:endParaRPr lang="en-US" sz="1600" dirty="0"/>
          </a:p>
        </p:txBody>
      </p:sp>
      <p:sp>
        <p:nvSpPr>
          <p:cNvPr id="11" name="Shape 9"/>
          <p:cNvSpPr/>
          <p:nvPr/>
        </p:nvSpPr>
        <p:spPr>
          <a:xfrm>
            <a:off x="640080" y="2148840"/>
            <a:ext cx="365760" cy="365760"/>
          </a:xfrm>
          <a:prstGeom prst="ellipse">
            <a:avLst/>
          </a:prstGeom>
          <a:solidFill>
            <a:srgbClr val="22C988"/>
          </a:solidFill>
          <a:ln/>
        </p:spPr>
        <p:txBody>
          <a:bodyPr/>
          <a:lstStyle/>
          <a:p>
            <a:endParaRPr lang="en-IN"/>
          </a:p>
        </p:txBody>
      </p:sp>
      <p:sp>
        <p:nvSpPr>
          <p:cNvPr id="12" name="Text 10"/>
          <p:cNvSpPr/>
          <p:nvPr/>
        </p:nvSpPr>
        <p:spPr>
          <a:xfrm>
            <a:off x="640080" y="2148840"/>
            <a:ext cx="365760" cy="365760"/>
          </a:xfrm>
          <a:prstGeom prst="rect">
            <a:avLst/>
          </a:prstGeom>
          <a:noFill/>
          <a:ln/>
        </p:spPr>
        <p:txBody>
          <a:bodyPr wrap="square" rtlCol="0" anchor="ctr"/>
          <a:lstStyle/>
          <a:p>
            <a:pPr marL="0" indent="0" algn="ctr">
              <a:buNone/>
            </a:pPr>
            <a:r>
              <a:rPr lang="en-US" sz="1100" b="1" dirty="0">
                <a:solidFill>
                  <a:srgbClr val="FFFFFF"/>
                </a:solidFill>
                <a:latin typeface="JetBrains Mono" pitchFamily="34" charset="0"/>
                <a:ea typeface="JetBrains Mono" pitchFamily="34" charset="-122"/>
                <a:cs typeface="JetBrains Mono" pitchFamily="34" charset="-120"/>
              </a:rPr>
              <a:t>03</a:t>
            </a:r>
            <a:endParaRPr lang="en-US" sz="1100" dirty="0"/>
          </a:p>
        </p:txBody>
      </p:sp>
      <p:sp>
        <p:nvSpPr>
          <p:cNvPr id="13" name="Text 11"/>
          <p:cNvSpPr/>
          <p:nvPr/>
        </p:nvSpPr>
        <p:spPr>
          <a:xfrm>
            <a:off x="1188720" y="2148840"/>
            <a:ext cx="6400800" cy="365760"/>
          </a:xfrm>
          <a:prstGeom prst="rect">
            <a:avLst/>
          </a:prstGeom>
          <a:noFill/>
          <a:ln/>
        </p:spPr>
        <p:txBody>
          <a:bodyPr wrap="square" lIns="0" tIns="0" rIns="0" bIns="0" rtlCol="0" anchor="ctr"/>
          <a:lstStyle/>
          <a:p>
            <a:pPr marL="0" indent="0">
              <a:buNone/>
            </a:pPr>
            <a:r>
              <a:rPr lang="en-US" sz="1600" dirty="0">
                <a:solidFill>
                  <a:srgbClr val="F0F4F8"/>
                </a:solidFill>
                <a:latin typeface="Calibri" pitchFamily="34" charset="0"/>
                <a:ea typeface="Calibri" pitchFamily="34" charset="-122"/>
                <a:cs typeface="Calibri" pitchFamily="34" charset="-120"/>
              </a:rPr>
              <a:t>Analysis Model — Domain Model</a:t>
            </a:r>
            <a:endParaRPr lang="en-US" sz="1600" dirty="0"/>
          </a:p>
        </p:txBody>
      </p:sp>
      <p:sp>
        <p:nvSpPr>
          <p:cNvPr id="14" name="Shape 12"/>
          <p:cNvSpPr/>
          <p:nvPr/>
        </p:nvSpPr>
        <p:spPr>
          <a:xfrm>
            <a:off x="640080" y="2606040"/>
            <a:ext cx="365760" cy="365760"/>
          </a:xfrm>
          <a:prstGeom prst="ellipse">
            <a:avLst/>
          </a:prstGeom>
          <a:solidFill>
            <a:srgbClr val="0C7C99"/>
          </a:solidFill>
          <a:ln/>
        </p:spPr>
        <p:txBody>
          <a:bodyPr/>
          <a:lstStyle/>
          <a:p>
            <a:endParaRPr lang="en-IN"/>
          </a:p>
        </p:txBody>
      </p:sp>
      <p:sp>
        <p:nvSpPr>
          <p:cNvPr id="15" name="Text 13"/>
          <p:cNvSpPr/>
          <p:nvPr/>
        </p:nvSpPr>
        <p:spPr>
          <a:xfrm>
            <a:off x="640080" y="2606040"/>
            <a:ext cx="365760" cy="365760"/>
          </a:xfrm>
          <a:prstGeom prst="rect">
            <a:avLst/>
          </a:prstGeom>
          <a:noFill/>
          <a:ln/>
        </p:spPr>
        <p:txBody>
          <a:bodyPr wrap="square" rtlCol="0" anchor="ctr"/>
          <a:lstStyle/>
          <a:p>
            <a:pPr marL="0" indent="0" algn="ctr">
              <a:buNone/>
            </a:pPr>
            <a:r>
              <a:rPr lang="en-US" sz="1100" b="1" dirty="0">
                <a:solidFill>
                  <a:srgbClr val="FFFFFF"/>
                </a:solidFill>
                <a:latin typeface="JetBrains Mono" pitchFamily="34" charset="0"/>
                <a:ea typeface="JetBrains Mono" pitchFamily="34" charset="-122"/>
                <a:cs typeface="JetBrains Mono" pitchFamily="34" charset="-120"/>
              </a:rPr>
              <a:t>04</a:t>
            </a:r>
            <a:endParaRPr lang="en-US" sz="1100" dirty="0"/>
          </a:p>
        </p:txBody>
      </p:sp>
      <p:sp>
        <p:nvSpPr>
          <p:cNvPr id="16" name="Text 14"/>
          <p:cNvSpPr/>
          <p:nvPr/>
        </p:nvSpPr>
        <p:spPr>
          <a:xfrm>
            <a:off x="1188720" y="2606040"/>
            <a:ext cx="6400800" cy="365760"/>
          </a:xfrm>
          <a:prstGeom prst="rect">
            <a:avLst/>
          </a:prstGeom>
          <a:noFill/>
          <a:ln/>
        </p:spPr>
        <p:txBody>
          <a:bodyPr wrap="square" lIns="0" tIns="0" rIns="0" bIns="0" rtlCol="0" anchor="ctr"/>
          <a:lstStyle/>
          <a:p>
            <a:pPr marL="0" indent="0">
              <a:buNone/>
            </a:pPr>
            <a:r>
              <a:rPr lang="en-US" sz="1600" dirty="0">
                <a:solidFill>
                  <a:srgbClr val="F0F4F8"/>
                </a:solidFill>
                <a:latin typeface="Calibri" pitchFamily="34" charset="0"/>
                <a:ea typeface="Calibri" pitchFamily="34" charset="-122"/>
                <a:cs typeface="Calibri" pitchFamily="34" charset="-120"/>
              </a:rPr>
              <a:t>Activity Diagrams (6 Use Cases)</a:t>
            </a:r>
            <a:endParaRPr lang="en-US" sz="1600" dirty="0"/>
          </a:p>
        </p:txBody>
      </p:sp>
      <p:sp>
        <p:nvSpPr>
          <p:cNvPr id="17" name="Shape 15"/>
          <p:cNvSpPr/>
          <p:nvPr/>
        </p:nvSpPr>
        <p:spPr>
          <a:xfrm>
            <a:off x="640080" y="3063240"/>
            <a:ext cx="365760" cy="365760"/>
          </a:xfrm>
          <a:prstGeom prst="ellipse">
            <a:avLst/>
          </a:prstGeom>
          <a:solidFill>
            <a:srgbClr val="14A3C7"/>
          </a:solidFill>
          <a:ln/>
        </p:spPr>
        <p:txBody>
          <a:bodyPr/>
          <a:lstStyle/>
          <a:p>
            <a:endParaRPr lang="en-IN"/>
          </a:p>
        </p:txBody>
      </p:sp>
      <p:sp>
        <p:nvSpPr>
          <p:cNvPr id="18" name="Text 16"/>
          <p:cNvSpPr/>
          <p:nvPr/>
        </p:nvSpPr>
        <p:spPr>
          <a:xfrm>
            <a:off x="640080" y="3063240"/>
            <a:ext cx="365760" cy="365760"/>
          </a:xfrm>
          <a:prstGeom prst="rect">
            <a:avLst/>
          </a:prstGeom>
          <a:noFill/>
          <a:ln/>
        </p:spPr>
        <p:txBody>
          <a:bodyPr wrap="square" rtlCol="0" anchor="ctr"/>
          <a:lstStyle/>
          <a:p>
            <a:pPr marL="0" indent="0" algn="ctr">
              <a:buNone/>
            </a:pPr>
            <a:r>
              <a:rPr lang="en-US" sz="1100" b="1" dirty="0">
                <a:solidFill>
                  <a:srgbClr val="FFFFFF"/>
                </a:solidFill>
                <a:latin typeface="JetBrains Mono" pitchFamily="34" charset="0"/>
                <a:ea typeface="JetBrains Mono" pitchFamily="34" charset="-122"/>
                <a:cs typeface="JetBrains Mono" pitchFamily="34" charset="-120"/>
              </a:rPr>
              <a:t>05</a:t>
            </a:r>
            <a:endParaRPr lang="en-US" sz="1100" dirty="0"/>
          </a:p>
        </p:txBody>
      </p:sp>
      <p:sp>
        <p:nvSpPr>
          <p:cNvPr id="19" name="Text 17"/>
          <p:cNvSpPr/>
          <p:nvPr/>
        </p:nvSpPr>
        <p:spPr>
          <a:xfrm>
            <a:off x="1188720" y="3063240"/>
            <a:ext cx="6400800" cy="365760"/>
          </a:xfrm>
          <a:prstGeom prst="rect">
            <a:avLst/>
          </a:prstGeom>
          <a:noFill/>
          <a:ln/>
        </p:spPr>
        <p:txBody>
          <a:bodyPr wrap="square" lIns="0" tIns="0" rIns="0" bIns="0" rtlCol="0" anchor="ctr"/>
          <a:lstStyle/>
          <a:p>
            <a:pPr marL="0" indent="0">
              <a:buNone/>
            </a:pPr>
            <a:r>
              <a:rPr lang="en-US" sz="1600" dirty="0">
                <a:solidFill>
                  <a:srgbClr val="F0F4F8"/>
                </a:solidFill>
                <a:latin typeface="Calibri" pitchFamily="34" charset="0"/>
                <a:ea typeface="Calibri" pitchFamily="34" charset="-122"/>
                <a:cs typeface="Calibri" pitchFamily="34" charset="-120"/>
              </a:rPr>
              <a:t>Design Model — Sequence Diagrams</a:t>
            </a:r>
            <a:endParaRPr lang="en-US" sz="1600" dirty="0"/>
          </a:p>
        </p:txBody>
      </p:sp>
      <p:sp>
        <p:nvSpPr>
          <p:cNvPr id="20" name="Shape 18"/>
          <p:cNvSpPr/>
          <p:nvPr/>
        </p:nvSpPr>
        <p:spPr>
          <a:xfrm>
            <a:off x="640080" y="3520440"/>
            <a:ext cx="365760" cy="365760"/>
          </a:xfrm>
          <a:prstGeom prst="ellipse">
            <a:avLst/>
          </a:prstGeom>
          <a:solidFill>
            <a:srgbClr val="22C988"/>
          </a:solidFill>
          <a:ln/>
        </p:spPr>
        <p:txBody>
          <a:bodyPr/>
          <a:lstStyle/>
          <a:p>
            <a:endParaRPr lang="en-IN"/>
          </a:p>
        </p:txBody>
      </p:sp>
      <p:sp>
        <p:nvSpPr>
          <p:cNvPr id="21" name="Text 19"/>
          <p:cNvSpPr/>
          <p:nvPr/>
        </p:nvSpPr>
        <p:spPr>
          <a:xfrm>
            <a:off x="640080" y="3520440"/>
            <a:ext cx="365760" cy="365760"/>
          </a:xfrm>
          <a:prstGeom prst="rect">
            <a:avLst/>
          </a:prstGeom>
          <a:noFill/>
          <a:ln/>
        </p:spPr>
        <p:txBody>
          <a:bodyPr wrap="square" rtlCol="0" anchor="ctr"/>
          <a:lstStyle/>
          <a:p>
            <a:pPr marL="0" indent="0" algn="ctr">
              <a:buNone/>
            </a:pPr>
            <a:r>
              <a:rPr lang="en-US" sz="1100" b="1" dirty="0">
                <a:solidFill>
                  <a:srgbClr val="FFFFFF"/>
                </a:solidFill>
                <a:latin typeface="JetBrains Mono" pitchFamily="34" charset="0"/>
                <a:ea typeface="JetBrains Mono" pitchFamily="34" charset="-122"/>
                <a:cs typeface="JetBrains Mono" pitchFamily="34" charset="-120"/>
              </a:rPr>
              <a:t>06</a:t>
            </a:r>
            <a:endParaRPr lang="en-US" sz="1100" dirty="0"/>
          </a:p>
        </p:txBody>
      </p:sp>
      <p:sp>
        <p:nvSpPr>
          <p:cNvPr id="22" name="Text 20"/>
          <p:cNvSpPr/>
          <p:nvPr/>
        </p:nvSpPr>
        <p:spPr>
          <a:xfrm>
            <a:off x="1188720" y="3520440"/>
            <a:ext cx="6400800" cy="365760"/>
          </a:xfrm>
          <a:prstGeom prst="rect">
            <a:avLst/>
          </a:prstGeom>
          <a:noFill/>
          <a:ln/>
        </p:spPr>
        <p:txBody>
          <a:bodyPr wrap="square" lIns="0" tIns="0" rIns="0" bIns="0" rtlCol="0" anchor="ctr"/>
          <a:lstStyle/>
          <a:p>
            <a:pPr marL="0" indent="0">
              <a:buNone/>
            </a:pPr>
            <a:r>
              <a:rPr lang="en-US" sz="1600" dirty="0">
                <a:solidFill>
                  <a:srgbClr val="F0F4F8"/>
                </a:solidFill>
                <a:latin typeface="Calibri" pitchFamily="34" charset="0"/>
                <a:ea typeface="Calibri" pitchFamily="34" charset="-122"/>
                <a:cs typeface="Calibri" pitchFamily="34" charset="-120"/>
              </a:rPr>
              <a:t>Design Model — Class Diagram (BCE)</a:t>
            </a:r>
            <a:endParaRPr lang="en-US" sz="1600" dirty="0"/>
          </a:p>
        </p:txBody>
      </p:sp>
      <p:sp>
        <p:nvSpPr>
          <p:cNvPr id="23" name="Shape 21"/>
          <p:cNvSpPr/>
          <p:nvPr/>
        </p:nvSpPr>
        <p:spPr>
          <a:xfrm>
            <a:off x="640080" y="3977640"/>
            <a:ext cx="365760" cy="365760"/>
          </a:xfrm>
          <a:prstGeom prst="ellipse">
            <a:avLst/>
          </a:prstGeom>
          <a:solidFill>
            <a:srgbClr val="0C7C99"/>
          </a:solidFill>
          <a:ln/>
        </p:spPr>
        <p:txBody>
          <a:bodyPr/>
          <a:lstStyle/>
          <a:p>
            <a:endParaRPr lang="en-IN"/>
          </a:p>
        </p:txBody>
      </p:sp>
      <p:sp>
        <p:nvSpPr>
          <p:cNvPr id="24" name="Text 22"/>
          <p:cNvSpPr/>
          <p:nvPr/>
        </p:nvSpPr>
        <p:spPr>
          <a:xfrm>
            <a:off x="640080" y="3977640"/>
            <a:ext cx="365760" cy="365760"/>
          </a:xfrm>
          <a:prstGeom prst="rect">
            <a:avLst/>
          </a:prstGeom>
          <a:noFill/>
          <a:ln/>
        </p:spPr>
        <p:txBody>
          <a:bodyPr wrap="square" rtlCol="0" anchor="ctr"/>
          <a:lstStyle/>
          <a:p>
            <a:pPr marL="0" indent="0" algn="ctr">
              <a:buNone/>
            </a:pPr>
            <a:r>
              <a:rPr lang="en-US" sz="1100" b="1" dirty="0">
                <a:solidFill>
                  <a:srgbClr val="FFFFFF"/>
                </a:solidFill>
                <a:latin typeface="JetBrains Mono" pitchFamily="34" charset="0"/>
                <a:ea typeface="JetBrains Mono" pitchFamily="34" charset="-122"/>
                <a:cs typeface="JetBrains Mono" pitchFamily="34" charset="-120"/>
              </a:rPr>
              <a:t>07</a:t>
            </a:r>
            <a:endParaRPr lang="en-US" sz="1100" dirty="0"/>
          </a:p>
        </p:txBody>
      </p:sp>
      <p:sp>
        <p:nvSpPr>
          <p:cNvPr id="25" name="Text 23"/>
          <p:cNvSpPr/>
          <p:nvPr/>
        </p:nvSpPr>
        <p:spPr>
          <a:xfrm>
            <a:off x="1188720" y="3977640"/>
            <a:ext cx="6400800" cy="365760"/>
          </a:xfrm>
          <a:prstGeom prst="rect">
            <a:avLst/>
          </a:prstGeom>
          <a:noFill/>
          <a:ln/>
        </p:spPr>
        <p:txBody>
          <a:bodyPr wrap="square" lIns="0" tIns="0" rIns="0" bIns="0" rtlCol="0" anchor="ctr"/>
          <a:lstStyle/>
          <a:p>
            <a:pPr marL="0" indent="0">
              <a:buNone/>
            </a:pPr>
            <a:r>
              <a:rPr lang="en-US" sz="1600" dirty="0">
                <a:solidFill>
                  <a:srgbClr val="F0F4F8"/>
                </a:solidFill>
                <a:latin typeface="Calibri" pitchFamily="34" charset="0"/>
                <a:ea typeface="Calibri" pitchFamily="34" charset="-122"/>
                <a:cs typeface="Calibri" pitchFamily="34" charset="-120"/>
              </a:rPr>
              <a:t>UI Design — Mock-up Prototype</a:t>
            </a:r>
            <a:endParaRPr lang="en-US" sz="1600" dirty="0"/>
          </a:p>
        </p:txBody>
      </p:sp>
      <p:sp>
        <p:nvSpPr>
          <p:cNvPr id="26" name="Shape 24"/>
          <p:cNvSpPr/>
          <p:nvPr/>
        </p:nvSpPr>
        <p:spPr>
          <a:xfrm>
            <a:off x="640080" y="4434840"/>
            <a:ext cx="365760" cy="365760"/>
          </a:xfrm>
          <a:prstGeom prst="ellipse">
            <a:avLst/>
          </a:prstGeom>
          <a:solidFill>
            <a:srgbClr val="14A3C7"/>
          </a:solidFill>
          <a:ln/>
        </p:spPr>
        <p:txBody>
          <a:bodyPr/>
          <a:lstStyle/>
          <a:p>
            <a:endParaRPr lang="en-IN"/>
          </a:p>
        </p:txBody>
      </p:sp>
      <p:sp>
        <p:nvSpPr>
          <p:cNvPr id="27" name="Text 25"/>
          <p:cNvSpPr/>
          <p:nvPr/>
        </p:nvSpPr>
        <p:spPr>
          <a:xfrm>
            <a:off x="640080" y="4434840"/>
            <a:ext cx="365760" cy="365760"/>
          </a:xfrm>
          <a:prstGeom prst="rect">
            <a:avLst/>
          </a:prstGeom>
          <a:noFill/>
          <a:ln/>
        </p:spPr>
        <p:txBody>
          <a:bodyPr wrap="square" rtlCol="0" anchor="ctr"/>
          <a:lstStyle/>
          <a:p>
            <a:pPr marL="0" indent="0" algn="ctr">
              <a:buNone/>
            </a:pPr>
            <a:r>
              <a:rPr lang="en-US" sz="1100" b="1" dirty="0">
                <a:solidFill>
                  <a:srgbClr val="FFFFFF"/>
                </a:solidFill>
                <a:latin typeface="JetBrains Mono" pitchFamily="34" charset="0"/>
                <a:ea typeface="JetBrains Mono" pitchFamily="34" charset="-122"/>
                <a:cs typeface="JetBrains Mono" pitchFamily="34" charset="-120"/>
              </a:rPr>
              <a:t>08</a:t>
            </a:r>
            <a:endParaRPr lang="en-US" sz="1100" dirty="0"/>
          </a:p>
        </p:txBody>
      </p:sp>
      <p:sp>
        <p:nvSpPr>
          <p:cNvPr id="28" name="Text 26"/>
          <p:cNvSpPr/>
          <p:nvPr/>
        </p:nvSpPr>
        <p:spPr>
          <a:xfrm>
            <a:off x="1188720" y="4434840"/>
            <a:ext cx="6400800" cy="365760"/>
          </a:xfrm>
          <a:prstGeom prst="rect">
            <a:avLst/>
          </a:prstGeom>
          <a:noFill/>
          <a:ln/>
        </p:spPr>
        <p:txBody>
          <a:bodyPr wrap="square" lIns="0" tIns="0" rIns="0" bIns="0" rtlCol="0" anchor="ctr"/>
          <a:lstStyle/>
          <a:p>
            <a:pPr marL="0" indent="0">
              <a:buNone/>
            </a:pPr>
            <a:r>
              <a:rPr lang="en-US" sz="1600" dirty="0">
                <a:solidFill>
                  <a:srgbClr val="F0F4F8"/>
                </a:solidFill>
                <a:latin typeface="Calibri" pitchFamily="34" charset="0"/>
                <a:ea typeface="Calibri" pitchFamily="34" charset="-122"/>
                <a:cs typeface="Calibri" pitchFamily="34" charset="-120"/>
              </a:rPr>
              <a:t>Operational Prototype &amp; Live Demo</a:t>
            </a:r>
            <a:endParaRPr lang="en-US" sz="1600" dirty="0"/>
          </a:p>
        </p:txBody>
      </p:sp>
      <p:sp>
        <p:nvSpPr>
          <p:cNvPr id="29" name="Text 27"/>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2 / 20</a:t>
            </a:r>
            <a:endParaRPr lang="en-US" sz="900" dirty="0"/>
          </a:p>
        </p:txBody>
      </p:sp>
      <p:sp>
        <p:nvSpPr>
          <p:cNvPr id="30" name="Text 28"/>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Text 1"/>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INTRODUCTION</a:t>
            </a:r>
            <a:endParaRPr lang="en-US" sz="1000" dirty="0"/>
          </a:p>
        </p:txBody>
      </p:sp>
      <p:sp>
        <p:nvSpPr>
          <p:cNvPr id="4" name="Text 2"/>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Project Introduction</a:t>
            </a:r>
            <a:endParaRPr lang="en-US" sz="2800" dirty="0"/>
          </a:p>
        </p:txBody>
      </p:sp>
      <p:sp>
        <p:nvSpPr>
          <p:cNvPr id="5" name="Text 3"/>
          <p:cNvSpPr/>
          <p:nvPr/>
        </p:nvSpPr>
        <p:spPr>
          <a:xfrm>
            <a:off x="457200" y="1143000"/>
            <a:ext cx="5029200" cy="2286000"/>
          </a:xfrm>
          <a:prstGeom prst="rect">
            <a:avLst/>
          </a:prstGeom>
          <a:noFill/>
          <a:ln/>
        </p:spPr>
        <p:txBody>
          <a:bodyPr wrap="square" rtlCol="0" anchor="t"/>
          <a:lstStyle/>
          <a:p>
            <a:r>
              <a:rPr lang="en-US" sz="1400" dirty="0">
                <a:solidFill>
                  <a:schemeClr val="bg1"/>
                </a:solidFill>
              </a:rPr>
              <a:t>This project is </a:t>
            </a:r>
            <a:r>
              <a:rPr lang="en-US" sz="1400" b="1" dirty="0">
                <a:solidFill>
                  <a:schemeClr val="accent1"/>
                </a:solidFill>
              </a:rPr>
              <a:t>Smart Campus Facility Management System</a:t>
            </a:r>
            <a:r>
              <a:rPr lang="en-US" sz="1400" dirty="0">
                <a:solidFill>
                  <a:schemeClr val="bg1"/>
                </a:solidFill>
              </a:rPr>
              <a:t>. It is designed to help students easily </a:t>
            </a:r>
            <a:r>
              <a:rPr lang="en-US" sz="1400" b="1" dirty="0">
                <a:solidFill>
                  <a:schemeClr val="bg1"/>
                </a:solidFill>
              </a:rPr>
              <a:t>find available rooms, book them, check in/check out, and report maintenance issues</a:t>
            </a:r>
            <a:r>
              <a:rPr lang="en-US" sz="1400" dirty="0">
                <a:solidFill>
                  <a:schemeClr val="bg1"/>
                </a:solidFill>
              </a:rPr>
              <a:t> through one simple application. It also lets users track their bookings and ticket status, making campus facility usage more organized and efficient. In this prototype, all data is managed inside the application itself for demonstration purposes.</a:t>
            </a:r>
            <a:r>
              <a:rPr lang="en-US" sz="800" dirty="0">
                <a:solidFill>
                  <a:srgbClr val="000000"/>
                </a:solidFill>
              </a:rPr>
              <a:t>
</a:t>
            </a:r>
            <a:endParaRPr lang="en-US" sz="1400" dirty="0"/>
          </a:p>
          <a:p>
            <a:pPr marL="0" indent="0">
              <a:buNone/>
            </a:pPr>
            <a:r>
              <a:rPr lang="en-US" sz="1200" i="1" dirty="0">
                <a:solidFill>
                  <a:srgbClr val="8BA5BE"/>
                </a:solidFill>
              </a:rPr>
              <a:t>Implementation: Python (OO design, originally spec'd for Java)</a:t>
            </a:r>
            <a:endParaRPr lang="en-US" sz="1400" dirty="0"/>
          </a:p>
        </p:txBody>
      </p:sp>
      <p:pic>
        <p:nvPicPr>
          <p:cNvPr id="6" name="Image 0" descr="/home/claude/media/image2.jpg"/>
          <p:cNvPicPr>
            <a:picLocks noChangeAspect="1"/>
          </p:cNvPicPr>
          <p:nvPr/>
        </p:nvPicPr>
        <p:blipFill>
          <a:blip r:embed="rId3"/>
          <a:stretch>
            <a:fillRect/>
          </a:stretch>
        </p:blipFill>
        <p:spPr>
          <a:xfrm>
            <a:off x="5852160" y="1005840"/>
            <a:ext cx="2926080" cy="2377440"/>
          </a:xfrm>
          <a:prstGeom prst="rect">
            <a:avLst/>
          </a:prstGeom>
          <a:effectLst>
            <a:outerShdw blurRad="101600" dist="38100" dir="8100000" algn="bl" rotWithShape="0">
              <a:srgbClr val="000000">
                <a:alpha val="18000"/>
              </a:srgbClr>
            </a:outerShdw>
          </a:effectLst>
        </p:spPr>
      </p:pic>
      <p:sp>
        <p:nvSpPr>
          <p:cNvPr id="7" name="Shape 4"/>
          <p:cNvSpPr/>
          <p:nvPr/>
        </p:nvSpPr>
        <p:spPr>
          <a:xfrm>
            <a:off x="457200" y="3794760"/>
            <a:ext cx="1828800" cy="868680"/>
          </a:xfrm>
          <a:prstGeom prst="rect">
            <a:avLst/>
          </a:prstGeom>
          <a:solidFill>
            <a:srgbClr val="122240"/>
          </a:solidFill>
          <a:ln/>
          <a:effectLst>
            <a:outerShdw blurRad="101600" dist="38100" dir="8100000" algn="bl" rotWithShape="0">
              <a:srgbClr val="000000">
                <a:alpha val="18000"/>
              </a:srgbClr>
            </a:outerShdw>
          </a:effectLst>
        </p:spPr>
        <p:txBody>
          <a:bodyPr/>
          <a:lstStyle/>
          <a:p>
            <a:endParaRPr lang="en-IN"/>
          </a:p>
        </p:txBody>
      </p:sp>
      <p:sp>
        <p:nvSpPr>
          <p:cNvPr id="8" name="Shape 5"/>
          <p:cNvSpPr/>
          <p:nvPr/>
        </p:nvSpPr>
        <p:spPr>
          <a:xfrm>
            <a:off x="457200" y="3794760"/>
            <a:ext cx="54864" cy="868680"/>
          </a:xfrm>
          <a:prstGeom prst="rect">
            <a:avLst/>
          </a:prstGeom>
          <a:solidFill>
            <a:srgbClr val="0C7C99"/>
          </a:solidFill>
          <a:ln/>
        </p:spPr>
        <p:txBody>
          <a:bodyPr/>
          <a:lstStyle/>
          <a:p>
            <a:endParaRPr lang="en-IN"/>
          </a:p>
        </p:txBody>
      </p:sp>
      <p:sp>
        <p:nvSpPr>
          <p:cNvPr id="9" name="Text 6"/>
          <p:cNvSpPr/>
          <p:nvPr/>
        </p:nvSpPr>
        <p:spPr>
          <a:xfrm>
            <a:off x="594360" y="3822192"/>
            <a:ext cx="1554480" cy="457200"/>
          </a:xfrm>
          <a:prstGeom prst="rect">
            <a:avLst/>
          </a:prstGeom>
          <a:noFill/>
          <a:ln/>
        </p:spPr>
        <p:txBody>
          <a:bodyPr wrap="square" lIns="0" tIns="0" rIns="0" bIns="0" rtlCol="0" anchor="ctr"/>
          <a:lstStyle/>
          <a:p>
            <a:pPr marL="0" indent="0">
              <a:buNone/>
            </a:pPr>
            <a:r>
              <a:rPr lang="en-US" sz="2800" b="1" dirty="0">
                <a:solidFill>
                  <a:srgbClr val="0C7C99"/>
                </a:solidFill>
                <a:latin typeface="Cambria" pitchFamily="34" charset="0"/>
                <a:ea typeface="Cambria" pitchFamily="34" charset="-122"/>
                <a:cs typeface="Cambria" pitchFamily="34" charset="-120"/>
              </a:rPr>
              <a:t>6</a:t>
            </a:r>
            <a:endParaRPr lang="en-US" sz="2800" dirty="0"/>
          </a:p>
        </p:txBody>
      </p:sp>
      <p:sp>
        <p:nvSpPr>
          <p:cNvPr id="10" name="Text 7"/>
          <p:cNvSpPr/>
          <p:nvPr/>
        </p:nvSpPr>
        <p:spPr>
          <a:xfrm>
            <a:off x="594360" y="4279392"/>
            <a:ext cx="1554480" cy="320040"/>
          </a:xfrm>
          <a:prstGeom prst="rect">
            <a:avLst/>
          </a:prstGeom>
          <a:noFill/>
          <a:ln/>
        </p:spPr>
        <p:txBody>
          <a:bodyPr wrap="square" lIns="0" tIns="0" rIns="0" bIns="0" rtlCol="0" anchor="ctr"/>
          <a:lstStyle/>
          <a:p>
            <a:pPr marL="0" indent="0">
              <a:buNone/>
            </a:pPr>
            <a:r>
              <a:rPr lang="en-US" sz="1100" dirty="0">
                <a:solidFill>
                  <a:srgbClr val="A3B8CC"/>
                </a:solidFill>
                <a:latin typeface="Calibri" pitchFamily="34" charset="0"/>
                <a:ea typeface="Calibri" pitchFamily="34" charset="-122"/>
                <a:cs typeface="Calibri" pitchFamily="34" charset="-120"/>
              </a:rPr>
              <a:t>Use Cases</a:t>
            </a:r>
            <a:endParaRPr lang="en-US" sz="1100" dirty="0"/>
          </a:p>
        </p:txBody>
      </p:sp>
      <p:sp>
        <p:nvSpPr>
          <p:cNvPr id="11" name="Shape 8"/>
          <p:cNvSpPr/>
          <p:nvPr/>
        </p:nvSpPr>
        <p:spPr>
          <a:xfrm>
            <a:off x="2560320" y="3794760"/>
            <a:ext cx="1828800" cy="868680"/>
          </a:xfrm>
          <a:prstGeom prst="rect">
            <a:avLst/>
          </a:prstGeom>
          <a:solidFill>
            <a:srgbClr val="122240"/>
          </a:solidFill>
          <a:ln/>
          <a:effectLst>
            <a:outerShdw blurRad="101600" dist="38100" dir="8100000" algn="bl" rotWithShape="0">
              <a:srgbClr val="000000">
                <a:alpha val="18000"/>
              </a:srgbClr>
            </a:outerShdw>
          </a:effectLst>
        </p:spPr>
        <p:txBody>
          <a:bodyPr/>
          <a:lstStyle/>
          <a:p>
            <a:endParaRPr lang="en-IN"/>
          </a:p>
        </p:txBody>
      </p:sp>
      <p:sp>
        <p:nvSpPr>
          <p:cNvPr id="12" name="Shape 9"/>
          <p:cNvSpPr/>
          <p:nvPr/>
        </p:nvSpPr>
        <p:spPr>
          <a:xfrm>
            <a:off x="2560320" y="3794760"/>
            <a:ext cx="54864" cy="868680"/>
          </a:xfrm>
          <a:prstGeom prst="rect">
            <a:avLst/>
          </a:prstGeom>
          <a:solidFill>
            <a:srgbClr val="14A3C7"/>
          </a:solidFill>
          <a:ln/>
        </p:spPr>
        <p:txBody>
          <a:bodyPr/>
          <a:lstStyle/>
          <a:p>
            <a:endParaRPr lang="en-IN"/>
          </a:p>
        </p:txBody>
      </p:sp>
      <p:sp>
        <p:nvSpPr>
          <p:cNvPr id="13" name="Text 10"/>
          <p:cNvSpPr/>
          <p:nvPr/>
        </p:nvSpPr>
        <p:spPr>
          <a:xfrm>
            <a:off x="2697480" y="3822192"/>
            <a:ext cx="1554480" cy="457200"/>
          </a:xfrm>
          <a:prstGeom prst="rect">
            <a:avLst/>
          </a:prstGeom>
          <a:noFill/>
          <a:ln/>
        </p:spPr>
        <p:txBody>
          <a:bodyPr wrap="square" lIns="0" tIns="0" rIns="0" bIns="0" rtlCol="0" anchor="ctr"/>
          <a:lstStyle/>
          <a:p>
            <a:pPr marL="0" indent="0">
              <a:buNone/>
            </a:pPr>
            <a:r>
              <a:rPr lang="en-US" sz="2800" b="1" dirty="0">
                <a:solidFill>
                  <a:srgbClr val="14A3C7"/>
                </a:solidFill>
                <a:latin typeface="Cambria" pitchFamily="34" charset="0"/>
                <a:ea typeface="Cambria" pitchFamily="34" charset="-122"/>
                <a:cs typeface="Cambria" pitchFamily="34" charset="-120"/>
              </a:rPr>
              <a:t>8</a:t>
            </a:r>
            <a:endParaRPr lang="en-US" sz="2800" dirty="0"/>
          </a:p>
        </p:txBody>
      </p:sp>
      <p:sp>
        <p:nvSpPr>
          <p:cNvPr id="14" name="Text 11"/>
          <p:cNvSpPr/>
          <p:nvPr/>
        </p:nvSpPr>
        <p:spPr>
          <a:xfrm>
            <a:off x="2697480" y="4279392"/>
            <a:ext cx="1554480" cy="320040"/>
          </a:xfrm>
          <a:prstGeom prst="rect">
            <a:avLst/>
          </a:prstGeom>
          <a:noFill/>
          <a:ln/>
        </p:spPr>
        <p:txBody>
          <a:bodyPr wrap="square" lIns="0" tIns="0" rIns="0" bIns="0" rtlCol="0" anchor="ctr"/>
          <a:lstStyle/>
          <a:p>
            <a:pPr marL="0" indent="0">
              <a:buNone/>
            </a:pPr>
            <a:r>
              <a:rPr lang="en-US" sz="1100" dirty="0">
                <a:solidFill>
                  <a:srgbClr val="A3B8CC"/>
                </a:solidFill>
                <a:latin typeface="Calibri" pitchFamily="34" charset="0"/>
                <a:ea typeface="Calibri" pitchFamily="34" charset="-122"/>
                <a:cs typeface="Calibri" pitchFamily="34" charset="-120"/>
              </a:rPr>
              <a:t>Campus Rooms</a:t>
            </a:r>
            <a:endParaRPr lang="en-US" sz="1100" dirty="0"/>
          </a:p>
        </p:txBody>
      </p:sp>
      <p:sp>
        <p:nvSpPr>
          <p:cNvPr id="15" name="Shape 12"/>
          <p:cNvSpPr/>
          <p:nvPr/>
        </p:nvSpPr>
        <p:spPr>
          <a:xfrm>
            <a:off x="4663440" y="3794760"/>
            <a:ext cx="1828800" cy="868680"/>
          </a:xfrm>
          <a:prstGeom prst="rect">
            <a:avLst/>
          </a:prstGeom>
          <a:solidFill>
            <a:srgbClr val="122240"/>
          </a:solidFill>
          <a:ln/>
          <a:effectLst>
            <a:outerShdw blurRad="101600" dist="38100" dir="8100000" algn="bl" rotWithShape="0">
              <a:srgbClr val="000000">
                <a:alpha val="18000"/>
              </a:srgbClr>
            </a:outerShdw>
          </a:effectLst>
        </p:spPr>
        <p:txBody>
          <a:bodyPr/>
          <a:lstStyle/>
          <a:p>
            <a:endParaRPr lang="en-IN"/>
          </a:p>
        </p:txBody>
      </p:sp>
      <p:sp>
        <p:nvSpPr>
          <p:cNvPr id="16" name="Shape 13"/>
          <p:cNvSpPr/>
          <p:nvPr/>
        </p:nvSpPr>
        <p:spPr>
          <a:xfrm>
            <a:off x="4663440" y="3794760"/>
            <a:ext cx="54864" cy="868680"/>
          </a:xfrm>
          <a:prstGeom prst="rect">
            <a:avLst/>
          </a:prstGeom>
          <a:solidFill>
            <a:srgbClr val="22C988"/>
          </a:solidFill>
          <a:ln/>
        </p:spPr>
        <p:txBody>
          <a:bodyPr/>
          <a:lstStyle/>
          <a:p>
            <a:endParaRPr lang="en-IN"/>
          </a:p>
        </p:txBody>
      </p:sp>
      <p:sp>
        <p:nvSpPr>
          <p:cNvPr id="17" name="Text 14"/>
          <p:cNvSpPr/>
          <p:nvPr/>
        </p:nvSpPr>
        <p:spPr>
          <a:xfrm>
            <a:off x="4800600" y="3822192"/>
            <a:ext cx="1554480" cy="457200"/>
          </a:xfrm>
          <a:prstGeom prst="rect">
            <a:avLst/>
          </a:prstGeom>
          <a:noFill/>
          <a:ln/>
        </p:spPr>
        <p:txBody>
          <a:bodyPr wrap="square" lIns="0" tIns="0" rIns="0" bIns="0" rtlCol="0" anchor="ctr"/>
          <a:lstStyle/>
          <a:p>
            <a:pPr marL="0" indent="0">
              <a:buNone/>
            </a:pPr>
            <a:r>
              <a:rPr lang="en-US" sz="2800" b="1" dirty="0">
                <a:solidFill>
                  <a:srgbClr val="22C988"/>
                </a:solidFill>
                <a:latin typeface="Cambria" pitchFamily="34" charset="0"/>
                <a:ea typeface="Cambria" pitchFamily="34" charset="-122"/>
                <a:cs typeface="Cambria" pitchFamily="34" charset="-120"/>
              </a:rPr>
              <a:t>15+</a:t>
            </a:r>
            <a:endParaRPr lang="en-US" sz="2800" dirty="0"/>
          </a:p>
        </p:txBody>
      </p:sp>
      <p:sp>
        <p:nvSpPr>
          <p:cNvPr id="18" name="Text 15"/>
          <p:cNvSpPr/>
          <p:nvPr/>
        </p:nvSpPr>
        <p:spPr>
          <a:xfrm>
            <a:off x="4800600" y="4279392"/>
            <a:ext cx="1554480" cy="320040"/>
          </a:xfrm>
          <a:prstGeom prst="rect">
            <a:avLst/>
          </a:prstGeom>
          <a:noFill/>
          <a:ln/>
        </p:spPr>
        <p:txBody>
          <a:bodyPr wrap="square" lIns="0" tIns="0" rIns="0" bIns="0" rtlCol="0" anchor="ctr"/>
          <a:lstStyle/>
          <a:p>
            <a:pPr marL="0" indent="0">
              <a:buNone/>
            </a:pPr>
            <a:r>
              <a:rPr lang="en-US" sz="1100" dirty="0">
                <a:solidFill>
                  <a:srgbClr val="A3B8CC"/>
                </a:solidFill>
                <a:latin typeface="Calibri" pitchFamily="34" charset="0"/>
                <a:ea typeface="Calibri" pitchFamily="34" charset="-122"/>
                <a:cs typeface="Calibri" pitchFamily="34" charset="-120"/>
              </a:rPr>
              <a:t>OO Classes</a:t>
            </a:r>
            <a:endParaRPr lang="en-US" sz="1100" dirty="0"/>
          </a:p>
        </p:txBody>
      </p:sp>
      <p:sp>
        <p:nvSpPr>
          <p:cNvPr id="19" name="Shape 16"/>
          <p:cNvSpPr/>
          <p:nvPr/>
        </p:nvSpPr>
        <p:spPr>
          <a:xfrm>
            <a:off x="6766560" y="3794760"/>
            <a:ext cx="1828800" cy="868680"/>
          </a:xfrm>
          <a:prstGeom prst="rect">
            <a:avLst/>
          </a:prstGeom>
          <a:solidFill>
            <a:srgbClr val="122240"/>
          </a:solidFill>
          <a:ln/>
          <a:effectLst>
            <a:outerShdw blurRad="101600" dist="38100" dir="8100000" algn="bl" rotWithShape="0">
              <a:srgbClr val="000000">
                <a:alpha val="18000"/>
              </a:srgbClr>
            </a:outerShdw>
          </a:effectLst>
        </p:spPr>
        <p:txBody>
          <a:bodyPr/>
          <a:lstStyle/>
          <a:p>
            <a:endParaRPr lang="en-IN"/>
          </a:p>
        </p:txBody>
      </p:sp>
      <p:sp>
        <p:nvSpPr>
          <p:cNvPr id="20" name="Shape 17"/>
          <p:cNvSpPr/>
          <p:nvPr/>
        </p:nvSpPr>
        <p:spPr>
          <a:xfrm>
            <a:off x="6766560" y="3794760"/>
            <a:ext cx="54864" cy="868680"/>
          </a:xfrm>
          <a:prstGeom prst="rect">
            <a:avLst/>
          </a:prstGeom>
          <a:solidFill>
            <a:srgbClr val="FFB347"/>
          </a:solidFill>
          <a:ln/>
        </p:spPr>
        <p:txBody>
          <a:bodyPr/>
          <a:lstStyle/>
          <a:p>
            <a:endParaRPr lang="en-IN"/>
          </a:p>
        </p:txBody>
      </p:sp>
      <p:sp>
        <p:nvSpPr>
          <p:cNvPr id="21" name="Text 18"/>
          <p:cNvSpPr/>
          <p:nvPr/>
        </p:nvSpPr>
        <p:spPr>
          <a:xfrm>
            <a:off x="6903720" y="3822192"/>
            <a:ext cx="1554480" cy="457200"/>
          </a:xfrm>
          <a:prstGeom prst="rect">
            <a:avLst/>
          </a:prstGeom>
          <a:noFill/>
          <a:ln/>
        </p:spPr>
        <p:txBody>
          <a:bodyPr wrap="square" lIns="0" tIns="0" rIns="0" bIns="0" rtlCol="0" anchor="ctr"/>
          <a:lstStyle/>
          <a:p>
            <a:pPr marL="0" indent="0">
              <a:buNone/>
            </a:pPr>
            <a:r>
              <a:rPr lang="en-US" sz="2800" b="1" dirty="0">
                <a:solidFill>
                  <a:srgbClr val="FFB347"/>
                </a:solidFill>
                <a:latin typeface="Cambria" pitchFamily="34" charset="0"/>
                <a:ea typeface="Cambria" pitchFamily="34" charset="-122"/>
                <a:cs typeface="Cambria" pitchFamily="34" charset="-120"/>
              </a:rPr>
              <a:t>BCE</a:t>
            </a:r>
            <a:endParaRPr lang="en-US" sz="2800" dirty="0"/>
          </a:p>
        </p:txBody>
      </p:sp>
      <p:sp>
        <p:nvSpPr>
          <p:cNvPr id="22" name="Text 19"/>
          <p:cNvSpPr/>
          <p:nvPr/>
        </p:nvSpPr>
        <p:spPr>
          <a:xfrm>
            <a:off x="6903720" y="4279392"/>
            <a:ext cx="1554480" cy="320040"/>
          </a:xfrm>
          <a:prstGeom prst="rect">
            <a:avLst/>
          </a:prstGeom>
          <a:noFill/>
          <a:ln/>
        </p:spPr>
        <p:txBody>
          <a:bodyPr wrap="square" lIns="0" tIns="0" rIns="0" bIns="0" rtlCol="0" anchor="ctr"/>
          <a:lstStyle/>
          <a:p>
            <a:pPr marL="0" indent="0">
              <a:buNone/>
            </a:pPr>
            <a:r>
              <a:rPr lang="en-US" sz="1100" dirty="0">
                <a:solidFill>
                  <a:srgbClr val="A3B8CC"/>
                </a:solidFill>
                <a:latin typeface="Calibri" pitchFamily="34" charset="0"/>
                <a:ea typeface="Calibri" pitchFamily="34" charset="-122"/>
                <a:cs typeface="Calibri" pitchFamily="34" charset="-120"/>
              </a:rPr>
              <a:t>Architecture</a:t>
            </a:r>
            <a:endParaRPr lang="en-US" sz="1100" dirty="0"/>
          </a:p>
        </p:txBody>
      </p:sp>
      <p:sp>
        <p:nvSpPr>
          <p:cNvPr id="23" name="Text 20"/>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3 / 20</a:t>
            </a:r>
            <a:endParaRPr lang="en-US" sz="900" dirty="0"/>
          </a:p>
        </p:txBody>
      </p:sp>
      <p:sp>
        <p:nvSpPr>
          <p:cNvPr id="24" name="Text 21"/>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Shape 1"/>
          <p:cNvSpPr/>
          <p:nvPr/>
        </p:nvSpPr>
        <p:spPr>
          <a:xfrm>
            <a:off x="0" y="0"/>
            <a:ext cx="9144000" cy="54864"/>
          </a:xfrm>
          <a:prstGeom prst="rect">
            <a:avLst/>
          </a:prstGeom>
          <a:solidFill>
            <a:srgbClr val="0C7C99"/>
          </a:solidFill>
          <a:ln/>
        </p:spPr>
        <p:txBody>
          <a:bodyPr/>
          <a:lstStyle/>
          <a:p>
            <a:endParaRPr lang="en-IN"/>
          </a:p>
        </p:txBody>
      </p:sp>
      <p:sp>
        <p:nvSpPr>
          <p:cNvPr id="4" name="Text 2"/>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REQUIREMENTS MODEL</a:t>
            </a:r>
            <a:endParaRPr lang="en-US" sz="10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Use Case Model</a:t>
            </a:r>
            <a:endParaRPr lang="en-US" sz="2800" dirty="0"/>
          </a:p>
        </p:txBody>
      </p:sp>
      <p:sp>
        <p:nvSpPr>
          <p:cNvPr id="6" name="Shape 4"/>
          <p:cNvSpPr/>
          <p:nvPr/>
        </p:nvSpPr>
        <p:spPr>
          <a:xfrm>
            <a:off x="1508760" y="978408"/>
            <a:ext cx="6126480" cy="3986784"/>
          </a:xfrm>
          <a:prstGeom prst="rect">
            <a:avLst/>
          </a:prstGeom>
          <a:solidFill>
            <a:srgbClr val="FFFFFF"/>
          </a:solidFill>
          <a:ln/>
          <a:effectLst>
            <a:outerShdw blurRad="177800" dist="50800" dir="8100000" algn="bl" rotWithShape="0">
              <a:srgbClr val="000000">
                <a:alpha val="25000"/>
              </a:srgbClr>
            </a:outerShdw>
          </a:effectLst>
        </p:spPr>
        <p:txBody>
          <a:bodyPr/>
          <a:lstStyle/>
          <a:p>
            <a:endParaRPr lang="en-IN"/>
          </a:p>
        </p:txBody>
      </p:sp>
      <p:pic>
        <p:nvPicPr>
          <p:cNvPr id="7" name="Image 0" descr="/home/claude/media/image3.jpeg"/>
          <p:cNvPicPr>
            <a:picLocks noChangeAspect="1"/>
          </p:cNvPicPr>
          <p:nvPr/>
        </p:nvPicPr>
        <p:blipFill>
          <a:blip r:embed="rId3"/>
          <a:stretch>
            <a:fillRect/>
          </a:stretch>
        </p:blipFill>
        <p:spPr>
          <a:xfrm>
            <a:off x="1600200" y="1051560"/>
            <a:ext cx="5943600" cy="3840480"/>
          </a:xfrm>
          <a:prstGeom prst="rect">
            <a:avLst/>
          </a:prstGeom>
        </p:spPr>
      </p:pic>
      <p:sp>
        <p:nvSpPr>
          <p:cNvPr id="8" name="Text 5"/>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4 / 20</a:t>
            </a:r>
            <a:endParaRPr lang="en-US" sz="900" dirty="0"/>
          </a:p>
        </p:txBody>
      </p:sp>
      <p:sp>
        <p:nvSpPr>
          <p:cNvPr id="9" name="Text 6"/>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
        <p:nvSpPr>
          <p:cNvPr id="10" name="Text 7"/>
          <p:cNvSpPr/>
          <p:nvPr/>
        </p:nvSpPr>
        <p:spPr>
          <a:xfrm>
            <a:off x="457200" y="1188720"/>
            <a:ext cx="1280160" cy="640080"/>
          </a:xfrm>
          <a:prstGeom prst="rect">
            <a:avLst/>
          </a:prstGeom>
          <a:noFill/>
          <a:ln/>
        </p:spPr>
        <p:txBody>
          <a:bodyPr wrap="square" rtlCol="0" anchor="t"/>
          <a:lstStyle/>
          <a:p>
            <a:pPr marL="0" indent="0">
              <a:buNone/>
            </a:pPr>
            <a:r>
              <a:rPr lang="en-US" sz="1000" dirty="0">
                <a:solidFill>
                  <a:srgbClr val="A3B8CC"/>
                </a:solidFill>
                <a:latin typeface="Calibri" pitchFamily="34" charset="0"/>
                <a:ea typeface="Calibri" pitchFamily="34" charset="-122"/>
                <a:cs typeface="Calibri" pitchFamily="34" charset="-120"/>
              </a:rPr>
              <a:t>Actors: Student, Notification Service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Shape 1"/>
          <p:cNvSpPr/>
          <p:nvPr/>
        </p:nvSpPr>
        <p:spPr>
          <a:xfrm>
            <a:off x="0" y="0"/>
            <a:ext cx="9144000" cy="54864"/>
          </a:xfrm>
          <a:prstGeom prst="rect">
            <a:avLst/>
          </a:prstGeom>
          <a:solidFill>
            <a:srgbClr val="0C7C99"/>
          </a:solidFill>
          <a:ln/>
        </p:spPr>
        <p:txBody>
          <a:bodyPr/>
          <a:lstStyle/>
          <a:p>
            <a:endParaRPr lang="en-IN"/>
          </a:p>
        </p:txBody>
      </p:sp>
      <p:sp>
        <p:nvSpPr>
          <p:cNvPr id="4" name="Text 2"/>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ANALYSIS MODEL</a:t>
            </a:r>
            <a:endParaRPr lang="en-US" sz="10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Domain Model</a:t>
            </a:r>
            <a:endParaRPr lang="en-US" sz="2800" dirty="0"/>
          </a:p>
        </p:txBody>
      </p:sp>
      <p:sp>
        <p:nvSpPr>
          <p:cNvPr id="6" name="Shape 4"/>
          <p:cNvSpPr/>
          <p:nvPr/>
        </p:nvSpPr>
        <p:spPr>
          <a:xfrm>
            <a:off x="1188720" y="1069848"/>
            <a:ext cx="6766560" cy="3346704"/>
          </a:xfrm>
          <a:prstGeom prst="rect">
            <a:avLst/>
          </a:prstGeom>
          <a:solidFill>
            <a:srgbClr val="FFFFFF"/>
          </a:solidFill>
          <a:ln/>
          <a:effectLst>
            <a:outerShdw blurRad="177800" dist="50800" dir="8100000" algn="bl" rotWithShape="0">
              <a:srgbClr val="000000">
                <a:alpha val="25000"/>
              </a:srgbClr>
            </a:outerShdw>
          </a:effectLst>
        </p:spPr>
        <p:txBody>
          <a:bodyPr/>
          <a:lstStyle/>
          <a:p>
            <a:endParaRPr lang="en-IN"/>
          </a:p>
        </p:txBody>
      </p:sp>
      <p:pic>
        <p:nvPicPr>
          <p:cNvPr id="7" name="Image 0" descr="/home/claude/media/image4.png"/>
          <p:cNvPicPr>
            <a:picLocks noChangeAspect="1"/>
          </p:cNvPicPr>
          <p:nvPr/>
        </p:nvPicPr>
        <p:blipFill>
          <a:blip r:embed="rId3"/>
          <a:stretch>
            <a:fillRect/>
          </a:stretch>
        </p:blipFill>
        <p:spPr>
          <a:xfrm>
            <a:off x="1280160" y="1143000"/>
            <a:ext cx="6583680" cy="3200400"/>
          </a:xfrm>
          <a:prstGeom prst="rect">
            <a:avLst/>
          </a:prstGeom>
        </p:spPr>
      </p:pic>
      <p:sp>
        <p:nvSpPr>
          <p:cNvPr id="8" name="Text 5"/>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5 / 20</a:t>
            </a:r>
            <a:endParaRPr lang="en-US" sz="900" dirty="0"/>
          </a:p>
        </p:txBody>
      </p:sp>
      <p:sp>
        <p:nvSpPr>
          <p:cNvPr id="9" name="Text 6"/>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Shape 1"/>
          <p:cNvSpPr/>
          <p:nvPr/>
        </p:nvSpPr>
        <p:spPr>
          <a:xfrm>
            <a:off x="0" y="0"/>
            <a:ext cx="9144000" cy="54864"/>
          </a:xfrm>
          <a:prstGeom prst="rect">
            <a:avLst/>
          </a:prstGeom>
          <a:solidFill>
            <a:srgbClr val="0C7C99"/>
          </a:solidFill>
          <a:ln/>
        </p:spPr>
        <p:txBody>
          <a:bodyPr/>
          <a:lstStyle/>
          <a:p>
            <a:endParaRPr lang="en-IN"/>
          </a:p>
        </p:txBody>
      </p:sp>
      <p:sp>
        <p:nvSpPr>
          <p:cNvPr id="4" name="Text 2"/>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ANALYSIS MODEL</a:t>
            </a:r>
            <a:endParaRPr lang="en-US" sz="10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Activity Diagram — Authentication</a:t>
            </a:r>
            <a:endParaRPr lang="en-US" sz="2800" dirty="0"/>
          </a:p>
        </p:txBody>
      </p:sp>
      <p:sp>
        <p:nvSpPr>
          <p:cNvPr id="6" name="Shape 4"/>
          <p:cNvSpPr/>
          <p:nvPr/>
        </p:nvSpPr>
        <p:spPr>
          <a:xfrm>
            <a:off x="1280160" y="1161288"/>
            <a:ext cx="6583680" cy="3273552"/>
          </a:xfrm>
          <a:prstGeom prst="rect">
            <a:avLst/>
          </a:prstGeom>
          <a:solidFill>
            <a:srgbClr val="FFFFFF"/>
          </a:solidFill>
          <a:ln/>
          <a:effectLst>
            <a:outerShdw blurRad="177800" dist="50800" dir="8100000" algn="bl" rotWithShape="0">
              <a:srgbClr val="000000">
                <a:alpha val="25000"/>
              </a:srgbClr>
            </a:outerShdw>
          </a:effectLst>
        </p:spPr>
        <p:txBody>
          <a:bodyPr/>
          <a:lstStyle/>
          <a:p>
            <a:endParaRPr lang="en-IN"/>
          </a:p>
        </p:txBody>
      </p:sp>
      <p:pic>
        <p:nvPicPr>
          <p:cNvPr id="7" name="Image 0" descr="/home/claude/media/image6.png"/>
          <p:cNvPicPr>
            <a:picLocks noChangeAspect="1"/>
          </p:cNvPicPr>
          <p:nvPr/>
        </p:nvPicPr>
        <p:blipFill>
          <a:blip r:embed="rId3"/>
          <a:stretch>
            <a:fillRect/>
          </a:stretch>
        </p:blipFill>
        <p:spPr>
          <a:xfrm>
            <a:off x="1371600" y="1234440"/>
            <a:ext cx="6400800" cy="3127248"/>
          </a:xfrm>
          <a:prstGeom prst="rect">
            <a:avLst/>
          </a:prstGeom>
        </p:spPr>
      </p:pic>
      <p:sp>
        <p:nvSpPr>
          <p:cNvPr id="8" name="Text 5"/>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6 / 20</a:t>
            </a:r>
            <a:endParaRPr lang="en-US" sz="900" dirty="0"/>
          </a:p>
        </p:txBody>
      </p:sp>
      <p:sp>
        <p:nvSpPr>
          <p:cNvPr id="9" name="Text 6"/>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Shape 1"/>
          <p:cNvSpPr/>
          <p:nvPr/>
        </p:nvSpPr>
        <p:spPr>
          <a:xfrm>
            <a:off x="0" y="0"/>
            <a:ext cx="9144000" cy="54864"/>
          </a:xfrm>
          <a:prstGeom prst="rect">
            <a:avLst/>
          </a:prstGeom>
          <a:solidFill>
            <a:srgbClr val="0C7C99"/>
          </a:solidFill>
          <a:ln/>
        </p:spPr>
        <p:txBody>
          <a:bodyPr/>
          <a:lstStyle/>
          <a:p>
            <a:endParaRPr lang="en-IN"/>
          </a:p>
        </p:txBody>
      </p:sp>
      <p:sp>
        <p:nvSpPr>
          <p:cNvPr id="4" name="Text 2"/>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ANALYSIS MODEL</a:t>
            </a:r>
            <a:endParaRPr lang="en-US" sz="10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Activity Diagram — Search Availability</a:t>
            </a:r>
            <a:endParaRPr lang="en-US" sz="2800" dirty="0"/>
          </a:p>
        </p:txBody>
      </p:sp>
      <p:sp>
        <p:nvSpPr>
          <p:cNvPr id="6" name="Shape 4"/>
          <p:cNvSpPr/>
          <p:nvPr/>
        </p:nvSpPr>
        <p:spPr>
          <a:xfrm>
            <a:off x="1965960" y="1115568"/>
            <a:ext cx="5212080" cy="3392424"/>
          </a:xfrm>
          <a:prstGeom prst="rect">
            <a:avLst/>
          </a:prstGeom>
          <a:solidFill>
            <a:srgbClr val="FFFFFF"/>
          </a:solidFill>
          <a:ln/>
          <a:effectLst>
            <a:outerShdw blurRad="177800" dist="50800" dir="8100000" algn="bl" rotWithShape="0">
              <a:srgbClr val="000000">
                <a:alpha val="25000"/>
              </a:srgbClr>
            </a:outerShdw>
          </a:effectLst>
        </p:spPr>
        <p:txBody>
          <a:bodyPr/>
          <a:lstStyle/>
          <a:p>
            <a:endParaRPr lang="en-IN"/>
          </a:p>
        </p:txBody>
      </p:sp>
      <p:pic>
        <p:nvPicPr>
          <p:cNvPr id="7" name="Image 0" descr="/home/claude/media/image5.png"/>
          <p:cNvPicPr>
            <a:picLocks noChangeAspect="1"/>
          </p:cNvPicPr>
          <p:nvPr/>
        </p:nvPicPr>
        <p:blipFill>
          <a:blip r:embed="rId3"/>
          <a:stretch>
            <a:fillRect/>
          </a:stretch>
        </p:blipFill>
        <p:spPr>
          <a:xfrm>
            <a:off x="2057400" y="1188720"/>
            <a:ext cx="5029200" cy="3246120"/>
          </a:xfrm>
          <a:prstGeom prst="rect">
            <a:avLst/>
          </a:prstGeom>
        </p:spPr>
      </p:pic>
      <p:sp>
        <p:nvSpPr>
          <p:cNvPr id="8" name="Text 5"/>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7 / 20</a:t>
            </a:r>
            <a:endParaRPr lang="en-US" sz="900" dirty="0"/>
          </a:p>
        </p:txBody>
      </p:sp>
      <p:sp>
        <p:nvSpPr>
          <p:cNvPr id="9" name="Text 6"/>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Shape 1"/>
          <p:cNvSpPr/>
          <p:nvPr/>
        </p:nvSpPr>
        <p:spPr>
          <a:xfrm>
            <a:off x="0" y="0"/>
            <a:ext cx="9144000" cy="54864"/>
          </a:xfrm>
          <a:prstGeom prst="rect">
            <a:avLst/>
          </a:prstGeom>
          <a:solidFill>
            <a:srgbClr val="0C7C99"/>
          </a:solidFill>
          <a:ln/>
        </p:spPr>
        <p:txBody>
          <a:bodyPr/>
          <a:lstStyle/>
          <a:p>
            <a:endParaRPr lang="en-IN"/>
          </a:p>
        </p:txBody>
      </p:sp>
      <p:sp>
        <p:nvSpPr>
          <p:cNvPr id="4" name="Text 2"/>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ANALYSIS MODEL</a:t>
            </a:r>
            <a:endParaRPr lang="en-US" sz="10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Activity Diagram — Book Room</a:t>
            </a:r>
            <a:endParaRPr lang="en-US" sz="2800" dirty="0"/>
          </a:p>
        </p:txBody>
      </p:sp>
      <p:sp>
        <p:nvSpPr>
          <p:cNvPr id="6" name="Shape 4"/>
          <p:cNvSpPr/>
          <p:nvPr/>
        </p:nvSpPr>
        <p:spPr>
          <a:xfrm>
            <a:off x="1051560" y="1298448"/>
            <a:ext cx="7040880" cy="2999232"/>
          </a:xfrm>
          <a:prstGeom prst="rect">
            <a:avLst/>
          </a:prstGeom>
          <a:solidFill>
            <a:srgbClr val="FFFFFF"/>
          </a:solidFill>
          <a:ln/>
          <a:effectLst>
            <a:outerShdw blurRad="177800" dist="50800" dir="8100000" algn="bl" rotWithShape="0">
              <a:srgbClr val="000000">
                <a:alpha val="25000"/>
              </a:srgbClr>
            </a:outerShdw>
          </a:effectLst>
        </p:spPr>
        <p:txBody>
          <a:bodyPr/>
          <a:lstStyle/>
          <a:p>
            <a:endParaRPr lang="en-IN"/>
          </a:p>
        </p:txBody>
      </p:sp>
      <p:pic>
        <p:nvPicPr>
          <p:cNvPr id="7" name="Image 0" descr="/home/claude/media/image7.png"/>
          <p:cNvPicPr>
            <a:picLocks noChangeAspect="1"/>
          </p:cNvPicPr>
          <p:nvPr/>
        </p:nvPicPr>
        <p:blipFill>
          <a:blip r:embed="rId3"/>
          <a:stretch>
            <a:fillRect/>
          </a:stretch>
        </p:blipFill>
        <p:spPr>
          <a:xfrm>
            <a:off x="1143000" y="1371600"/>
            <a:ext cx="6858000" cy="2852928"/>
          </a:xfrm>
          <a:prstGeom prst="rect">
            <a:avLst/>
          </a:prstGeom>
        </p:spPr>
      </p:pic>
      <p:sp>
        <p:nvSpPr>
          <p:cNvPr id="8" name="Text 5"/>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8 / 20</a:t>
            </a:r>
            <a:endParaRPr lang="en-US" sz="900" dirty="0"/>
          </a:p>
        </p:txBody>
      </p:sp>
      <p:sp>
        <p:nvSpPr>
          <p:cNvPr id="9" name="Text 6"/>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Shape 1"/>
          <p:cNvSpPr/>
          <p:nvPr/>
        </p:nvSpPr>
        <p:spPr>
          <a:xfrm>
            <a:off x="0" y="0"/>
            <a:ext cx="9144000" cy="54864"/>
          </a:xfrm>
          <a:prstGeom prst="rect">
            <a:avLst/>
          </a:prstGeom>
          <a:solidFill>
            <a:srgbClr val="0C7C99"/>
          </a:solidFill>
          <a:ln/>
        </p:spPr>
        <p:txBody>
          <a:bodyPr/>
          <a:lstStyle/>
          <a:p>
            <a:endParaRPr lang="en-IN"/>
          </a:p>
        </p:txBody>
      </p:sp>
      <p:sp>
        <p:nvSpPr>
          <p:cNvPr id="4" name="Text 2"/>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ANALYSIS MODEL</a:t>
            </a:r>
            <a:endParaRPr lang="en-US" sz="10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Activity Diagram — BR Check-In</a:t>
            </a:r>
            <a:endParaRPr lang="en-US" sz="2800" dirty="0"/>
          </a:p>
        </p:txBody>
      </p:sp>
      <p:sp>
        <p:nvSpPr>
          <p:cNvPr id="6" name="Shape 4"/>
          <p:cNvSpPr/>
          <p:nvPr/>
        </p:nvSpPr>
        <p:spPr>
          <a:xfrm>
            <a:off x="1051560" y="1024128"/>
            <a:ext cx="7040880" cy="3465576"/>
          </a:xfrm>
          <a:prstGeom prst="rect">
            <a:avLst/>
          </a:prstGeom>
          <a:solidFill>
            <a:srgbClr val="FFFFFF"/>
          </a:solidFill>
          <a:ln/>
          <a:effectLst>
            <a:outerShdw blurRad="177800" dist="50800" dir="8100000" algn="bl" rotWithShape="0">
              <a:srgbClr val="000000">
                <a:alpha val="25000"/>
              </a:srgbClr>
            </a:outerShdw>
          </a:effectLst>
        </p:spPr>
        <p:txBody>
          <a:bodyPr/>
          <a:lstStyle/>
          <a:p>
            <a:endParaRPr lang="en-IN"/>
          </a:p>
        </p:txBody>
      </p:sp>
      <p:pic>
        <p:nvPicPr>
          <p:cNvPr id="7" name="Image 0" descr="/home/claude/media/image8.png"/>
          <p:cNvPicPr>
            <a:picLocks noChangeAspect="1"/>
          </p:cNvPicPr>
          <p:nvPr/>
        </p:nvPicPr>
        <p:blipFill>
          <a:blip r:embed="rId3"/>
          <a:stretch>
            <a:fillRect/>
          </a:stretch>
        </p:blipFill>
        <p:spPr>
          <a:xfrm>
            <a:off x="1143000" y="1097280"/>
            <a:ext cx="6858000" cy="3319272"/>
          </a:xfrm>
          <a:prstGeom prst="rect">
            <a:avLst/>
          </a:prstGeom>
        </p:spPr>
      </p:pic>
      <p:sp>
        <p:nvSpPr>
          <p:cNvPr id="8" name="Text 5"/>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9 / 20</a:t>
            </a:r>
            <a:endParaRPr lang="en-US" sz="900" dirty="0"/>
          </a:p>
        </p:txBody>
      </p:sp>
      <p:sp>
        <p:nvSpPr>
          <p:cNvPr id="9" name="Text 6"/>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Shape 1"/>
          <p:cNvSpPr/>
          <p:nvPr/>
        </p:nvSpPr>
        <p:spPr>
          <a:xfrm>
            <a:off x="0" y="0"/>
            <a:ext cx="9144000" cy="54864"/>
          </a:xfrm>
          <a:prstGeom prst="rect">
            <a:avLst/>
          </a:prstGeom>
          <a:solidFill>
            <a:srgbClr val="0C7C99"/>
          </a:solidFill>
          <a:ln/>
        </p:spPr>
        <p:txBody>
          <a:bodyPr/>
          <a:lstStyle/>
          <a:p>
            <a:endParaRPr lang="en-IN"/>
          </a:p>
        </p:txBody>
      </p:sp>
      <p:sp>
        <p:nvSpPr>
          <p:cNvPr id="4" name="Text 2"/>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ANALYSIS MODEL</a:t>
            </a:r>
            <a:endParaRPr lang="en-US" sz="10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Activity Diagram — Maintenance Ticket</a:t>
            </a:r>
            <a:endParaRPr lang="en-US" sz="2800" dirty="0"/>
          </a:p>
        </p:txBody>
      </p:sp>
      <p:sp>
        <p:nvSpPr>
          <p:cNvPr id="6" name="Shape 4"/>
          <p:cNvSpPr/>
          <p:nvPr/>
        </p:nvSpPr>
        <p:spPr>
          <a:xfrm>
            <a:off x="1188720" y="1115568"/>
            <a:ext cx="6766560" cy="3364992"/>
          </a:xfrm>
          <a:prstGeom prst="rect">
            <a:avLst/>
          </a:prstGeom>
          <a:solidFill>
            <a:srgbClr val="FFFFFF"/>
          </a:solidFill>
          <a:ln/>
          <a:effectLst>
            <a:outerShdw blurRad="177800" dist="50800" dir="8100000" algn="bl" rotWithShape="0">
              <a:srgbClr val="000000">
                <a:alpha val="25000"/>
              </a:srgbClr>
            </a:outerShdw>
          </a:effectLst>
        </p:spPr>
        <p:txBody>
          <a:bodyPr/>
          <a:lstStyle/>
          <a:p>
            <a:endParaRPr lang="en-IN"/>
          </a:p>
        </p:txBody>
      </p:sp>
      <p:pic>
        <p:nvPicPr>
          <p:cNvPr id="7" name="Image 0" descr="/home/claude/media/image9.png"/>
          <p:cNvPicPr>
            <a:picLocks noChangeAspect="1"/>
          </p:cNvPicPr>
          <p:nvPr/>
        </p:nvPicPr>
        <p:blipFill>
          <a:blip r:embed="rId3"/>
          <a:stretch>
            <a:fillRect/>
          </a:stretch>
        </p:blipFill>
        <p:spPr>
          <a:xfrm>
            <a:off x="1280160" y="1188720"/>
            <a:ext cx="6583680" cy="3218688"/>
          </a:xfrm>
          <a:prstGeom prst="rect">
            <a:avLst/>
          </a:prstGeom>
        </p:spPr>
      </p:pic>
      <p:sp>
        <p:nvSpPr>
          <p:cNvPr id="8" name="Text 5"/>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10 / 20</a:t>
            </a:r>
            <a:endParaRPr lang="en-US" sz="900" dirty="0"/>
          </a:p>
        </p:txBody>
      </p:sp>
      <p:sp>
        <p:nvSpPr>
          <p:cNvPr id="9" name="Text 6"/>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Shape 1"/>
          <p:cNvSpPr/>
          <p:nvPr/>
        </p:nvSpPr>
        <p:spPr>
          <a:xfrm>
            <a:off x="0" y="0"/>
            <a:ext cx="9144000" cy="54864"/>
          </a:xfrm>
          <a:prstGeom prst="rect">
            <a:avLst/>
          </a:prstGeom>
          <a:solidFill>
            <a:srgbClr val="0C7C99"/>
          </a:solidFill>
          <a:ln/>
        </p:spPr>
        <p:txBody>
          <a:bodyPr/>
          <a:lstStyle/>
          <a:p>
            <a:endParaRPr lang="en-IN"/>
          </a:p>
        </p:txBody>
      </p:sp>
      <p:sp>
        <p:nvSpPr>
          <p:cNvPr id="4" name="Text 2"/>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ANALYSIS MODEL</a:t>
            </a:r>
            <a:endParaRPr lang="en-US" sz="10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Activity Diagram — Track Ticket Status</a:t>
            </a:r>
            <a:endParaRPr lang="en-US" sz="2800" dirty="0"/>
          </a:p>
        </p:txBody>
      </p:sp>
      <p:sp>
        <p:nvSpPr>
          <p:cNvPr id="6" name="Shape 4"/>
          <p:cNvSpPr/>
          <p:nvPr/>
        </p:nvSpPr>
        <p:spPr>
          <a:xfrm>
            <a:off x="2057400" y="978408"/>
            <a:ext cx="5029200" cy="3877056"/>
          </a:xfrm>
          <a:prstGeom prst="rect">
            <a:avLst/>
          </a:prstGeom>
          <a:solidFill>
            <a:srgbClr val="FFFFFF"/>
          </a:solidFill>
          <a:ln/>
          <a:effectLst>
            <a:outerShdw blurRad="177800" dist="50800" dir="8100000" algn="bl" rotWithShape="0">
              <a:srgbClr val="000000">
                <a:alpha val="25000"/>
              </a:srgbClr>
            </a:outerShdw>
          </a:effectLst>
        </p:spPr>
        <p:txBody>
          <a:bodyPr/>
          <a:lstStyle/>
          <a:p>
            <a:endParaRPr lang="en-IN"/>
          </a:p>
        </p:txBody>
      </p:sp>
      <p:pic>
        <p:nvPicPr>
          <p:cNvPr id="7" name="Image 0" descr="/home/claude/media/image10.png"/>
          <p:cNvPicPr>
            <a:picLocks noChangeAspect="1"/>
          </p:cNvPicPr>
          <p:nvPr/>
        </p:nvPicPr>
        <p:blipFill>
          <a:blip r:embed="rId3"/>
          <a:stretch>
            <a:fillRect/>
          </a:stretch>
        </p:blipFill>
        <p:spPr>
          <a:xfrm>
            <a:off x="2148840" y="1051560"/>
            <a:ext cx="4846320" cy="3730752"/>
          </a:xfrm>
          <a:prstGeom prst="rect">
            <a:avLst/>
          </a:prstGeom>
        </p:spPr>
      </p:pic>
      <p:sp>
        <p:nvSpPr>
          <p:cNvPr id="8" name="Text 5"/>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11 / 20</a:t>
            </a:r>
            <a:endParaRPr lang="en-US" sz="900" dirty="0"/>
          </a:p>
        </p:txBody>
      </p:sp>
      <p:sp>
        <p:nvSpPr>
          <p:cNvPr id="9" name="Text 6"/>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Shape 1"/>
          <p:cNvSpPr/>
          <p:nvPr/>
        </p:nvSpPr>
        <p:spPr>
          <a:xfrm>
            <a:off x="0" y="0"/>
            <a:ext cx="9144000" cy="54864"/>
          </a:xfrm>
          <a:prstGeom prst="rect">
            <a:avLst/>
          </a:prstGeom>
          <a:solidFill>
            <a:srgbClr val="0C7C99"/>
          </a:solidFill>
          <a:ln/>
        </p:spPr>
        <p:txBody>
          <a:bodyPr/>
          <a:lstStyle/>
          <a:p>
            <a:endParaRPr lang="en-IN"/>
          </a:p>
        </p:txBody>
      </p:sp>
      <p:sp>
        <p:nvSpPr>
          <p:cNvPr id="4" name="Text 2"/>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DESIGN MODEL</a:t>
            </a:r>
            <a:endParaRPr lang="en-US" sz="10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Sequence Diagram — Authentication</a:t>
            </a:r>
            <a:endParaRPr lang="en-US" sz="2800" dirty="0"/>
          </a:p>
        </p:txBody>
      </p:sp>
      <p:sp>
        <p:nvSpPr>
          <p:cNvPr id="6" name="Shape 4"/>
          <p:cNvSpPr/>
          <p:nvPr/>
        </p:nvSpPr>
        <p:spPr>
          <a:xfrm>
            <a:off x="1508760" y="1298448"/>
            <a:ext cx="6126480" cy="2852928"/>
          </a:xfrm>
          <a:prstGeom prst="rect">
            <a:avLst/>
          </a:prstGeom>
          <a:solidFill>
            <a:srgbClr val="FFFFFF"/>
          </a:solidFill>
          <a:ln/>
          <a:effectLst>
            <a:outerShdw blurRad="177800" dist="50800" dir="8100000" algn="bl" rotWithShape="0">
              <a:srgbClr val="000000">
                <a:alpha val="25000"/>
              </a:srgbClr>
            </a:outerShdw>
          </a:effectLst>
        </p:spPr>
        <p:txBody>
          <a:bodyPr/>
          <a:lstStyle/>
          <a:p>
            <a:endParaRPr lang="en-IN"/>
          </a:p>
        </p:txBody>
      </p:sp>
      <p:pic>
        <p:nvPicPr>
          <p:cNvPr id="7" name="Image 0" descr="/home/claude/media/image16.png"/>
          <p:cNvPicPr>
            <a:picLocks noChangeAspect="1"/>
          </p:cNvPicPr>
          <p:nvPr/>
        </p:nvPicPr>
        <p:blipFill>
          <a:blip r:embed="rId3"/>
          <a:stretch>
            <a:fillRect/>
          </a:stretch>
        </p:blipFill>
        <p:spPr>
          <a:xfrm>
            <a:off x="1600200" y="1371600"/>
            <a:ext cx="5943600" cy="2706624"/>
          </a:xfrm>
          <a:prstGeom prst="rect">
            <a:avLst/>
          </a:prstGeom>
        </p:spPr>
      </p:pic>
      <p:sp>
        <p:nvSpPr>
          <p:cNvPr id="8" name="Text 5"/>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12 / 20</a:t>
            </a:r>
            <a:endParaRPr lang="en-US" sz="900" dirty="0"/>
          </a:p>
        </p:txBody>
      </p:sp>
      <p:sp>
        <p:nvSpPr>
          <p:cNvPr id="9" name="Text 6"/>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Shape 1"/>
          <p:cNvSpPr/>
          <p:nvPr/>
        </p:nvSpPr>
        <p:spPr>
          <a:xfrm>
            <a:off x="0" y="0"/>
            <a:ext cx="9144000" cy="54864"/>
          </a:xfrm>
          <a:prstGeom prst="rect">
            <a:avLst/>
          </a:prstGeom>
          <a:solidFill>
            <a:srgbClr val="0C7C99"/>
          </a:solidFill>
          <a:ln/>
        </p:spPr>
        <p:txBody>
          <a:bodyPr/>
          <a:lstStyle/>
          <a:p>
            <a:endParaRPr lang="en-IN"/>
          </a:p>
        </p:txBody>
      </p:sp>
      <p:sp>
        <p:nvSpPr>
          <p:cNvPr id="4" name="Text 2"/>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DESIGN MODEL</a:t>
            </a:r>
            <a:endParaRPr lang="en-US" sz="10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Sequence Diagram — Search Availability</a:t>
            </a:r>
            <a:endParaRPr lang="en-US" sz="2800" dirty="0"/>
          </a:p>
        </p:txBody>
      </p:sp>
      <p:sp>
        <p:nvSpPr>
          <p:cNvPr id="6" name="Shape 4"/>
          <p:cNvSpPr/>
          <p:nvPr/>
        </p:nvSpPr>
        <p:spPr>
          <a:xfrm>
            <a:off x="1280160" y="1298448"/>
            <a:ext cx="6583680" cy="2862072"/>
          </a:xfrm>
          <a:prstGeom prst="rect">
            <a:avLst/>
          </a:prstGeom>
          <a:solidFill>
            <a:srgbClr val="FFFFFF"/>
          </a:solidFill>
          <a:ln/>
          <a:effectLst>
            <a:outerShdw blurRad="177800" dist="50800" dir="8100000" algn="bl" rotWithShape="0">
              <a:srgbClr val="000000">
                <a:alpha val="25000"/>
              </a:srgbClr>
            </a:outerShdw>
          </a:effectLst>
        </p:spPr>
        <p:txBody>
          <a:bodyPr/>
          <a:lstStyle/>
          <a:p>
            <a:endParaRPr lang="en-IN"/>
          </a:p>
        </p:txBody>
      </p:sp>
      <p:pic>
        <p:nvPicPr>
          <p:cNvPr id="7" name="Image 0" descr="/home/claude/media/image12.png"/>
          <p:cNvPicPr>
            <a:picLocks noChangeAspect="1"/>
          </p:cNvPicPr>
          <p:nvPr/>
        </p:nvPicPr>
        <p:blipFill>
          <a:blip r:embed="rId3"/>
          <a:stretch>
            <a:fillRect/>
          </a:stretch>
        </p:blipFill>
        <p:spPr>
          <a:xfrm>
            <a:off x="1371600" y="1371600"/>
            <a:ext cx="6400800" cy="2715768"/>
          </a:xfrm>
          <a:prstGeom prst="rect">
            <a:avLst/>
          </a:prstGeom>
        </p:spPr>
      </p:pic>
      <p:sp>
        <p:nvSpPr>
          <p:cNvPr id="8" name="Text 5"/>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13 / 20</a:t>
            </a:r>
            <a:endParaRPr lang="en-US" sz="900" dirty="0"/>
          </a:p>
        </p:txBody>
      </p:sp>
      <p:sp>
        <p:nvSpPr>
          <p:cNvPr id="9" name="Text 6"/>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Shape 1"/>
          <p:cNvSpPr/>
          <p:nvPr/>
        </p:nvSpPr>
        <p:spPr>
          <a:xfrm>
            <a:off x="0" y="0"/>
            <a:ext cx="9144000" cy="54864"/>
          </a:xfrm>
          <a:prstGeom prst="rect">
            <a:avLst/>
          </a:prstGeom>
          <a:solidFill>
            <a:srgbClr val="0C7C99"/>
          </a:solidFill>
          <a:ln/>
        </p:spPr>
        <p:txBody>
          <a:bodyPr/>
          <a:lstStyle/>
          <a:p>
            <a:endParaRPr lang="en-IN"/>
          </a:p>
        </p:txBody>
      </p:sp>
      <p:sp>
        <p:nvSpPr>
          <p:cNvPr id="4" name="Text 2"/>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DESIGN MODEL</a:t>
            </a:r>
            <a:endParaRPr lang="en-US" sz="10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Sequence Diagram — Book Room</a:t>
            </a:r>
            <a:endParaRPr lang="en-US" sz="2800" dirty="0"/>
          </a:p>
        </p:txBody>
      </p:sp>
      <p:sp>
        <p:nvSpPr>
          <p:cNvPr id="6" name="Shape 4"/>
          <p:cNvSpPr/>
          <p:nvPr/>
        </p:nvSpPr>
        <p:spPr>
          <a:xfrm>
            <a:off x="1508760" y="1161288"/>
            <a:ext cx="6126480" cy="3127248"/>
          </a:xfrm>
          <a:prstGeom prst="rect">
            <a:avLst/>
          </a:prstGeom>
          <a:solidFill>
            <a:srgbClr val="FFFFFF"/>
          </a:solidFill>
          <a:ln/>
          <a:effectLst>
            <a:outerShdw blurRad="177800" dist="50800" dir="8100000" algn="bl" rotWithShape="0">
              <a:srgbClr val="000000">
                <a:alpha val="25000"/>
              </a:srgbClr>
            </a:outerShdw>
          </a:effectLst>
        </p:spPr>
        <p:txBody>
          <a:bodyPr/>
          <a:lstStyle/>
          <a:p>
            <a:endParaRPr lang="en-IN"/>
          </a:p>
        </p:txBody>
      </p:sp>
      <p:pic>
        <p:nvPicPr>
          <p:cNvPr id="7" name="Image 0" descr="/home/claude/media/image14.png"/>
          <p:cNvPicPr>
            <a:picLocks noChangeAspect="1"/>
          </p:cNvPicPr>
          <p:nvPr/>
        </p:nvPicPr>
        <p:blipFill>
          <a:blip r:embed="rId3"/>
          <a:stretch>
            <a:fillRect/>
          </a:stretch>
        </p:blipFill>
        <p:spPr>
          <a:xfrm>
            <a:off x="1600200" y="1234440"/>
            <a:ext cx="5943600" cy="2980944"/>
          </a:xfrm>
          <a:prstGeom prst="rect">
            <a:avLst/>
          </a:prstGeom>
        </p:spPr>
      </p:pic>
      <p:sp>
        <p:nvSpPr>
          <p:cNvPr id="8" name="Text 5"/>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14 / 20</a:t>
            </a:r>
            <a:endParaRPr lang="en-US" sz="900" dirty="0"/>
          </a:p>
        </p:txBody>
      </p:sp>
      <p:sp>
        <p:nvSpPr>
          <p:cNvPr id="9" name="Text 6"/>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Shape 1"/>
          <p:cNvSpPr/>
          <p:nvPr/>
        </p:nvSpPr>
        <p:spPr>
          <a:xfrm>
            <a:off x="0" y="0"/>
            <a:ext cx="9144000" cy="54864"/>
          </a:xfrm>
          <a:prstGeom prst="rect">
            <a:avLst/>
          </a:prstGeom>
          <a:solidFill>
            <a:srgbClr val="0C7C99"/>
          </a:solidFill>
          <a:ln/>
        </p:spPr>
        <p:txBody>
          <a:bodyPr/>
          <a:lstStyle/>
          <a:p>
            <a:endParaRPr lang="en-IN"/>
          </a:p>
        </p:txBody>
      </p:sp>
      <p:sp>
        <p:nvSpPr>
          <p:cNvPr id="4" name="Text 2"/>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DESIGN MODEL</a:t>
            </a:r>
            <a:endParaRPr lang="en-US" sz="10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Sequence Diagram — BR Check-In</a:t>
            </a:r>
            <a:endParaRPr lang="en-US" sz="2800" dirty="0"/>
          </a:p>
        </p:txBody>
      </p:sp>
      <p:sp>
        <p:nvSpPr>
          <p:cNvPr id="6" name="Shape 4"/>
          <p:cNvSpPr/>
          <p:nvPr/>
        </p:nvSpPr>
        <p:spPr>
          <a:xfrm>
            <a:off x="1371600" y="1161288"/>
            <a:ext cx="6400800" cy="3136392"/>
          </a:xfrm>
          <a:prstGeom prst="rect">
            <a:avLst/>
          </a:prstGeom>
          <a:solidFill>
            <a:srgbClr val="FFFFFF"/>
          </a:solidFill>
          <a:ln/>
          <a:effectLst>
            <a:outerShdw blurRad="177800" dist="50800" dir="8100000" algn="bl" rotWithShape="0">
              <a:srgbClr val="000000">
                <a:alpha val="25000"/>
              </a:srgbClr>
            </a:outerShdw>
          </a:effectLst>
        </p:spPr>
        <p:txBody>
          <a:bodyPr/>
          <a:lstStyle/>
          <a:p>
            <a:endParaRPr lang="en-IN"/>
          </a:p>
        </p:txBody>
      </p:sp>
      <p:pic>
        <p:nvPicPr>
          <p:cNvPr id="7" name="Image 0" descr="/home/claude/media/image15.png"/>
          <p:cNvPicPr>
            <a:picLocks noChangeAspect="1"/>
          </p:cNvPicPr>
          <p:nvPr/>
        </p:nvPicPr>
        <p:blipFill>
          <a:blip r:embed="rId3"/>
          <a:stretch>
            <a:fillRect/>
          </a:stretch>
        </p:blipFill>
        <p:spPr>
          <a:xfrm>
            <a:off x="1463040" y="1234440"/>
            <a:ext cx="6217920" cy="2990088"/>
          </a:xfrm>
          <a:prstGeom prst="rect">
            <a:avLst/>
          </a:prstGeom>
        </p:spPr>
      </p:pic>
      <p:sp>
        <p:nvSpPr>
          <p:cNvPr id="8" name="Text 5"/>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15 / 20</a:t>
            </a:r>
            <a:endParaRPr lang="en-US" sz="900" dirty="0"/>
          </a:p>
        </p:txBody>
      </p:sp>
      <p:sp>
        <p:nvSpPr>
          <p:cNvPr id="9" name="Text 6"/>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Shape 1"/>
          <p:cNvSpPr/>
          <p:nvPr/>
        </p:nvSpPr>
        <p:spPr>
          <a:xfrm>
            <a:off x="0" y="0"/>
            <a:ext cx="9144000" cy="54864"/>
          </a:xfrm>
          <a:prstGeom prst="rect">
            <a:avLst/>
          </a:prstGeom>
          <a:solidFill>
            <a:srgbClr val="0C7C99"/>
          </a:solidFill>
          <a:ln/>
        </p:spPr>
        <p:txBody>
          <a:bodyPr/>
          <a:lstStyle/>
          <a:p>
            <a:endParaRPr lang="en-IN"/>
          </a:p>
        </p:txBody>
      </p:sp>
      <p:sp>
        <p:nvSpPr>
          <p:cNvPr id="4" name="Text 2"/>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DESIGN MODEL</a:t>
            </a:r>
            <a:endParaRPr lang="en-US" sz="10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Sequence Diagram — Maintenance Ticket</a:t>
            </a:r>
            <a:endParaRPr lang="en-US" sz="2800" dirty="0"/>
          </a:p>
        </p:txBody>
      </p:sp>
      <p:sp>
        <p:nvSpPr>
          <p:cNvPr id="6" name="Shape 4"/>
          <p:cNvSpPr/>
          <p:nvPr/>
        </p:nvSpPr>
        <p:spPr>
          <a:xfrm>
            <a:off x="1051560" y="1207008"/>
            <a:ext cx="7040880" cy="3035808"/>
          </a:xfrm>
          <a:prstGeom prst="rect">
            <a:avLst/>
          </a:prstGeom>
          <a:solidFill>
            <a:srgbClr val="FFFFFF"/>
          </a:solidFill>
          <a:ln/>
          <a:effectLst>
            <a:outerShdw blurRad="177800" dist="50800" dir="8100000" algn="bl" rotWithShape="0">
              <a:srgbClr val="000000">
                <a:alpha val="25000"/>
              </a:srgbClr>
            </a:outerShdw>
          </a:effectLst>
        </p:spPr>
        <p:txBody>
          <a:bodyPr/>
          <a:lstStyle/>
          <a:p>
            <a:endParaRPr lang="en-IN"/>
          </a:p>
        </p:txBody>
      </p:sp>
      <p:pic>
        <p:nvPicPr>
          <p:cNvPr id="7" name="Image 0" descr="/home/claude/media/image13.png"/>
          <p:cNvPicPr>
            <a:picLocks noChangeAspect="1"/>
          </p:cNvPicPr>
          <p:nvPr/>
        </p:nvPicPr>
        <p:blipFill>
          <a:blip r:embed="rId3"/>
          <a:stretch>
            <a:fillRect/>
          </a:stretch>
        </p:blipFill>
        <p:spPr>
          <a:xfrm>
            <a:off x="1143000" y="1280160"/>
            <a:ext cx="6858000" cy="2889504"/>
          </a:xfrm>
          <a:prstGeom prst="rect">
            <a:avLst/>
          </a:prstGeom>
        </p:spPr>
      </p:pic>
      <p:sp>
        <p:nvSpPr>
          <p:cNvPr id="8" name="Text 5"/>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16 / 20</a:t>
            </a:r>
            <a:endParaRPr lang="en-US" sz="900" dirty="0"/>
          </a:p>
        </p:txBody>
      </p:sp>
      <p:sp>
        <p:nvSpPr>
          <p:cNvPr id="9" name="Text 6"/>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Shape 1"/>
          <p:cNvSpPr/>
          <p:nvPr/>
        </p:nvSpPr>
        <p:spPr>
          <a:xfrm>
            <a:off x="0" y="0"/>
            <a:ext cx="9144000" cy="54864"/>
          </a:xfrm>
          <a:prstGeom prst="rect">
            <a:avLst/>
          </a:prstGeom>
          <a:solidFill>
            <a:srgbClr val="0C7C99"/>
          </a:solidFill>
          <a:ln/>
        </p:spPr>
        <p:txBody>
          <a:bodyPr/>
          <a:lstStyle/>
          <a:p>
            <a:endParaRPr lang="en-IN"/>
          </a:p>
        </p:txBody>
      </p:sp>
      <p:sp>
        <p:nvSpPr>
          <p:cNvPr id="4" name="Text 2"/>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DESIGN MODEL</a:t>
            </a:r>
            <a:endParaRPr lang="en-US" sz="10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Sequence Diagram — Track Ticket Status</a:t>
            </a:r>
            <a:endParaRPr lang="en-US" sz="2800" dirty="0"/>
          </a:p>
        </p:txBody>
      </p:sp>
      <p:sp>
        <p:nvSpPr>
          <p:cNvPr id="6" name="Shape 4"/>
          <p:cNvSpPr/>
          <p:nvPr/>
        </p:nvSpPr>
        <p:spPr>
          <a:xfrm>
            <a:off x="1051560" y="1161288"/>
            <a:ext cx="7040880" cy="3191256"/>
          </a:xfrm>
          <a:prstGeom prst="rect">
            <a:avLst/>
          </a:prstGeom>
          <a:solidFill>
            <a:srgbClr val="FFFFFF"/>
          </a:solidFill>
          <a:ln/>
          <a:effectLst>
            <a:outerShdw blurRad="177800" dist="50800" dir="8100000" algn="bl" rotWithShape="0">
              <a:srgbClr val="000000">
                <a:alpha val="25000"/>
              </a:srgbClr>
            </a:outerShdw>
          </a:effectLst>
        </p:spPr>
        <p:txBody>
          <a:bodyPr/>
          <a:lstStyle/>
          <a:p>
            <a:endParaRPr lang="en-IN"/>
          </a:p>
        </p:txBody>
      </p:sp>
      <p:pic>
        <p:nvPicPr>
          <p:cNvPr id="7" name="Image 0" descr="/home/claude/media/image11.png"/>
          <p:cNvPicPr>
            <a:picLocks noChangeAspect="1"/>
          </p:cNvPicPr>
          <p:nvPr/>
        </p:nvPicPr>
        <p:blipFill>
          <a:blip r:embed="rId3"/>
          <a:stretch>
            <a:fillRect/>
          </a:stretch>
        </p:blipFill>
        <p:spPr>
          <a:xfrm>
            <a:off x="1143000" y="1234440"/>
            <a:ext cx="6858000" cy="3044952"/>
          </a:xfrm>
          <a:prstGeom prst="rect">
            <a:avLst/>
          </a:prstGeom>
        </p:spPr>
      </p:pic>
      <p:sp>
        <p:nvSpPr>
          <p:cNvPr id="8" name="Text 5"/>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17 / 20</a:t>
            </a:r>
            <a:endParaRPr lang="en-US" sz="900" dirty="0"/>
          </a:p>
        </p:txBody>
      </p:sp>
      <p:sp>
        <p:nvSpPr>
          <p:cNvPr id="9" name="Text 6"/>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Shape 1"/>
          <p:cNvSpPr/>
          <p:nvPr/>
        </p:nvSpPr>
        <p:spPr>
          <a:xfrm>
            <a:off x="0" y="0"/>
            <a:ext cx="9144000" cy="54864"/>
          </a:xfrm>
          <a:prstGeom prst="rect">
            <a:avLst/>
          </a:prstGeom>
          <a:solidFill>
            <a:srgbClr val="0C7C99"/>
          </a:solidFill>
          <a:ln/>
        </p:spPr>
        <p:txBody>
          <a:bodyPr/>
          <a:lstStyle/>
          <a:p>
            <a:endParaRPr lang="en-IN"/>
          </a:p>
        </p:txBody>
      </p:sp>
      <p:sp>
        <p:nvSpPr>
          <p:cNvPr id="4" name="Text 2"/>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DESIGN MODEL</a:t>
            </a:r>
            <a:endParaRPr lang="en-US" sz="10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Class Diagram — BCE Pattern</a:t>
            </a:r>
            <a:endParaRPr lang="en-US" sz="2800" dirty="0"/>
          </a:p>
        </p:txBody>
      </p:sp>
      <p:sp>
        <p:nvSpPr>
          <p:cNvPr id="6" name="Shape 4"/>
          <p:cNvSpPr/>
          <p:nvPr/>
        </p:nvSpPr>
        <p:spPr>
          <a:xfrm>
            <a:off x="1051560" y="932688"/>
            <a:ext cx="7040880" cy="4078224"/>
          </a:xfrm>
          <a:prstGeom prst="rect">
            <a:avLst/>
          </a:prstGeom>
          <a:solidFill>
            <a:srgbClr val="FFFFFF"/>
          </a:solidFill>
          <a:ln/>
          <a:effectLst>
            <a:outerShdw blurRad="177800" dist="50800" dir="8100000" algn="bl" rotWithShape="0">
              <a:srgbClr val="000000">
                <a:alpha val="25000"/>
              </a:srgbClr>
            </a:outerShdw>
          </a:effectLst>
        </p:spPr>
        <p:txBody>
          <a:bodyPr/>
          <a:lstStyle/>
          <a:p>
            <a:endParaRPr lang="en-IN"/>
          </a:p>
        </p:txBody>
      </p:sp>
      <p:pic>
        <p:nvPicPr>
          <p:cNvPr id="7" name="Image 0" descr="/home/claude/media/image17.png"/>
          <p:cNvPicPr>
            <a:picLocks noChangeAspect="1"/>
          </p:cNvPicPr>
          <p:nvPr/>
        </p:nvPicPr>
        <p:blipFill>
          <a:blip r:embed="rId3"/>
          <a:stretch>
            <a:fillRect/>
          </a:stretch>
        </p:blipFill>
        <p:spPr>
          <a:xfrm>
            <a:off x="1143000" y="1005840"/>
            <a:ext cx="6858000" cy="3931920"/>
          </a:xfrm>
          <a:prstGeom prst="rect">
            <a:avLst/>
          </a:prstGeom>
        </p:spPr>
      </p:pic>
      <p:sp>
        <p:nvSpPr>
          <p:cNvPr id="8" name="Text 5"/>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18 / 20</a:t>
            </a:r>
            <a:endParaRPr lang="en-US" sz="900" dirty="0"/>
          </a:p>
        </p:txBody>
      </p:sp>
      <p:sp>
        <p:nvSpPr>
          <p:cNvPr id="9" name="Text 6"/>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Text 1"/>
          <p:cNvSpPr/>
          <p:nvPr/>
        </p:nvSpPr>
        <p:spPr>
          <a:xfrm>
            <a:off x="457200" y="274320"/>
            <a:ext cx="2743200" cy="274320"/>
          </a:xfrm>
          <a:prstGeom prst="rect">
            <a:avLst/>
          </a:prstGeom>
          <a:noFill/>
          <a:ln/>
        </p:spPr>
        <p:txBody>
          <a:bodyPr wrap="square" lIns="0" tIns="0" rIns="0" bIns="0" rtlCol="0" anchor="ctr"/>
          <a:lstStyle/>
          <a:p>
            <a:pPr marL="0" indent="0">
              <a:buNone/>
            </a:pPr>
            <a:r>
              <a:rPr lang="en-US" sz="1000" b="1" kern="0" spc="300" dirty="0">
                <a:solidFill>
                  <a:srgbClr val="14A3C7"/>
                </a:solidFill>
                <a:latin typeface="Calibri" pitchFamily="34" charset="0"/>
                <a:ea typeface="Calibri" pitchFamily="34" charset="-122"/>
                <a:cs typeface="Calibri" pitchFamily="34" charset="-120"/>
              </a:rPr>
              <a:t>UI DESIGN</a:t>
            </a:r>
            <a:endParaRPr lang="en-US" sz="1000" dirty="0"/>
          </a:p>
        </p:txBody>
      </p:sp>
      <p:sp>
        <p:nvSpPr>
          <p:cNvPr id="4" name="Text 2"/>
          <p:cNvSpPr/>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User Interface — Web Prototype</a:t>
            </a:r>
            <a:endParaRPr lang="en-US" sz="2800" dirty="0"/>
          </a:p>
        </p:txBody>
      </p:sp>
      <p:sp>
        <p:nvSpPr>
          <p:cNvPr id="5" name="Text 3"/>
          <p:cNvSpPr/>
          <p:nvPr/>
        </p:nvSpPr>
        <p:spPr>
          <a:xfrm>
            <a:off x="457200" y="1097280"/>
            <a:ext cx="8229600" cy="457200"/>
          </a:xfrm>
          <a:prstGeom prst="rect">
            <a:avLst/>
          </a:prstGeom>
          <a:noFill/>
          <a:ln/>
        </p:spPr>
        <p:txBody>
          <a:bodyPr wrap="square" lIns="0" tIns="0" rIns="0" bIns="0" rtlCol="0" anchor="ctr"/>
          <a:lstStyle/>
          <a:p>
            <a:pPr marL="0" indent="0">
              <a:buNone/>
            </a:pPr>
            <a:r>
              <a:rPr lang="en-US" sz="1300" dirty="0">
                <a:solidFill>
                  <a:srgbClr val="A3B8CC"/>
                </a:solidFill>
                <a:latin typeface="Calibri" pitchFamily="34" charset="0"/>
                <a:ea typeface="Calibri" pitchFamily="34" charset="-122"/>
                <a:cs typeface="Calibri" pitchFamily="34" charset="-120"/>
              </a:rPr>
              <a:t>The operational prototype is a fully interactive single-page web application built with React, implementing all 6 use cases from the UML model.</a:t>
            </a:r>
            <a:endParaRPr lang="en-US" sz="1300" dirty="0"/>
          </a:p>
        </p:txBody>
      </p:sp>
      <p:sp>
        <p:nvSpPr>
          <p:cNvPr id="6" name="Shape 4"/>
          <p:cNvSpPr/>
          <p:nvPr/>
        </p:nvSpPr>
        <p:spPr>
          <a:xfrm>
            <a:off x="457200" y="1783080"/>
            <a:ext cx="2606040" cy="1234440"/>
          </a:xfrm>
          <a:prstGeom prst="rect">
            <a:avLst/>
          </a:prstGeom>
          <a:solidFill>
            <a:srgbClr val="122240"/>
          </a:solidFill>
          <a:ln/>
          <a:effectLst>
            <a:outerShdw blurRad="101600" dist="38100" dir="8100000" algn="bl" rotWithShape="0">
              <a:srgbClr val="000000">
                <a:alpha val="18000"/>
              </a:srgbClr>
            </a:outerShdw>
          </a:effectLst>
        </p:spPr>
        <p:txBody>
          <a:bodyPr/>
          <a:lstStyle/>
          <a:p>
            <a:endParaRPr lang="en-IN"/>
          </a:p>
        </p:txBody>
      </p:sp>
      <p:sp>
        <p:nvSpPr>
          <p:cNvPr id="7" name="Shape 5"/>
          <p:cNvSpPr/>
          <p:nvPr/>
        </p:nvSpPr>
        <p:spPr>
          <a:xfrm>
            <a:off x="457200" y="1783080"/>
            <a:ext cx="2606040" cy="45720"/>
          </a:xfrm>
          <a:prstGeom prst="rect">
            <a:avLst/>
          </a:prstGeom>
          <a:solidFill>
            <a:srgbClr val="0C7C99"/>
          </a:solidFill>
          <a:ln/>
        </p:spPr>
        <p:txBody>
          <a:bodyPr/>
          <a:lstStyle/>
          <a:p>
            <a:endParaRPr lang="en-IN"/>
          </a:p>
        </p:txBody>
      </p:sp>
      <p:sp>
        <p:nvSpPr>
          <p:cNvPr id="8" name="Text 6"/>
          <p:cNvSpPr/>
          <p:nvPr/>
        </p:nvSpPr>
        <p:spPr>
          <a:xfrm>
            <a:off x="566928" y="1920240"/>
            <a:ext cx="457200" cy="36576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9" name="Text 7"/>
          <p:cNvSpPr/>
          <p:nvPr/>
        </p:nvSpPr>
        <p:spPr>
          <a:xfrm>
            <a:off x="1005840" y="1920240"/>
            <a:ext cx="19202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Login &amp; Auth</a:t>
            </a:r>
            <a:endParaRPr lang="en-US" sz="1300" dirty="0"/>
          </a:p>
        </p:txBody>
      </p:sp>
      <p:sp>
        <p:nvSpPr>
          <p:cNvPr id="10" name="Text 8"/>
          <p:cNvSpPr/>
          <p:nvPr/>
        </p:nvSpPr>
        <p:spPr>
          <a:xfrm>
            <a:off x="566928" y="2331720"/>
            <a:ext cx="2377440" cy="594360"/>
          </a:xfrm>
          <a:prstGeom prst="rect">
            <a:avLst/>
          </a:prstGeom>
          <a:noFill/>
          <a:ln/>
        </p:spPr>
        <p:txBody>
          <a:bodyPr wrap="square" lIns="0" tIns="0" rIns="0" bIns="0" rtlCol="0" anchor="t"/>
          <a:lstStyle/>
          <a:p>
            <a:pPr marL="0" indent="0">
              <a:buNone/>
            </a:pPr>
            <a:r>
              <a:rPr lang="en-US" sz="1100" dirty="0">
                <a:solidFill>
                  <a:srgbClr val="A3B8CC"/>
                </a:solidFill>
                <a:latin typeface="Calibri" pitchFamily="34" charset="0"/>
                <a:ea typeface="Calibri" pitchFamily="34" charset="-122"/>
                <a:cs typeface="Calibri" pitchFamily="34" charset="-120"/>
              </a:rPr>
              <a:t>SHA-256 hashed credential verification with session management</a:t>
            </a:r>
            <a:endParaRPr lang="en-US" sz="1100" dirty="0"/>
          </a:p>
        </p:txBody>
      </p:sp>
      <p:sp>
        <p:nvSpPr>
          <p:cNvPr id="11" name="Shape 9"/>
          <p:cNvSpPr/>
          <p:nvPr/>
        </p:nvSpPr>
        <p:spPr>
          <a:xfrm>
            <a:off x="3291840" y="1783080"/>
            <a:ext cx="2606040" cy="1234440"/>
          </a:xfrm>
          <a:prstGeom prst="rect">
            <a:avLst/>
          </a:prstGeom>
          <a:solidFill>
            <a:srgbClr val="122240"/>
          </a:solidFill>
          <a:ln/>
          <a:effectLst>
            <a:outerShdw blurRad="101600" dist="38100" dir="8100000" algn="bl" rotWithShape="0">
              <a:srgbClr val="000000">
                <a:alpha val="18000"/>
              </a:srgbClr>
            </a:outerShdw>
          </a:effectLst>
        </p:spPr>
        <p:txBody>
          <a:bodyPr/>
          <a:lstStyle/>
          <a:p>
            <a:endParaRPr lang="en-IN"/>
          </a:p>
        </p:txBody>
      </p:sp>
      <p:sp>
        <p:nvSpPr>
          <p:cNvPr id="12" name="Shape 10"/>
          <p:cNvSpPr/>
          <p:nvPr/>
        </p:nvSpPr>
        <p:spPr>
          <a:xfrm>
            <a:off x="3291840" y="1783080"/>
            <a:ext cx="2606040" cy="45720"/>
          </a:xfrm>
          <a:prstGeom prst="rect">
            <a:avLst/>
          </a:prstGeom>
          <a:solidFill>
            <a:srgbClr val="0C7C99"/>
          </a:solidFill>
          <a:ln/>
        </p:spPr>
        <p:txBody>
          <a:bodyPr/>
          <a:lstStyle/>
          <a:p>
            <a:endParaRPr lang="en-IN"/>
          </a:p>
        </p:txBody>
      </p:sp>
      <p:sp>
        <p:nvSpPr>
          <p:cNvPr id="13" name="Text 11"/>
          <p:cNvSpPr/>
          <p:nvPr/>
        </p:nvSpPr>
        <p:spPr>
          <a:xfrm>
            <a:off x="3401568" y="1920240"/>
            <a:ext cx="457200" cy="36576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14" name="Text 12"/>
          <p:cNvSpPr/>
          <p:nvPr/>
        </p:nvSpPr>
        <p:spPr>
          <a:xfrm>
            <a:off x="3840480" y="1920240"/>
            <a:ext cx="19202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Room Search</a:t>
            </a:r>
            <a:endParaRPr lang="en-US" sz="1300" dirty="0"/>
          </a:p>
        </p:txBody>
      </p:sp>
      <p:sp>
        <p:nvSpPr>
          <p:cNvPr id="15" name="Text 13"/>
          <p:cNvSpPr/>
          <p:nvPr/>
        </p:nvSpPr>
        <p:spPr>
          <a:xfrm>
            <a:off x="3401568" y="2331720"/>
            <a:ext cx="2377440" cy="594360"/>
          </a:xfrm>
          <a:prstGeom prst="rect">
            <a:avLst/>
          </a:prstGeom>
          <a:noFill/>
          <a:ln/>
        </p:spPr>
        <p:txBody>
          <a:bodyPr wrap="square" lIns="0" tIns="0" rIns="0" bIns="0" rtlCol="0" anchor="t"/>
          <a:lstStyle/>
          <a:p>
            <a:pPr marL="0" indent="0">
              <a:buNone/>
            </a:pPr>
            <a:r>
              <a:rPr lang="en-US" sz="1100" dirty="0">
                <a:solidFill>
                  <a:srgbClr val="A3B8CC"/>
                </a:solidFill>
                <a:latin typeface="Calibri" pitchFamily="34" charset="0"/>
                <a:ea typeface="Calibri" pitchFamily="34" charset="-122"/>
                <a:cs typeface="Calibri" pitchFamily="34" charset="-120"/>
              </a:rPr>
              <a:t>Filter by date, time, and capacity with real-time availability</a:t>
            </a:r>
            <a:endParaRPr lang="en-US" sz="1100" dirty="0"/>
          </a:p>
        </p:txBody>
      </p:sp>
      <p:sp>
        <p:nvSpPr>
          <p:cNvPr id="16" name="Shape 14"/>
          <p:cNvSpPr/>
          <p:nvPr/>
        </p:nvSpPr>
        <p:spPr>
          <a:xfrm>
            <a:off x="6126480" y="1783080"/>
            <a:ext cx="2606040" cy="1234440"/>
          </a:xfrm>
          <a:prstGeom prst="rect">
            <a:avLst/>
          </a:prstGeom>
          <a:solidFill>
            <a:srgbClr val="122240"/>
          </a:solidFill>
          <a:ln/>
          <a:effectLst>
            <a:outerShdw blurRad="101600" dist="38100" dir="8100000" algn="bl" rotWithShape="0">
              <a:srgbClr val="000000">
                <a:alpha val="18000"/>
              </a:srgbClr>
            </a:outerShdw>
          </a:effectLst>
        </p:spPr>
        <p:txBody>
          <a:bodyPr/>
          <a:lstStyle/>
          <a:p>
            <a:endParaRPr lang="en-IN"/>
          </a:p>
        </p:txBody>
      </p:sp>
      <p:sp>
        <p:nvSpPr>
          <p:cNvPr id="17" name="Shape 15"/>
          <p:cNvSpPr/>
          <p:nvPr/>
        </p:nvSpPr>
        <p:spPr>
          <a:xfrm>
            <a:off x="6126480" y="1783080"/>
            <a:ext cx="2606040" cy="45720"/>
          </a:xfrm>
          <a:prstGeom prst="rect">
            <a:avLst/>
          </a:prstGeom>
          <a:solidFill>
            <a:srgbClr val="0C7C99"/>
          </a:solidFill>
          <a:ln/>
        </p:spPr>
        <p:txBody>
          <a:bodyPr/>
          <a:lstStyle/>
          <a:p>
            <a:endParaRPr lang="en-IN"/>
          </a:p>
        </p:txBody>
      </p:sp>
      <p:sp>
        <p:nvSpPr>
          <p:cNvPr id="18" name="Text 16"/>
          <p:cNvSpPr/>
          <p:nvPr/>
        </p:nvSpPr>
        <p:spPr>
          <a:xfrm>
            <a:off x="6236208" y="1920240"/>
            <a:ext cx="457200" cy="36576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19" name="Text 17"/>
          <p:cNvSpPr/>
          <p:nvPr/>
        </p:nvSpPr>
        <p:spPr>
          <a:xfrm>
            <a:off x="6675120" y="1920240"/>
            <a:ext cx="19202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Room Booking</a:t>
            </a:r>
            <a:endParaRPr lang="en-US" sz="1300" dirty="0"/>
          </a:p>
        </p:txBody>
      </p:sp>
      <p:sp>
        <p:nvSpPr>
          <p:cNvPr id="20" name="Text 18"/>
          <p:cNvSpPr/>
          <p:nvPr/>
        </p:nvSpPr>
        <p:spPr>
          <a:xfrm>
            <a:off x="6236208" y="2331720"/>
            <a:ext cx="2377440" cy="594360"/>
          </a:xfrm>
          <a:prstGeom prst="rect">
            <a:avLst/>
          </a:prstGeom>
          <a:noFill/>
          <a:ln/>
        </p:spPr>
        <p:txBody>
          <a:bodyPr wrap="square" lIns="0" tIns="0" rIns="0" bIns="0" rtlCol="0" anchor="t"/>
          <a:lstStyle/>
          <a:p>
            <a:pPr marL="0" indent="0">
              <a:buNone/>
            </a:pPr>
            <a:r>
              <a:rPr lang="en-US" sz="1100" dirty="0">
                <a:solidFill>
                  <a:srgbClr val="A3B8CC"/>
                </a:solidFill>
                <a:latin typeface="Calibri" pitchFamily="34" charset="0"/>
                <a:ea typeface="Calibri" pitchFamily="34" charset="-122"/>
                <a:cs typeface="Calibri" pitchFamily="34" charset="-120"/>
              </a:rPr>
              <a:t>3-step guided flow with conflict prevention and confirmation</a:t>
            </a:r>
            <a:endParaRPr lang="en-US" sz="1100" dirty="0"/>
          </a:p>
        </p:txBody>
      </p:sp>
      <p:sp>
        <p:nvSpPr>
          <p:cNvPr id="21" name="Shape 19"/>
          <p:cNvSpPr/>
          <p:nvPr/>
        </p:nvSpPr>
        <p:spPr>
          <a:xfrm>
            <a:off x="457200" y="3200400"/>
            <a:ext cx="2606040" cy="1234440"/>
          </a:xfrm>
          <a:prstGeom prst="rect">
            <a:avLst/>
          </a:prstGeom>
          <a:solidFill>
            <a:srgbClr val="122240"/>
          </a:solidFill>
          <a:ln/>
          <a:effectLst>
            <a:outerShdw blurRad="101600" dist="38100" dir="8100000" algn="bl" rotWithShape="0">
              <a:srgbClr val="000000">
                <a:alpha val="18000"/>
              </a:srgbClr>
            </a:outerShdw>
          </a:effectLst>
        </p:spPr>
        <p:txBody>
          <a:bodyPr/>
          <a:lstStyle/>
          <a:p>
            <a:endParaRPr lang="en-IN"/>
          </a:p>
        </p:txBody>
      </p:sp>
      <p:sp>
        <p:nvSpPr>
          <p:cNvPr id="22" name="Shape 20"/>
          <p:cNvSpPr/>
          <p:nvPr/>
        </p:nvSpPr>
        <p:spPr>
          <a:xfrm>
            <a:off x="457200" y="3200400"/>
            <a:ext cx="2606040" cy="45720"/>
          </a:xfrm>
          <a:prstGeom prst="rect">
            <a:avLst/>
          </a:prstGeom>
          <a:solidFill>
            <a:srgbClr val="22C988"/>
          </a:solidFill>
          <a:ln/>
        </p:spPr>
        <p:txBody>
          <a:bodyPr/>
          <a:lstStyle/>
          <a:p>
            <a:endParaRPr lang="en-IN"/>
          </a:p>
        </p:txBody>
      </p:sp>
      <p:sp>
        <p:nvSpPr>
          <p:cNvPr id="23" name="Text 21"/>
          <p:cNvSpPr/>
          <p:nvPr/>
        </p:nvSpPr>
        <p:spPr>
          <a:xfrm>
            <a:off x="566928" y="3337560"/>
            <a:ext cx="457200" cy="36576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24" name="Text 22"/>
          <p:cNvSpPr/>
          <p:nvPr/>
        </p:nvSpPr>
        <p:spPr>
          <a:xfrm>
            <a:off x="1005840" y="3337560"/>
            <a:ext cx="19202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Check-In</a:t>
            </a:r>
            <a:endParaRPr lang="en-US" sz="1300" dirty="0"/>
          </a:p>
        </p:txBody>
      </p:sp>
      <p:sp>
        <p:nvSpPr>
          <p:cNvPr id="25" name="Text 23"/>
          <p:cNvSpPr/>
          <p:nvPr/>
        </p:nvSpPr>
        <p:spPr>
          <a:xfrm>
            <a:off x="566928" y="3749040"/>
            <a:ext cx="2377440" cy="594360"/>
          </a:xfrm>
          <a:prstGeom prst="rect">
            <a:avLst/>
          </a:prstGeom>
          <a:noFill/>
          <a:ln/>
        </p:spPr>
        <p:txBody>
          <a:bodyPr wrap="square" lIns="0" tIns="0" rIns="0" bIns="0" rtlCol="0" anchor="t"/>
          <a:lstStyle/>
          <a:p>
            <a:pPr marL="0" indent="0">
              <a:buNone/>
            </a:pPr>
            <a:r>
              <a:rPr lang="en-US" sz="1100" dirty="0">
                <a:solidFill>
                  <a:srgbClr val="A3B8CC"/>
                </a:solidFill>
                <a:latin typeface="Calibri" pitchFamily="34" charset="0"/>
                <a:ea typeface="Calibri" pitchFamily="34" charset="-122"/>
                <a:cs typeface="Calibri" pitchFamily="34" charset="-120"/>
              </a:rPr>
              <a:t>One-click check-in updates room status to Occupied</a:t>
            </a:r>
            <a:endParaRPr lang="en-US" sz="1100" dirty="0"/>
          </a:p>
        </p:txBody>
      </p:sp>
      <p:sp>
        <p:nvSpPr>
          <p:cNvPr id="26" name="Shape 24"/>
          <p:cNvSpPr/>
          <p:nvPr/>
        </p:nvSpPr>
        <p:spPr>
          <a:xfrm>
            <a:off x="3291840" y="3200400"/>
            <a:ext cx="2606040" cy="1234440"/>
          </a:xfrm>
          <a:prstGeom prst="rect">
            <a:avLst/>
          </a:prstGeom>
          <a:solidFill>
            <a:srgbClr val="122240"/>
          </a:solidFill>
          <a:ln/>
          <a:effectLst>
            <a:outerShdw blurRad="101600" dist="38100" dir="8100000" algn="bl" rotWithShape="0">
              <a:srgbClr val="000000">
                <a:alpha val="18000"/>
              </a:srgbClr>
            </a:outerShdw>
          </a:effectLst>
        </p:spPr>
        <p:txBody>
          <a:bodyPr/>
          <a:lstStyle/>
          <a:p>
            <a:endParaRPr lang="en-IN"/>
          </a:p>
        </p:txBody>
      </p:sp>
      <p:sp>
        <p:nvSpPr>
          <p:cNvPr id="27" name="Shape 25"/>
          <p:cNvSpPr/>
          <p:nvPr/>
        </p:nvSpPr>
        <p:spPr>
          <a:xfrm>
            <a:off x="3291840" y="3200400"/>
            <a:ext cx="2606040" cy="45720"/>
          </a:xfrm>
          <a:prstGeom prst="rect">
            <a:avLst/>
          </a:prstGeom>
          <a:solidFill>
            <a:srgbClr val="22C988"/>
          </a:solidFill>
          <a:ln/>
        </p:spPr>
        <p:txBody>
          <a:bodyPr/>
          <a:lstStyle/>
          <a:p>
            <a:endParaRPr lang="en-IN"/>
          </a:p>
        </p:txBody>
      </p:sp>
      <p:sp>
        <p:nvSpPr>
          <p:cNvPr id="28" name="Text 26"/>
          <p:cNvSpPr/>
          <p:nvPr/>
        </p:nvSpPr>
        <p:spPr>
          <a:xfrm>
            <a:off x="3401568" y="3337560"/>
            <a:ext cx="457200" cy="36576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29" name="Text 27"/>
          <p:cNvSpPr/>
          <p:nvPr/>
        </p:nvSpPr>
        <p:spPr>
          <a:xfrm>
            <a:off x="3840480" y="3337560"/>
            <a:ext cx="19202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Maintenance</a:t>
            </a:r>
            <a:endParaRPr lang="en-US" sz="1300" dirty="0"/>
          </a:p>
        </p:txBody>
      </p:sp>
      <p:sp>
        <p:nvSpPr>
          <p:cNvPr id="30" name="Text 28"/>
          <p:cNvSpPr/>
          <p:nvPr/>
        </p:nvSpPr>
        <p:spPr>
          <a:xfrm>
            <a:off x="3401568" y="3749040"/>
            <a:ext cx="2377440" cy="594360"/>
          </a:xfrm>
          <a:prstGeom prst="rect">
            <a:avLst/>
          </a:prstGeom>
          <a:noFill/>
          <a:ln/>
        </p:spPr>
        <p:txBody>
          <a:bodyPr wrap="square" lIns="0" tIns="0" rIns="0" bIns="0" rtlCol="0" anchor="t"/>
          <a:lstStyle/>
          <a:p>
            <a:pPr marL="0" indent="0">
              <a:buNone/>
            </a:pPr>
            <a:r>
              <a:rPr lang="en-US" sz="1100" dirty="0">
                <a:solidFill>
                  <a:srgbClr val="A3B8CC"/>
                </a:solidFill>
                <a:latin typeface="Calibri" pitchFamily="34" charset="0"/>
                <a:ea typeface="Calibri" pitchFamily="34" charset="-122"/>
                <a:cs typeface="Calibri" pitchFamily="34" charset="-120"/>
              </a:rPr>
              <a:t>Submit tickets with room selection and issue description</a:t>
            </a:r>
            <a:endParaRPr lang="en-US" sz="1100" dirty="0"/>
          </a:p>
        </p:txBody>
      </p:sp>
      <p:sp>
        <p:nvSpPr>
          <p:cNvPr id="31" name="Shape 29"/>
          <p:cNvSpPr/>
          <p:nvPr/>
        </p:nvSpPr>
        <p:spPr>
          <a:xfrm>
            <a:off x="6126480" y="3200400"/>
            <a:ext cx="2606040" cy="1234440"/>
          </a:xfrm>
          <a:prstGeom prst="rect">
            <a:avLst/>
          </a:prstGeom>
          <a:solidFill>
            <a:srgbClr val="122240"/>
          </a:solidFill>
          <a:ln/>
          <a:effectLst>
            <a:outerShdw blurRad="101600" dist="38100" dir="8100000" algn="bl" rotWithShape="0">
              <a:srgbClr val="000000">
                <a:alpha val="18000"/>
              </a:srgbClr>
            </a:outerShdw>
          </a:effectLst>
        </p:spPr>
        <p:txBody>
          <a:bodyPr/>
          <a:lstStyle/>
          <a:p>
            <a:endParaRPr lang="en-IN"/>
          </a:p>
        </p:txBody>
      </p:sp>
      <p:sp>
        <p:nvSpPr>
          <p:cNvPr id="32" name="Shape 30"/>
          <p:cNvSpPr/>
          <p:nvPr/>
        </p:nvSpPr>
        <p:spPr>
          <a:xfrm>
            <a:off x="6126480" y="3200400"/>
            <a:ext cx="2606040" cy="45720"/>
          </a:xfrm>
          <a:prstGeom prst="rect">
            <a:avLst/>
          </a:prstGeom>
          <a:solidFill>
            <a:srgbClr val="22C988"/>
          </a:solidFill>
          <a:ln/>
        </p:spPr>
        <p:txBody>
          <a:bodyPr/>
          <a:lstStyle/>
          <a:p>
            <a:endParaRPr lang="en-IN"/>
          </a:p>
        </p:txBody>
      </p:sp>
      <p:sp>
        <p:nvSpPr>
          <p:cNvPr id="33" name="Text 31"/>
          <p:cNvSpPr/>
          <p:nvPr/>
        </p:nvSpPr>
        <p:spPr>
          <a:xfrm>
            <a:off x="6236208" y="3337560"/>
            <a:ext cx="457200" cy="36576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34" name="Text 32"/>
          <p:cNvSpPr/>
          <p:nvPr/>
        </p:nvSpPr>
        <p:spPr>
          <a:xfrm>
            <a:off x="6675120" y="3337560"/>
            <a:ext cx="19202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Ticket Tracking</a:t>
            </a:r>
            <a:endParaRPr lang="en-US" sz="1300" dirty="0"/>
          </a:p>
        </p:txBody>
      </p:sp>
      <p:sp>
        <p:nvSpPr>
          <p:cNvPr id="35" name="Text 33"/>
          <p:cNvSpPr/>
          <p:nvPr/>
        </p:nvSpPr>
        <p:spPr>
          <a:xfrm>
            <a:off x="6236208" y="3749040"/>
            <a:ext cx="2377440" cy="594360"/>
          </a:xfrm>
          <a:prstGeom prst="rect">
            <a:avLst/>
          </a:prstGeom>
          <a:noFill/>
          <a:ln/>
        </p:spPr>
        <p:txBody>
          <a:bodyPr wrap="square" lIns="0" tIns="0" rIns="0" bIns="0" rtlCol="0" anchor="t"/>
          <a:lstStyle/>
          <a:p>
            <a:pPr marL="0" indent="0">
              <a:buNone/>
            </a:pPr>
            <a:r>
              <a:rPr lang="en-US" sz="1100" dirty="0">
                <a:solidFill>
                  <a:srgbClr val="A3B8CC"/>
                </a:solidFill>
                <a:latin typeface="Calibri" pitchFamily="34" charset="0"/>
                <a:ea typeface="Calibri" pitchFamily="34" charset="-122"/>
                <a:cs typeface="Calibri" pitchFamily="34" charset="-120"/>
              </a:rPr>
              <a:t>Status timeline with history: Open &gt; In Progress &gt; Resolved</a:t>
            </a:r>
            <a:endParaRPr lang="en-US" sz="1100" dirty="0"/>
          </a:p>
        </p:txBody>
      </p:sp>
      <p:sp>
        <p:nvSpPr>
          <p:cNvPr id="36" name="Text 34"/>
          <p:cNvSpPr/>
          <p:nvPr/>
        </p:nvSpPr>
        <p:spPr>
          <a:xfrm>
            <a:off x="457200" y="4617720"/>
            <a:ext cx="8229600" cy="274320"/>
          </a:xfrm>
          <a:prstGeom prst="rect">
            <a:avLst/>
          </a:prstGeom>
          <a:noFill/>
          <a:ln/>
        </p:spPr>
        <p:txBody>
          <a:bodyPr wrap="square" rtlCol="0" anchor="ctr"/>
          <a:lstStyle/>
          <a:p>
            <a:pPr marL="0" indent="0" algn="ctr">
              <a:buNone/>
            </a:pPr>
            <a:r>
              <a:rPr lang="en-US" sz="1000" dirty="0">
                <a:solidFill>
                  <a:srgbClr val="5A7A96"/>
                </a:solidFill>
                <a:latin typeface="JetBrains Mono" pitchFamily="34" charset="0"/>
                <a:ea typeface="JetBrains Mono" pitchFamily="34" charset="-122"/>
                <a:cs typeface="JetBrains Mono" pitchFamily="34" charset="-120"/>
              </a:rPr>
              <a:t>Tech Stack:  Python  |  OO Design (BCE)  |  React Web UI  |  SHA-256 Auth  |  In-Memory State</a:t>
            </a:r>
            <a:endParaRPr lang="en-US" sz="1000" dirty="0"/>
          </a:p>
        </p:txBody>
      </p:sp>
      <p:sp>
        <p:nvSpPr>
          <p:cNvPr id="37" name="Text 35"/>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5A7A96"/>
                </a:solidFill>
                <a:latin typeface="JetBrains Mono" pitchFamily="34" charset="0"/>
                <a:ea typeface="JetBrains Mono" pitchFamily="34" charset="-122"/>
                <a:cs typeface="JetBrains Mono" pitchFamily="34" charset="-120"/>
              </a:rPr>
              <a:t>19 / 20</a:t>
            </a:r>
            <a:endParaRPr lang="en-US" sz="900" dirty="0"/>
          </a:p>
        </p:txBody>
      </p:sp>
      <p:sp>
        <p:nvSpPr>
          <p:cNvPr id="38" name="Text 36"/>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998B96C6-0E88-3DDD-124A-959392B41F2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6B20E54-7B09-2E79-FB2A-CE98521B53C6}"/>
              </a:ext>
            </a:extLst>
          </p:cNvPr>
          <p:cNvSpPr/>
          <p:nvPr/>
        </p:nvSpPr>
        <p:spPr>
          <a:xfrm>
            <a:off x="0" y="0"/>
            <a:ext cx="9144000" cy="54864"/>
          </a:xfrm>
          <a:prstGeom prst="rect">
            <a:avLst/>
          </a:prstGeom>
          <a:solidFill>
            <a:srgbClr val="0C7C99"/>
          </a:solidFill>
          <a:ln/>
        </p:spPr>
        <p:txBody>
          <a:bodyPr/>
          <a:lstStyle/>
          <a:p>
            <a:endParaRPr lang="en-IN"/>
          </a:p>
        </p:txBody>
      </p:sp>
      <p:sp>
        <p:nvSpPr>
          <p:cNvPr id="3" name="Text 1">
            <a:extLst>
              <a:ext uri="{FF2B5EF4-FFF2-40B4-BE49-F238E27FC236}">
                <a16:creationId xmlns:a16="http://schemas.microsoft.com/office/drawing/2014/main" id="{C914A497-E352-C041-6A3D-0CB56B448FB9}"/>
              </a:ext>
            </a:extLst>
          </p:cNvPr>
          <p:cNvSpPr/>
          <p:nvPr/>
        </p:nvSpPr>
        <p:spPr>
          <a:xfrm>
            <a:off x="457200" y="274320"/>
            <a:ext cx="2743200" cy="274320"/>
          </a:xfrm>
          <a:prstGeom prst="rect">
            <a:avLst/>
          </a:prstGeom>
          <a:noFill/>
          <a:ln/>
        </p:spPr>
        <p:txBody>
          <a:bodyPr wrap="square" lIns="0" tIns="0" rIns="0" bIns="0" rtlCol="0" anchor="ctr"/>
          <a:lstStyle/>
          <a:p>
            <a:pPr marL="0" indent="0">
              <a:buNone/>
            </a:pPr>
            <a:endParaRPr lang="en-US" sz="1000" dirty="0"/>
          </a:p>
        </p:txBody>
      </p:sp>
      <p:sp>
        <p:nvSpPr>
          <p:cNvPr id="4" name="Text 2">
            <a:extLst>
              <a:ext uri="{FF2B5EF4-FFF2-40B4-BE49-F238E27FC236}">
                <a16:creationId xmlns:a16="http://schemas.microsoft.com/office/drawing/2014/main" id="{4F615F50-F6BA-CEDB-17A5-CF74DEE913F7}"/>
              </a:ext>
            </a:extLst>
          </p:cNvPr>
          <p:cNvSpPr/>
          <p:nvPr/>
        </p:nvSpPr>
        <p:spPr>
          <a:xfrm>
            <a:off x="457200" y="145335"/>
            <a:ext cx="8229600" cy="4655265"/>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Working Application</a:t>
            </a:r>
          </a:p>
          <a:p>
            <a:pPr marL="0" indent="0">
              <a:buNone/>
            </a:pPr>
            <a:endParaRPr lang="en-US" sz="2800" b="1" dirty="0">
              <a:solidFill>
                <a:srgbClr val="FFFFFF"/>
              </a:solidFill>
              <a:latin typeface="Cambria" pitchFamily="34" charset="0"/>
              <a:ea typeface="Cambria" pitchFamily="34" charset="-122"/>
              <a:cs typeface="Cambria" pitchFamily="34" charset="-120"/>
            </a:endParaRPr>
          </a:p>
          <a:p>
            <a:pPr algn="just"/>
            <a:r>
              <a:rPr lang="en-US" sz="2000" dirty="0">
                <a:solidFill>
                  <a:schemeClr val="bg1"/>
                </a:solidFill>
              </a:rPr>
              <a:t>The Smart Campus Facility Management System is a Python-based working application that helps students manage campus room bookings and maintenance requests through a simple console interface. Users can log in with their credentials, search available rooms by date, time, and capacity, and confirm bookings instantly. The system also supports booking cancellation, room check-in, and simulated notifications for important actions. In addition, students can submit maintenance tickets for rooms or facilities and track their status updates over time. The application follows an object-oriented design using Boundary, Control, and Entity classes, making the system modular, organized, and easy to extend.</a:t>
            </a:r>
            <a:endParaRPr lang="en-IN" sz="2000" dirty="0">
              <a:solidFill>
                <a:schemeClr val="bg1"/>
              </a:solidFill>
            </a:endParaRPr>
          </a:p>
          <a:p>
            <a:pPr marL="0" indent="0">
              <a:buNone/>
            </a:pPr>
            <a:endParaRPr lang="en-US" sz="2800" dirty="0"/>
          </a:p>
        </p:txBody>
      </p:sp>
      <p:sp>
        <p:nvSpPr>
          <p:cNvPr id="5" name="Text 3">
            <a:extLst>
              <a:ext uri="{FF2B5EF4-FFF2-40B4-BE49-F238E27FC236}">
                <a16:creationId xmlns:a16="http://schemas.microsoft.com/office/drawing/2014/main" id="{333E6856-38C8-5A03-BA0B-4B5FACB5EB4F}"/>
              </a:ext>
            </a:extLst>
          </p:cNvPr>
          <p:cNvSpPr/>
          <p:nvPr/>
        </p:nvSpPr>
        <p:spPr>
          <a:xfrm>
            <a:off x="457200" y="1143000"/>
            <a:ext cx="5029200" cy="2286000"/>
          </a:xfrm>
          <a:prstGeom prst="rect">
            <a:avLst/>
          </a:prstGeom>
          <a:noFill/>
          <a:ln/>
        </p:spPr>
        <p:txBody>
          <a:bodyPr wrap="square" rtlCol="0" anchor="t"/>
          <a:lstStyle/>
          <a:p>
            <a:pPr marL="0" indent="0">
              <a:buNone/>
            </a:pPr>
            <a:endParaRPr lang="en-US" sz="1400" dirty="0"/>
          </a:p>
        </p:txBody>
      </p:sp>
      <p:sp>
        <p:nvSpPr>
          <p:cNvPr id="9" name="Text 6">
            <a:extLst>
              <a:ext uri="{FF2B5EF4-FFF2-40B4-BE49-F238E27FC236}">
                <a16:creationId xmlns:a16="http://schemas.microsoft.com/office/drawing/2014/main" id="{CF4BCA77-B93D-24BF-6928-7E154AD67AB5}"/>
              </a:ext>
            </a:extLst>
          </p:cNvPr>
          <p:cNvSpPr/>
          <p:nvPr/>
        </p:nvSpPr>
        <p:spPr>
          <a:xfrm>
            <a:off x="59436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0" name="Text 7">
            <a:extLst>
              <a:ext uri="{FF2B5EF4-FFF2-40B4-BE49-F238E27FC236}">
                <a16:creationId xmlns:a16="http://schemas.microsoft.com/office/drawing/2014/main" id="{F4E03C90-E8C0-2B93-C7DF-ABC00A733232}"/>
              </a:ext>
            </a:extLst>
          </p:cNvPr>
          <p:cNvSpPr/>
          <p:nvPr/>
        </p:nvSpPr>
        <p:spPr>
          <a:xfrm>
            <a:off x="59436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13" name="Text 10">
            <a:extLst>
              <a:ext uri="{FF2B5EF4-FFF2-40B4-BE49-F238E27FC236}">
                <a16:creationId xmlns:a16="http://schemas.microsoft.com/office/drawing/2014/main" id="{C3C9159B-800B-4156-CA7E-6486CFF6E0C5}"/>
              </a:ext>
            </a:extLst>
          </p:cNvPr>
          <p:cNvSpPr/>
          <p:nvPr/>
        </p:nvSpPr>
        <p:spPr>
          <a:xfrm>
            <a:off x="269748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4" name="Text 11">
            <a:extLst>
              <a:ext uri="{FF2B5EF4-FFF2-40B4-BE49-F238E27FC236}">
                <a16:creationId xmlns:a16="http://schemas.microsoft.com/office/drawing/2014/main" id="{230B634A-9716-D517-55B5-6DB50AE82CAB}"/>
              </a:ext>
            </a:extLst>
          </p:cNvPr>
          <p:cNvSpPr/>
          <p:nvPr/>
        </p:nvSpPr>
        <p:spPr>
          <a:xfrm>
            <a:off x="269748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17" name="Text 14">
            <a:extLst>
              <a:ext uri="{FF2B5EF4-FFF2-40B4-BE49-F238E27FC236}">
                <a16:creationId xmlns:a16="http://schemas.microsoft.com/office/drawing/2014/main" id="{E91239A9-F01F-2A90-A4A6-8242A3AC71E2}"/>
              </a:ext>
            </a:extLst>
          </p:cNvPr>
          <p:cNvSpPr/>
          <p:nvPr/>
        </p:nvSpPr>
        <p:spPr>
          <a:xfrm>
            <a:off x="480060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8" name="Text 15">
            <a:extLst>
              <a:ext uri="{FF2B5EF4-FFF2-40B4-BE49-F238E27FC236}">
                <a16:creationId xmlns:a16="http://schemas.microsoft.com/office/drawing/2014/main" id="{FB813A6F-4724-7BA5-A2E5-27476DBC8416}"/>
              </a:ext>
            </a:extLst>
          </p:cNvPr>
          <p:cNvSpPr/>
          <p:nvPr/>
        </p:nvSpPr>
        <p:spPr>
          <a:xfrm>
            <a:off x="480060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21" name="Text 18">
            <a:extLst>
              <a:ext uri="{FF2B5EF4-FFF2-40B4-BE49-F238E27FC236}">
                <a16:creationId xmlns:a16="http://schemas.microsoft.com/office/drawing/2014/main" id="{1DBF1005-D09A-0258-D7FD-C120C12137EC}"/>
              </a:ext>
            </a:extLst>
          </p:cNvPr>
          <p:cNvSpPr/>
          <p:nvPr/>
        </p:nvSpPr>
        <p:spPr>
          <a:xfrm>
            <a:off x="690372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22" name="Text 19">
            <a:extLst>
              <a:ext uri="{FF2B5EF4-FFF2-40B4-BE49-F238E27FC236}">
                <a16:creationId xmlns:a16="http://schemas.microsoft.com/office/drawing/2014/main" id="{5A6BEE5C-05EE-CCBF-067A-D256943EEDE7}"/>
              </a:ext>
            </a:extLst>
          </p:cNvPr>
          <p:cNvSpPr/>
          <p:nvPr/>
        </p:nvSpPr>
        <p:spPr>
          <a:xfrm>
            <a:off x="690372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23" name="Text 20">
            <a:extLst>
              <a:ext uri="{FF2B5EF4-FFF2-40B4-BE49-F238E27FC236}">
                <a16:creationId xmlns:a16="http://schemas.microsoft.com/office/drawing/2014/main" id="{27B9BA19-8DB8-1B7C-7FAA-A33D8B6AFA6F}"/>
              </a:ext>
            </a:extLst>
          </p:cNvPr>
          <p:cNvSpPr/>
          <p:nvPr/>
        </p:nvSpPr>
        <p:spPr>
          <a:xfrm>
            <a:off x="8046720" y="4800600"/>
            <a:ext cx="914400" cy="274320"/>
          </a:xfrm>
          <a:prstGeom prst="rect">
            <a:avLst/>
          </a:prstGeom>
          <a:noFill/>
          <a:ln/>
        </p:spPr>
        <p:txBody>
          <a:bodyPr wrap="square" rtlCol="0" anchor="ctr"/>
          <a:lstStyle/>
          <a:p>
            <a:pPr marL="0" indent="0" algn="r">
              <a:buNone/>
            </a:pPr>
            <a:endParaRPr lang="en-US" sz="900" dirty="0"/>
          </a:p>
        </p:txBody>
      </p:sp>
      <p:sp>
        <p:nvSpPr>
          <p:cNvPr id="24" name="Text 21">
            <a:extLst>
              <a:ext uri="{FF2B5EF4-FFF2-40B4-BE49-F238E27FC236}">
                <a16:creationId xmlns:a16="http://schemas.microsoft.com/office/drawing/2014/main" id="{CF1C3853-6FB8-4F80-D5E9-396C509BC964}"/>
              </a:ext>
            </a:extLst>
          </p:cNvPr>
          <p:cNvSpPr/>
          <p:nvPr/>
        </p:nvSpPr>
        <p:spPr>
          <a:xfrm>
            <a:off x="457200" y="4800600"/>
            <a:ext cx="2286000" cy="274320"/>
          </a:xfrm>
          <a:prstGeom prst="rect">
            <a:avLst/>
          </a:prstGeom>
          <a:noFill/>
          <a:ln/>
        </p:spPr>
        <p:txBody>
          <a:bodyPr wrap="square" rtlCol="0" anchor="ctr"/>
          <a:lstStyle/>
          <a:p>
            <a:pPr marL="0" indent="0" algn="l">
              <a:buNone/>
            </a:pPr>
            <a:r>
              <a:rPr lang="en-US" sz="900" dirty="0">
                <a:solidFill>
                  <a:srgbClr val="5A7A96"/>
                </a:solidFill>
                <a:latin typeface="Calibri" pitchFamily="34" charset="0"/>
                <a:ea typeface="Calibri" pitchFamily="34" charset="-122"/>
                <a:cs typeface="Calibri" pitchFamily="34" charset="-120"/>
              </a:rPr>
              <a:t>SCFMS | Group 24</a:t>
            </a:r>
            <a:endParaRPr lang="en-US" sz="900" dirty="0"/>
          </a:p>
        </p:txBody>
      </p:sp>
    </p:spTree>
    <p:extLst>
      <p:ext uri="{BB962C8B-B14F-4D97-AF65-F5344CB8AC3E}">
        <p14:creationId xmlns:p14="http://schemas.microsoft.com/office/powerpoint/2010/main" val="3357005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17BC6732-3C18-2893-7D64-670715B878D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7112625-D5D8-BC92-607E-471C52B7EA83}"/>
              </a:ext>
            </a:extLst>
          </p:cNvPr>
          <p:cNvSpPr/>
          <p:nvPr/>
        </p:nvSpPr>
        <p:spPr>
          <a:xfrm>
            <a:off x="0" y="0"/>
            <a:ext cx="9144000" cy="54864"/>
          </a:xfrm>
          <a:prstGeom prst="rect">
            <a:avLst/>
          </a:prstGeom>
          <a:solidFill>
            <a:srgbClr val="0C7C99"/>
          </a:solidFill>
          <a:ln/>
        </p:spPr>
        <p:txBody>
          <a:bodyPr/>
          <a:lstStyle/>
          <a:p>
            <a:endParaRPr lang="en-IN"/>
          </a:p>
        </p:txBody>
      </p:sp>
      <p:sp>
        <p:nvSpPr>
          <p:cNvPr id="3" name="Text 1">
            <a:extLst>
              <a:ext uri="{FF2B5EF4-FFF2-40B4-BE49-F238E27FC236}">
                <a16:creationId xmlns:a16="http://schemas.microsoft.com/office/drawing/2014/main" id="{5B78DF23-6616-B393-7061-0714A9782CC3}"/>
              </a:ext>
            </a:extLst>
          </p:cNvPr>
          <p:cNvSpPr/>
          <p:nvPr/>
        </p:nvSpPr>
        <p:spPr>
          <a:xfrm>
            <a:off x="457200" y="274320"/>
            <a:ext cx="2743200" cy="274320"/>
          </a:xfrm>
          <a:prstGeom prst="rect">
            <a:avLst/>
          </a:prstGeom>
          <a:noFill/>
          <a:ln/>
        </p:spPr>
        <p:txBody>
          <a:bodyPr wrap="square" lIns="0" tIns="0" rIns="0" bIns="0" rtlCol="0" anchor="ctr"/>
          <a:lstStyle/>
          <a:p>
            <a:pPr marL="0" indent="0">
              <a:buNone/>
            </a:pPr>
            <a:endParaRPr lang="en-US" sz="1000" dirty="0"/>
          </a:p>
        </p:txBody>
      </p:sp>
      <p:sp>
        <p:nvSpPr>
          <p:cNvPr id="4" name="Text 2">
            <a:extLst>
              <a:ext uri="{FF2B5EF4-FFF2-40B4-BE49-F238E27FC236}">
                <a16:creationId xmlns:a16="http://schemas.microsoft.com/office/drawing/2014/main" id="{13835142-12AF-3029-FBDB-A5522E0EAA2B}"/>
              </a:ext>
            </a:extLst>
          </p:cNvPr>
          <p:cNvSpPr/>
          <p:nvPr/>
        </p:nvSpPr>
        <p:spPr>
          <a:xfrm>
            <a:off x="457200" y="123443"/>
            <a:ext cx="8229600" cy="5247900"/>
          </a:xfrm>
          <a:prstGeom prst="rect">
            <a:avLst/>
          </a:prstGeom>
          <a:noFill/>
          <a:ln/>
        </p:spPr>
        <p:txBody>
          <a:bodyPr wrap="square" lIns="0" tIns="0" rIns="0" bIns="0" rtlCol="0" anchor="ctr"/>
          <a:lstStyle/>
          <a:p>
            <a:pPr marL="0" indent="0" algn="just">
              <a:buNone/>
            </a:pPr>
            <a:r>
              <a:rPr lang="en-US" sz="2800" b="1" dirty="0">
                <a:solidFill>
                  <a:schemeClr val="bg1"/>
                </a:solidFill>
                <a:latin typeface="Cambria" pitchFamily="34" charset="0"/>
                <a:ea typeface="Cambria" pitchFamily="34" charset="-122"/>
                <a:cs typeface="Cambria" pitchFamily="34" charset="-120"/>
              </a:rPr>
              <a:t>Architectural Diagram</a:t>
            </a:r>
          </a:p>
          <a:p>
            <a:pPr marL="0" indent="0" algn="just">
              <a:buNone/>
            </a:pPr>
            <a:endParaRPr lang="en-US" sz="2800" b="1" dirty="0">
              <a:solidFill>
                <a:schemeClr val="bg1"/>
              </a:solidFill>
              <a:latin typeface="Cambria" pitchFamily="34" charset="0"/>
              <a:ea typeface="Cambria" pitchFamily="34" charset="-122"/>
              <a:cs typeface="Cambria" pitchFamily="34" charset="-120"/>
            </a:endParaRPr>
          </a:p>
          <a:p>
            <a:pPr algn="just"/>
            <a:r>
              <a:rPr lang="en-US" sz="1400" b="1" dirty="0">
                <a:solidFill>
                  <a:schemeClr val="bg1"/>
                </a:solidFill>
              </a:rPr>
              <a:t>The Smart Campus Facility Management System follows a layered object-oriented architecture for handling room booking and maintenance workflows.</a:t>
            </a:r>
          </a:p>
          <a:p>
            <a:pPr algn="just"/>
            <a:endParaRPr lang="en-US" sz="1400" dirty="0">
              <a:solidFill>
                <a:schemeClr val="bg1"/>
              </a:solidFill>
            </a:endParaRPr>
          </a:p>
          <a:p>
            <a:pPr algn="just"/>
            <a:r>
              <a:rPr lang="en-US" sz="1400" b="1" dirty="0">
                <a:solidFill>
                  <a:schemeClr val="bg1"/>
                </a:solidFill>
              </a:rPr>
              <a:t>The application is developed in Python and is structured using the Boundary–Control–Entity design pattern. The Boundary layer manages user interaction, the Control layer handles business logic, and the Entity layer stores core system data such as students, rooms, bookings, tickets, and notifications.</a:t>
            </a:r>
          </a:p>
          <a:p>
            <a:pPr algn="just"/>
            <a:endParaRPr lang="en-US" sz="1400" dirty="0">
              <a:solidFill>
                <a:schemeClr val="bg1"/>
              </a:solidFill>
            </a:endParaRPr>
          </a:p>
          <a:p>
            <a:pPr algn="just"/>
            <a:r>
              <a:rPr lang="en-US" sz="1400" b="1" dirty="0">
                <a:solidFill>
                  <a:schemeClr val="bg1"/>
                </a:solidFill>
              </a:rPr>
              <a:t>The system provides a console-based interface where users can log in, search room availability, book rooms, cancel reservations, check in, and submit maintenance tickets through menu-driven operations.</a:t>
            </a:r>
          </a:p>
          <a:p>
            <a:pPr algn="just"/>
            <a:endParaRPr lang="en-US" sz="1400" dirty="0">
              <a:solidFill>
                <a:schemeClr val="bg1"/>
              </a:solidFill>
            </a:endParaRPr>
          </a:p>
          <a:p>
            <a:pPr algn="just"/>
            <a:r>
              <a:rPr lang="en-US" sz="1400" b="1" dirty="0">
                <a:solidFill>
                  <a:schemeClr val="bg1"/>
                </a:solidFill>
              </a:rPr>
              <a:t>The Control layer coordinates all major processes, including authentication, room search, booking validation, slot reservation, ticket creation, status updates, and notification generation. This ensures clear separation between input handling and application logic.</a:t>
            </a:r>
          </a:p>
          <a:p>
            <a:pPr algn="just"/>
            <a:endParaRPr lang="en-US" sz="1400" dirty="0">
              <a:solidFill>
                <a:schemeClr val="bg1"/>
              </a:solidFill>
            </a:endParaRPr>
          </a:p>
          <a:p>
            <a:pPr algn="just"/>
            <a:r>
              <a:rPr lang="en-US" sz="1400" b="1" dirty="0">
                <a:solidFill>
                  <a:schemeClr val="bg1"/>
                </a:solidFill>
              </a:rPr>
              <a:t>The Entity layer represents the main system objects such as Student, Room, Booking, </a:t>
            </a:r>
            <a:r>
              <a:rPr lang="en-US" sz="1400" b="1" dirty="0" err="1">
                <a:solidFill>
                  <a:schemeClr val="bg1"/>
                </a:solidFill>
              </a:rPr>
              <a:t>MaintenanceTicket</a:t>
            </a:r>
            <a:r>
              <a:rPr lang="en-US" sz="1400" b="1" dirty="0">
                <a:solidFill>
                  <a:schemeClr val="bg1"/>
                </a:solidFill>
              </a:rPr>
              <a:t>, and Notification. These entities maintain the data required for managing campus facilities and support state transitions like Pending, Confirmed, Checked-In, Cancelled, and Completed.</a:t>
            </a:r>
          </a:p>
          <a:p>
            <a:pPr algn="just"/>
            <a:endParaRPr lang="en-US" sz="1400" dirty="0">
              <a:solidFill>
                <a:schemeClr val="bg1"/>
              </a:solidFill>
            </a:endParaRPr>
          </a:p>
          <a:p>
            <a:pPr algn="just"/>
            <a:r>
              <a:rPr lang="en-US" sz="1400" b="1" dirty="0">
                <a:solidFill>
                  <a:schemeClr val="bg1"/>
                </a:solidFill>
              </a:rPr>
              <a:t>The application is designed as a modular standalone system, making it easy to test, extend, and upgrade into a GUI or web-based campus management platform in the future.</a:t>
            </a:r>
            <a:endParaRPr lang="en-US" sz="1400" dirty="0">
              <a:solidFill>
                <a:schemeClr val="bg1"/>
              </a:solidFill>
            </a:endParaRPr>
          </a:p>
          <a:p>
            <a:pPr marL="0" indent="0" algn="just">
              <a:buNone/>
            </a:pPr>
            <a:endParaRPr lang="en-US" sz="2800" dirty="0">
              <a:solidFill>
                <a:schemeClr val="bg1"/>
              </a:solidFill>
            </a:endParaRPr>
          </a:p>
        </p:txBody>
      </p:sp>
      <p:sp>
        <p:nvSpPr>
          <p:cNvPr id="5" name="Text 3">
            <a:extLst>
              <a:ext uri="{FF2B5EF4-FFF2-40B4-BE49-F238E27FC236}">
                <a16:creationId xmlns:a16="http://schemas.microsoft.com/office/drawing/2014/main" id="{42A89B30-B9E0-1E56-4EA9-DCA62A6080D3}"/>
              </a:ext>
            </a:extLst>
          </p:cNvPr>
          <p:cNvSpPr/>
          <p:nvPr/>
        </p:nvSpPr>
        <p:spPr>
          <a:xfrm>
            <a:off x="457200" y="1143000"/>
            <a:ext cx="5029200" cy="2286000"/>
          </a:xfrm>
          <a:prstGeom prst="rect">
            <a:avLst/>
          </a:prstGeom>
          <a:noFill/>
          <a:ln/>
        </p:spPr>
        <p:txBody>
          <a:bodyPr wrap="square" rtlCol="0" anchor="t"/>
          <a:lstStyle/>
          <a:p>
            <a:pPr marL="0" indent="0">
              <a:buNone/>
            </a:pPr>
            <a:endParaRPr lang="en-US" sz="1400" dirty="0"/>
          </a:p>
        </p:txBody>
      </p:sp>
      <p:sp>
        <p:nvSpPr>
          <p:cNvPr id="9" name="Text 6">
            <a:extLst>
              <a:ext uri="{FF2B5EF4-FFF2-40B4-BE49-F238E27FC236}">
                <a16:creationId xmlns:a16="http://schemas.microsoft.com/office/drawing/2014/main" id="{786B5A3F-3079-7B21-5DA5-263BD744A3CF}"/>
              </a:ext>
            </a:extLst>
          </p:cNvPr>
          <p:cNvSpPr/>
          <p:nvPr/>
        </p:nvSpPr>
        <p:spPr>
          <a:xfrm>
            <a:off x="59436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0" name="Text 7">
            <a:extLst>
              <a:ext uri="{FF2B5EF4-FFF2-40B4-BE49-F238E27FC236}">
                <a16:creationId xmlns:a16="http://schemas.microsoft.com/office/drawing/2014/main" id="{3B803DD6-0EF8-679E-EBD3-C8854565A506}"/>
              </a:ext>
            </a:extLst>
          </p:cNvPr>
          <p:cNvSpPr/>
          <p:nvPr/>
        </p:nvSpPr>
        <p:spPr>
          <a:xfrm>
            <a:off x="59436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13" name="Text 10">
            <a:extLst>
              <a:ext uri="{FF2B5EF4-FFF2-40B4-BE49-F238E27FC236}">
                <a16:creationId xmlns:a16="http://schemas.microsoft.com/office/drawing/2014/main" id="{3E557553-6F4B-D767-5C1C-5EEE4726CAA7}"/>
              </a:ext>
            </a:extLst>
          </p:cNvPr>
          <p:cNvSpPr/>
          <p:nvPr/>
        </p:nvSpPr>
        <p:spPr>
          <a:xfrm>
            <a:off x="269748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4" name="Text 11">
            <a:extLst>
              <a:ext uri="{FF2B5EF4-FFF2-40B4-BE49-F238E27FC236}">
                <a16:creationId xmlns:a16="http://schemas.microsoft.com/office/drawing/2014/main" id="{CAEB5BD0-E2D2-B25E-77EE-3175C2FCCE4E}"/>
              </a:ext>
            </a:extLst>
          </p:cNvPr>
          <p:cNvSpPr/>
          <p:nvPr/>
        </p:nvSpPr>
        <p:spPr>
          <a:xfrm>
            <a:off x="269748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17" name="Text 14">
            <a:extLst>
              <a:ext uri="{FF2B5EF4-FFF2-40B4-BE49-F238E27FC236}">
                <a16:creationId xmlns:a16="http://schemas.microsoft.com/office/drawing/2014/main" id="{57EC91CF-18DC-5F86-A8C0-C5A46788FDAB}"/>
              </a:ext>
            </a:extLst>
          </p:cNvPr>
          <p:cNvSpPr/>
          <p:nvPr/>
        </p:nvSpPr>
        <p:spPr>
          <a:xfrm>
            <a:off x="480060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8" name="Text 15">
            <a:extLst>
              <a:ext uri="{FF2B5EF4-FFF2-40B4-BE49-F238E27FC236}">
                <a16:creationId xmlns:a16="http://schemas.microsoft.com/office/drawing/2014/main" id="{175A4560-E5C4-948B-C041-9EE6F833000F}"/>
              </a:ext>
            </a:extLst>
          </p:cNvPr>
          <p:cNvSpPr/>
          <p:nvPr/>
        </p:nvSpPr>
        <p:spPr>
          <a:xfrm>
            <a:off x="480060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21" name="Text 18">
            <a:extLst>
              <a:ext uri="{FF2B5EF4-FFF2-40B4-BE49-F238E27FC236}">
                <a16:creationId xmlns:a16="http://schemas.microsoft.com/office/drawing/2014/main" id="{C61CEBB7-A611-DDD7-3C2B-7CB6B9D4990B}"/>
              </a:ext>
            </a:extLst>
          </p:cNvPr>
          <p:cNvSpPr/>
          <p:nvPr/>
        </p:nvSpPr>
        <p:spPr>
          <a:xfrm>
            <a:off x="690372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22" name="Text 19">
            <a:extLst>
              <a:ext uri="{FF2B5EF4-FFF2-40B4-BE49-F238E27FC236}">
                <a16:creationId xmlns:a16="http://schemas.microsoft.com/office/drawing/2014/main" id="{B0924DA7-EF10-A057-5D95-87F6893FB698}"/>
              </a:ext>
            </a:extLst>
          </p:cNvPr>
          <p:cNvSpPr/>
          <p:nvPr/>
        </p:nvSpPr>
        <p:spPr>
          <a:xfrm>
            <a:off x="690372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23" name="Text 20">
            <a:extLst>
              <a:ext uri="{FF2B5EF4-FFF2-40B4-BE49-F238E27FC236}">
                <a16:creationId xmlns:a16="http://schemas.microsoft.com/office/drawing/2014/main" id="{1320CBB0-9CB1-46D8-7F52-EC3CE9FC5FD2}"/>
              </a:ext>
            </a:extLst>
          </p:cNvPr>
          <p:cNvSpPr/>
          <p:nvPr/>
        </p:nvSpPr>
        <p:spPr>
          <a:xfrm>
            <a:off x="8046720" y="4800600"/>
            <a:ext cx="914400" cy="274320"/>
          </a:xfrm>
          <a:prstGeom prst="rect">
            <a:avLst/>
          </a:prstGeom>
          <a:noFill/>
          <a:ln/>
        </p:spPr>
        <p:txBody>
          <a:bodyPr wrap="square" rtlCol="0" anchor="ctr"/>
          <a:lstStyle/>
          <a:p>
            <a:pPr marL="0" indent="0" algn="r">
              <a:buNone/>
            </a:pPr>
            <a:endParaRPr lang="en-US" sz="900" dirty="0"/>
          </a:p>
        </p:txBody>
      </p:sp>
      <p:sp>
        <p:nvSpPr>
          <p:cNvPr id="24" name="Text 21">
            <a:extLst>
              <a:ext uri="{FF2B5EF4-FFF2-40B4-BE49-F238E27FC236}">
                <a16:creationId xmlns:a16="http://schemas.microsoft.com/office/drawing/2014/main" id="{682081A9-00C6-1571-536A-53EF66D3D193}"/>
              </a:ext>
            </a:extLst>
          </p:cNvPr>
          <p:cNvSpPr/>
          <p:nvPr/>
        </p:nvSpPr>
        <p:spPr>
          <a:xfrm>
            <a:off x="457200" y="4800600"/>
            <a:ext cx="2286000" cy="274320"/>
          </a:xfrm>
          <a:prstGeom prst="rect">
            <a:avLst/>
          </a:prstGeom>
          <a:noFill/>
          <a:ln/>
        </p:spPr>
        <p:txBody>
          <a:bodyPr wrap="square" rtlCol="0" anchor="ctr"/>
          <a:lstStyle/>
          <a:p>
            <a:pPr marL="0" indent="0" algn="l">
              <a:buNone/>
            </a:pPr>
            <a:endParaRPr lang="en-US" sz="900" dirty="0"/>
          </a:p>
        </p:txBody>
      </p:sp>
    </p:spTree>
    <p:extLst>
      <p:ext uri="{BB962C8B-B14F-4D97-AF65-F5344CB8AC3E}">
        <p14:creationId xmlns:p14="http://schemas.microsoft.com/office/powerpoint/2010/main" val="2579382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1AAF6B16-E391-6E18-7E56-DD255059395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00AD80F-C939-3586-6F9D-77DE21F0C367}"/>
              </a:ext>
            </a:extLst>
          </p:cNvPr>
          <p:cNvSpPr/>
          <p:nvPr/>
        </p:nvSpPr>
        <p:spPr>
          <a:xfrm>
            <a:off x="0" y="0"/>
            <a:ext cx="9144000" cy="54864"/>
          </a:xfrm>
          <a:prstGeom prst="rect">
            <a:avLst/>
          </a:prstGeom>
          <a:solidFill>
            <a:srgbClr val="0C7C99"/>
          </a:solidFill>
          <a:ln/>
        </p:spPr>
        <p:txBody>
          <a:bodyPr/>
          <a:lstStyle/>
          <a:p>
            <a:endParaRPr lang="en-IN"/>
          </a:p>
        </p:txBody>
      </p:sp>
      <p:sp>
        <p:nvSpPr>
          <p:cNvPr id="3" name="Text 1">
            <a:extLst>
              <a:ext uri="{FF2B5EF4-FFF2-40B4-BE49-F238E27FC236}">
                <a16:creationId xmlns:a16="http://schemas.microsoft.com/office/drawing/2014/main" id="{263D7AC0-6CB0-E70C-3723-A691BC84F62D}"/>
              </a:ext>
            </a:extLst>
          </p:cNvPr>
          <p:cNvSpPr/>
          <p:nvPr/>
        </p:nvSpPr>
        <p:spPr>
          <a:xfrm>
            <a:off x="457200" y="274320"/>
            <a:ext cx="2743200" cy="274320"/>
          </a:xfrm>
          <a:prstGeom prst="rect">
            <a:avLst/>
          </a:prstGeom>
          <a:noFill/>
          <a:ln/>
        </p:spPr>
        <p:txBody>
          <a:bodyPr wrap="square" lIns="0" tIns="0" rIns="0" bIns="0" rtlCol="0" anchor="ctr"/>
          <a:lstStyle/>
          <a:p>
            <a:pPr marL="0" indent="0">
              <a:buNone/>
            </a:pPr>
            <a:endParaRPr lang="en-US" sz="1000" dirty="0"/>
          </a:p>
        </p:txBody>
      </p:sp>
      <p:sp>
        <p:nvSpPr>
          <p:cNvPr id="4" name="Text 2">
            <a:extLst>
              <a:ext uri="{FF2B5EF4-FFF2-40B4-BE49-F238E27FC236}">
                <a16:creationId xmlns:a16="http://schemas.microsoft.com/office/drawing/2014/main" id="{D7AF63D0-3362-A771-F670-11843345282A}"/>
              </a:ext>
            </a:extLst>
          </p:cNvPr>
          <p:cNvSpPr/>
          <p:nvPr/>
        </p:nvSpPr>
        <p:spPr>
          <a:xfrm>
            <a:off x="457200" y="123443"/>
            <a:ext cx="8229600" cy="5247900"/>
          </a:xfrm>
          <a:prstGeom prst="rect">
            <a:avLst/>
          </a:prstGeom>
          <a:noFill/>
          <a:ln/>
        </p:spPr>
        <p:txBody>
          <a:bodyPr wrap="square" lIns="0" tIns="0" rIns="0" bIns="0" rtlCol="0" anchor="ctr"/>
          <a:lstStyle/>
          <a:p>
            <a:pPr marL="0" indent="0" algn="just">
              <a:buNone/>
            </a:pPr>
            <a:endParaRPr lang="en-US" sz="2800" dirty="0">
              <a:solidFill>
                <a:schemeClr val="bg1"/>
              </a:solidFill>
            </a:endParaRPr>
          </a:p>
        </p:txBody>
      </p:sp>
      <p:sp>
        <p:nvSpPr>
          <p:cNvPr id="5" name="Text 3">
            <a:extLst>
              <a:ext uri="{FF2B5EF4-FFF2-40B4-BE49-F238E27FC236}">
                <a16:creationId xmlns:a16="http://schemas.microsoft.com/office/drawing/2014/main" id="{B542BDA7-BFB2-F073-2DAF-95D09CD7AD42}"/>
              </a:ext>
            </a:extLst>
          </p:cNvPr>
          <p:cNvSpPr/>
          <p:nvPr/>
        </p:nvSpPr>
        <p:spPr>
          <a:xfrm>
            <a:off x="457200" y="1143000"/>
            <a:ext cx="5029200" cy="2286000"/>
          </a:xfrm>
          <a:prstGeom prst="rect">
            <a:avLst/>
          </a:prstGeom>
          <a:noFill/>
          <a:ln/>
        </p:spPr>
        <p:txBody>
          <a:bodyPr wrap="square" rtlCol="0" anchor="t"/>
          <a:lstStyle/>
          <a:p>
            <a:pPr marL="0" indent="0">
              <a:buNone/>
            </a:pPr>
            <a:endParaRPr lang="en-US" sz="1400" dirty="0"/>
          </a:p>
        </p:txBody>
      </p:sp>
      <p:sp>
        <p:nvSpPr>
          <p:cNvPr id="9" name="Text 6">
            <a:extLst>
              <a:ext uri="{FF2B5EF4-FFF2-40B4-BE49-F238E27FC236}">
                <a16:creationId xmlns:a16="http://schemas.microsoft.com/office/drawing/2014/main" id="{5BAD1ED6-3BC8-3914-1E20-FB8C057D46D3}"/>
              </a:ext>
            </a:extLst>
          </p:cNvPr>
          <p:cNvSpPr/>
          <p:nvPr/>
        </p:nvSpPr>
        <p:spPr>
          <a:xfrm>
            <a:off x="59436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0" name="Text 7">
            <a:extLst>
              <a:ext uri="{FF2B5EF4-FFF2-40B4-BE49-F238E27FC236}">
                <a16:creationId xmlns:a16="http://schemas.microsoft.com/office/drawing/2014/main" id="{B7CF32AB-EDC7-0EB0-20B7-E69CAA49B871}"/>
              </a:ext>
            </a:extLst>
          </p:cNvPr>
          <p:cNvSpPr/>
          <p:nvPr/>
        </p:nvSpPr>
        <p:spPr>
          <a:xfrm>
            <a:off x="59436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13" name="Text 10">
            <a:extLst>
              <a:ext uri="{FF2B5EF4-FFF2-40B4-BE49-F238E27FC236}">
                <a16:creationId xmlns:a16="http://schemas.microsoft.com/office/drawing/2014/main" id="{FDB94FEF-1DF7-8D88-A81D-F2A4B256BED7}"/>
              </a:ext>
            </a:extLst>
          </p:cNvPr>
          <p:cNvSpPr/>
          <p:nvPr/>
        </p:nvSpPr>
        <p:spPr>
          <a:xfrm>
            <a:off x="269748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4" name="Text 11">
            <a:extLst>
              <a:ext uri="{FF2B5EF4-FFF2-40B4-BE49-F238E27FC236}">
                <a16:creationId xmlns:a16="http://schemas.microsoft.com/office/drawing/2014/main" id="{D83303D6-A7CF-AB9B-BFE7-4F978CF7AF42}"/>
              </a:ext>
            </a:extLst>
          </p:cNvPr>
          <p:cNvSpPr/>
          <p:nvPr/>
        </p:nvSpPr>
        <p:spPr>
          <a:xfrm>
            <a:off x="269748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17" name="Text 14">
            <a:extLst>
              <a:ext uri="{FF2B5EF4-FFF2-40B4-BE49-F238E27FC236}">
                <a16:creationId xmlns:a16="http://schemas.microsoft.com/office/drawing/2014/main" id="{CDC1CC48-BA15-C715-D69D-24624165BF93}"/>
              </a:ext>
            </a:extLst>
          </p:cNvPr>
          <p:cNvSpPr/>
          <p:nvPr/>
        </p:nvSpPr>
        <p:spPr>
          <a:xfrm>
            <a:off x="480060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8" name="Text 15">
            <a:extLst>
              <a:ext uri="{FF2B5EF4-FFF2-40B4-BE49-F238E27FC236}">
                <a16:creationId xmlns:a16="http://schemas.microsoft.com/office/drawing/2014/main" id="{6E2DADB3-FDE2-A5D4-2920-EE3E44545502}"/>
              </a:ext>
            </a:extLst>
          </p:cNvPr>
          <p:cNvSpPr/>
          <p:nvPr/>
        </p:nvSpPr>
        <p:spPr>
          <a:xfrm>
            <a:off x="480060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21" name="Text 18">
            <a:extLst>
              <a:ext uri="{FF2B5EF4-FFF2-40B4-BE49-F238E27FC236}">
                <a16:creationId xmlns:a16="http://schemas.microsoft.com/office/drawing/2014/main" id="{BD5A7F3B-CB4A-76A3-4502-98BD906A932E}"/>
              </a:ext>
            </a:extLst>
          </p:cNvPr>
          <p:cNvSpPr/>
          <p:nvPr/>
        </p:nvSpPr>
        <p:spPr>
          <a:xfrm>
            <a:off x="690372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22" name="Text 19">
            <a:extLst>
              <a:ext uri="{FF2B5EF4-FFF2-40B4-BE49-F238E27FC236}">
                <a16:creationId xmlns:a16="http://schemas.microsoft.com/office/drawing/2014/main" id="{0A43A4DA-34B8-79EA-33AC-7B01AB1B5BC2}"/>
              </a:ext>
            </a:extLst>
          </p:cNvPr>
          <p:cNvSpPr/>
          <p:nvPr/>
        </p:nvSpPr>
        <p:spPr>
          <a:xfrm>
            <a:off x="690372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23" name="Text 20">
            <a:extLst>
              <a:ext uri="{FF2B5EF4-FFF2-40B4-BE49-F238E27FC236}">
                <a16:creationId xmlns:a16="http://schemas.microsoft.com/office/drawing/2014/main" id="{94D4872D-D992-56EE-28EC-0CEE546EB147}"/>
              </a:ext>
            </a:extLst>
          </p:cNvPr>
          <p:cNvSpPr/>
          <p:nvPr/>
        </p:nvSpPr>
        <p:spPr>
          <a:xfrm>
            <a:off x="8046720" y="4800600"/>
            <a:ext cx="914400" cy="274320"/>
          </a:xfrm>
          <a:prstGeom prst="rect">
            <a:avLst/>
          </a:prstGeom>
          <a:noFill/>
          <a:ln/>
        </p:spPr>
        <p:txBody>
          <a:bodyPr wrap="square" rtlCol="0" anchor="ctr"/>
          <a:lstStyle/>
          <a:p>
            <a:pPr marL="0" indent="0" algn="r">
              <a:buNone/>
            </a:pPr>
            <a:endParaRPr lang="en-US" sz="900" dirty="0"/>
          </a:p>
        </p:txBody>
      </p:sp>
      <p:sp>
        <p:nvSpPr>
          <p:cNvPr id="24" name="Text 21">
            <a:extLst>
              <a:ext uri="{FF2B5EF4-FFF2-40B4-BE49-F238E27FC236}">
                <a16:creationId xmlns:a16="http://schemas.microsoft.com/office/drawing/2014/main" id="{09B3C05F-D438-4016-A946-959535D8A7FA}"/>
              </a:ext>
            </a:extLst>
          </p:cNvPr>
          <p:cNvSpPr/>
          <p:nvPr/>
        </p:nvSpPr>
        <p:spPr>
          <a:xfrm>
            <a:off x="457200" y="4800600"/>
            <a:ext cx="2286000" cy="274320"/>
          </a:xfrm>
          <a:prstGeom prst="rect">
            <a:avLst/>
          </a:prstGeom>
          <a:noFill/>
          <a:ln/>
        </p:spPr>
        <p:txBody>
          <a:bodyPr wrap="square" rtlCol="0" anchor="ctr"/>
          <a:lstStyle/>
          <a:p>
            <a:pPr marL="0" indent="0" algn="l">
              <a:buNone/>
            </a:pPr>
            <a:endParaRPr lang="en-US" sz="900" dirty="0"/>
          </a:p>
        </p:txBody>
      </p:sp>
      <p:pic>
        <p:nvPicPr>
          <p:cNvPr id="7" name="Picture 6">
            <a:extLst>
              <a:ext uri="{FF2B5EF4-FFF2-40B4-BE49-F238E27FC236}">
                <a16:creationId xmlns:a16="http://schemas.microsoft.com/office/drawing/2014/main" id="{773CF3C5-FAC5-4ABB-AD46-65D5FA9EBEAB}"/>
              </a:ext>
            </a:extLst>
          </p:cNvPr>
          <p:cNvPicPr>
            <a:picLocks noChangeAspect="1"/>
          </p:cNvPicPr>
          <p:nvPr/>
        </p:nvPicPr>
        <p:blipFill>
          <a:blip r:embed="rId3"/>
          <a:stretch>
            <a:fillRect/>
          </a:stretch>
        </p:blipFill>
        <p:spPr>
          <a:xfrm>
            <a:off x="4919545" y="338328"/>
            <a:ext cx="3968349" cy="4599432"/>
          </a:xfrm>
          <a:prstGeom prst="rect">
            <a:avLst/>
          </a:prstGeom>
        </p:spPr>
      </p:pic>
      <p:sp>
        <p:nvSpPr>
          <p:cNvPr id="8" name="Text 2">
            <a:extLst>
              <a:ext uri="{FF2B5EF4-FFF2-40B4-BE49-F238E27FC236}">
                <a16:creationId xmlns:a16="http://schemas.microsoft.com/office/drawing/2014/main" id="{6857A9DD-7B51-EF66-73F7-ADA817C3F2E6}"/>
              </a:ext>
            </a:extLst>
          </p:cNvPr>
          <p:cNvSpPr/>
          <p:nvPr/>
        </p:nvSpPr>
        <p:spPr>
          <a:xfrm>
            <a:off x="360310" y="516636"/>
            <a:ext cx="3206456"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Facility Management Portal</a:t>
            </a:r>
            <a:endParaRPr lang="en-US" sz="2800" dirty="0"/>
          </a:p>
        </p:txBody>
      </p:sp>
    </p:spTree>
    <p:extLst>
      <p:ext uri="{BB962C8B-B14F-4D97-AF65-F5344CB8AC3E}">
        <p14:creationId xmlns:p14="http://schemas.microsoft.com/office/powerpoint/2010/main" val="5086867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5A4CB368-C848-2ABE-A6CA-CB9D2B43BD6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57AC5B7-8663-D3B9-DE00-1E4123EAECB7}"/>
              </a:ext>
            </a:extLst>
          </p:cNvPr>
          <p:cNvSpPr/>
          <p:nvPr/>
        </p:nvSpPr>
        <p:spPr>
          <a:xfrm>
            <a:off x="0" y="0"/>
            <a:ext cx="9144000" cy="54864"/>
          </a:xfrm>
          <a:prstGeom prst="rect">
            <a:avLst/>
          </a:prstGeom>
          <a:solidFill>
            <a:srgbClr val="0C7C99"/>
          </a:solidFill>
          <a:ln/>
        </p:spPr>
        <p:txBody>
          <a:bodyPr/>
          <a:lstStyle/>
          <a:p>
            <a:endParaRPr lang="en-IN"/>
          </a:p>
        </p:txBody>
      </p:sp>
      <p:sp>
        <p:nvSpPr>
          <p:cNvPr id="3" name="Text 1">
            <a:extLst>
              <a:ext uri="{FF2B5EF4-FFF2-40B4-BE49-F238E27FC236}">
                <a16:creationId xmlns:a16="http://schemas.microsoft.com/office/drawing/2014/main" id="{FD4D83D6-2C85-186A-A617-6FB6E539CF20}"/>
              </a:ext>
            </a:extLst>
          </p:cNvPr>
          <p:cNvSpPr/>
          <p:nvPr/>
        </p:nvSpPr>
        <p:spPr>
          <a:xfrm>
            <a:off x="457200" y="274320"/>
            <a:ext cx="2743200" cy="274320"/>
          </a:xfrm>
          <a:prstGeom prst="rect">
            <a:avLst/>
          </a:prstGeom>
          <a:noFill/>
          <a:ln/>
        </p:spPr>
        <p:txBody>
          <a:bodyPr wrap="square" lIns="0" tIns="0" rIns="0" bIns="0" rtlCol="0" anchor="ctr"/>
          <a:lstStyle/>
          <a:p>
            <a:pPr marL="0" indent="0">
              <a:buNone/>
            </a:pPr>
            <a:endParaRPr lang="en-US" sz="1000" dirty="0"/>
          </a:p>
        </p:txBody>
      </p:sp>
      <p:sp>
        <p:nvSpPr>
          <p:cNvPr id="4" name="Text 2">
            <a:extLst>
              <a:ext uri="{FF2B5EF4-FFF2-40B4-BE49-F238E27FC236}">
                <a16:creationId xmlns:a16="http://schemas.microsoft.com/office/drawing/2014/main" id="{7C0AA359-28C5-0C0B-DFB0-C3398F2990BD}"/>
              </a:ext>
            </a:extLst>
          </p:cNvPr>
          <p:cNvSpPr/>
          <p:nvPr/>
        </p:nvSpPr>
        <p:spPr>
          <a:xfrm>
            <a:off x="457200" y="123443"/>
            <a:ext cx="8229600" cy="5247900"/>
          </a:xfrm>
          <a:prstGeom prst="rect">
            <a:avLst/>
          </a:prstGeom>
          <a:noFill/>
          <a:ln/>
        </p:spPr>
        <p:txBody>
          <a:bodyPr wrap="square" lIns="0" tIns="0" rIns="0" bIns="0" rtlCol="0" anchor="ctr"/>
          <a:lstStyle/>
          <a:p>
            <a:pPr marL="0" indent="0" algn="just">
              <a:buNone/>
            </a:pPr>
            <a:endParaRPr lang="en-US" sz="2800" dirty="0">
              <a:solidFill>
                <a:schemeClr val="bg1"/>
              </a:solidFill>
            </a:endParaRPr>
          </a:p>
        </p:txBody>
      </p:sp>
      <p:sp>
        <p:nvSpPr>
          <p:cNvPr id="5" name="Text 3">
            <a:extLst>
              <a:ext uri="{FF2B5EF4-FFF2-40B4-BE49-F238E27FC236}">
                <a16:creationId xmlns:a16="http://schemas.microsoft.com/office/drawing/2014/main" id="{0F0A2137-3585-7DC5-FDF9-4ECE195411B6}"/>
              </a:ext>
            </a:extLst>
          </p:cNvPr>
          <p:cNvSpPr/>
          <p:nvPr/>
        </p:nvSpPr>
        <p:spPr>
          <a:xfrm>
            <a:off x="457200" y="1143000"/>
            <a:ext cx="5029200" cy="2286000"/>
          </a:xfrm>
          <a:prstGeom prst="rect">
            <a:avLst/>
          </a:prstGeom>
          <a:noFill/>
          <a:ln/>
        </p:spPr>
        <p:txBody>
          <a:bodyPr wrap="square" rtlCol="0" anchor="t"/>
          <a:lstStyle/>
          <a:p>
            <a:pPr marL="0" indent="0">
              <a:buNone/>
            </a:pPr>
            <a:endParaRPr lang="en-US" sz="1400" dirty="0"/>
          </a:p>
        </p:txBody>
      </p:sp>
      <p:sp>
        <p:nvSpPr>
          <p:cNvPr id="9" name="Text 6">
            <a:extLst>
              <a:ext uri="{FF2B5EF4-FFF2-40B4-BE49-F238E27FC236}">
                <a16:creationId xmlns:a16="http://schemas.microsoft.com/office/drawing/2014/main" id="{2F36150E-024A-1956-57F9-21C1C84398A5}"/>
              </a:ext>
            </a:extLst>
          </p:cNvPr>
          <p:cNvSpPr/>
          <p:nvPr/>
        </p:nvSpPr>
        <p:spPr>
          <a:xfrm>
            <a:off x="59436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0" name="Text 7">
            <a:extLst>
              <a:ext uri="{FF2B5EF4-FFF2-40B4-BE49-F238E27FC236}">
                <a16:creationId xmlns:a16="http://schemas.microsoft.com/office/drawing/2014/main" id="{9EB736E1-DB4B-E044-C42D-C4A8245FF2B5}"/>
              </a:ext>
            </a:extLst>
          </p:cNvPr>
          <p:cNvSpPr/>
          <p:nvPr/>
        </p:nvSpPr>
        <p:spPr>
          <a:xfrm>
            <a:off x="59436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13" name="Text 10">
            <a:extLst>
              <a:ext uri="{FF2B5EF4-FFF2-40B4-BE49-F238E27FC236}">
                <a16:creationId xmlns:a16="http://schemas.microsoft.com/office/drawing/2014/main" id="{627675F1-C970-D001-4880-0C343EF77B3D}"/>
              </a:ext>
            </a:extLst>
          </p:cNvPr>
          <p:cNvSpPr/>
          <p:nvPr/>
        </p:nvSpPr>
        <p:spPr>
          <a:xfrm>
            <a:off x="269748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4" name="Text 11">
            <a:extLst>
              <a:ext uri="{FF2B5EF4-FFF2-40B4-BE49-F238E27FC236}">
                <a16:creationId xmlns:a16="http://schemas.microsoft.com/office/drawing/2014/main" id="{02678807-CA4A-36C8-E10C-27F8C538FAA5}"/>
              </a:ext>
            </a:extLst>
          </p:cNvPr>
          <p:cNvSpPr/>
          <p:nvPr/>
        </p:nvSpPr>
        <p:spPr>
          <a:xfrm>
            <a:off x="269748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17" name="Text 14">
            <a:extLst>
              <a:ext uri="{FF2B5EF4-FFF2-40B4-BE49-F238E27FC236}">
                <a16:creationId xmlns:a16="http://schemas.microsoft.com/office/drawing/2014/main" id="{372412E3-B3E9-4156-363C-023DCE879521}"/>
              </a:ext>
            </a:extLst>
          </p:cNvPr>
          <p:cNvSpPr/>
          <p:nvPr/>
        </p:nvSpPr>
        <p:spPr>
          <a:xfrm>
            <a:off x="480060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8" name="Text 15">
            <a:extLst>
              <a:ext uri="{FF2B5EF4-FFF2-40B4-BE49-F238E27FC236}">
                <a16:creationId xmlns:a16="http://schemas.microsoft.com/office/drawing/2014/main" id="{702CD2C1-41B4-0F08-C6C5-C3D754EE170C}"/>
              </a:ext>
            </a:extLst>
          </p:cNvPr>
          <p:cNvSpPr/>
          <p:nvPr/>
        </p:nvSpPr>
        <p:spPr>
          <a:xfrm>
            <a:off x="480060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21" name="Text 18">
            <a:extLst>
              <a:ext uri="{FF2B5EF4-FFF2-40B4-BE49-F238E27FC236}">
                <a16:creationId xmlns:a16="http://schemas.microsoft.com/office/drawing/2014/main" id="{0FC9FD1F-3D9D-5EB8-4A15-E6B0FF766413}"/>
              </a:ext>
            </a:extLst>
          </p:cNvPr>
          <p:cNvSpPr/>
          <p:nvPr/>
        </p:nvSpPr>
        <p:spPr>
          <a:xfrm>
            <a:off x="690372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22" name="Text 19">
            <a:extLst>
              <a:ext uri="{FF2B5EF4-FFF2-40B4-BE49-F238E27FC236}">
                <a16:creationId xmlns:a16="http://schemas.microsoft.com/office/drawing/2014/main" id="{D7054539-AF25-B2E5-A3CE-9D94125A9430}"/>
              </a:ext>
            </a:extLst>
          </p:cNvPr>
          <p:cNvSpPr/>
          <p:nvPr/>
        </p:nvSpPr>
        <p:spPr>
          <a:xfrm>
            <a:off x="690372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23" name="Text 20">
            <a:extLst>
              <a:ext uri="{FF2B5EF4-FFF2-40B4-BE49-F238E27FC236}">
                <a16:creationId xmlns:a16="http://schemas.microsoft.com/office/drawing/2014/main" id="{0223D3E2-D35A-085A-4B14-D98D53974836}"/>
              </a:ext>
            </a:extLst>
          </p:cNvPr>
          <p:cNvSpPr/>
          <p:nvPr/>
        </p:nvSpPr>
        <p:spPr>
          <a:xfrm>
            <a:off x="8046720" y="4800600"/>
            <a:ext cx="914400" cy="274320"/>
          </a:xfrm>
          <a:prstGeom prst="rect">
            <a:avLst/>
          </a:prstGeom>
          <a:noFill/>
          <a:ln/>
        </p:spPr>
        <p:txBody>
          <a:bodyPr wrap="square" rtlCol="0" anchor="ctr"/>
          <a:lstStyle/>
          <a:p>
            <a:pPr marL="0" indent="0" algn="r">
              <a:buNone/>
            </a:pPr>
            <a:endParaRPr lang="en-US" sz="900" dirty="0"/>
          </a:p>
        </p:txBody>
      </p:sp>
      <p:sp>
        <p:nvSpPr>
          <p:cNvPr id="24" name="Text 21">
            <a:extLst>
              <a:ext uri="{FF2B5EF4-FFF2-40B4-BE49-F238E27FC236}">
                <a16:creationId xmlns:a16="http://schemas.microsoft.com/office/drawing/2014/main" id="{1D516F02-941B-C032-F098-B25B85FE9B21}"/>
              </a:ext>
            </a:extLst>
          </p:cNvPr>
          <p:cNvSpPr/>
          <p:nvPr/>
        </p:nvSpPr>
        <p:spPr>
          <a:xfrm>
            <a:off x="457200" y="4800600"/>
            <a:ext cx="2286000" cy="274320"/>
          </a:xfrm>
          <a:prstGeom prst="rect">
            <a:avLst/>
          </a:prstGeom>
          <a:noFill/>
          <a:ln/>
        </p:spPr>
        <p:txBody>
          <a:bodyPr wrap="square" rtlCol="0" anchor="ctr"/>
          <a:lstStyle/>
          <a:p>
            <a:pPr marL="0" indent="0" algn="l">
              <a:buNone/>
            </a:pPr>
            <a:endParaRPr lang="en-US" sz="900" dirty="0"/>
          </a:p>
        </p:txBody>
      </p:sp>
      <p:sp>
        <p:nvSpPr>
          <p:cNvPr id="8" name="Text 2">
            <a:extLst>
              <a:ext uri="{FF2B5EF4-FFF2-40B4-BE49-F238E27FC236}">
                <a16:creationId xmlns:a16="http://schemas.microsoft.com/office/drawing/2014/main" id="{27B39103-ED95-C836-73E0-39C0C72AB7F5}"/>
              </a:ext>
            </a:extLst>
          </p:cNvPr>
          <p:cNvSpPr/>
          <p:nvPr/>
        </p:nvSpPr>
        <p:spPr>
          <a:xfrm>
            <a:off x="112129" y="386334"/>
            <a:ext cx="3206456"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Search Available Rooms</a:t>
            </a:r>
            <a:endParaRPr lang="en-US" sz="2800" dirty="0"/>
          </a:p>
        </p:txBody>
      </p:sp>
      <p:pic>
        <p:nvPicPr>
          <p:cNvPr id="11" name="Picture 10">
            <a:extLst>
              <a:ext uri="{FF2B5EF4-FFF2-40B4-BE49-F238E27FC236}">
                <a16:creationId xmlns:a16="http://schemas.microsoft.com/office/drawing/2014/main" id="{D8DB952A-7216-DC21-AD42-970D49CDD26D}"/>
              </a:ext>
            </a:extLst>
          </p:cNvPr>
          <p:cNvPicPr>
            <a:picLocks noChangeAspect="1"/>
          </p:cNvPicPr>
          <p:nvPr/>
        </p:nvPicPr>
        <p:blipFill>
          <a:blip r:embed="rId3"/>
          <a:stretch>
            <a:fillRect/>
          </a:stretch>
        </p:blipFill>
        <p:spPr>
          <a:xfrm>
            <a:off x="2971800" y="630936"/>
            <a:ext cx="6041904" cy="3881628"/>
          </a:xfrm>
          <a:prstGeom prst="rect">
            <a:avLst/>
          </a:prstGeom>
        </p:spPr>
      </p:pic>
    </p:spTree>
    <p:extLst>
      <p:ext uri="{BB962C8B-B14F-4D97-AF65-F5344CB8AC3E}">
        <p14:creationId xmlns:p14="http://schemas.microsoft.com/office/powerpoint/2010/main" val="2419442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70B3AA87-B7B5-BEC2-F2EB-13C369E992F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215F4EB-00BB-FA3A-7B1C-C637EA8F61FE}"/>
              </a:ext>
            </a:extLst>
          </p:cNvPr>
          <p:cNvSpPr/>
          <p:nvPr/>
        </p:nvSpPr>
        <p:spPr>
          <a:xfrm>
            <a:off x="0" y="0"/>
            <a:ext cx="9144000" cy="54864"/>
          </a:xfrm>
          <a:prstGeom prst="rect">
            <a:avLst/>
          </a:prstGeom>
          <a:solidFill>
            <a:srgbClr val="0C7C99"/>
          </a:solidFill>
          <a:ln/>
        </p:spPr>
        <p:txBody>
          <a:bodyPr/>
          <a:lstStyle/>
          <a:p>
            <a:endParaRPr lang="en-IN"/>
          </a:p>
        </p:txBody>
      </p:sp>
      <p:sp>
        <p:nvSpPr>
          <p:cNvPr id="3" name="Text 1">
            <a:extLst>
              <a:ext uri="{FF2B5EF4-FFF2-40B4-BE49-F238E27FC236}">
                <a16:creationId xmlns:a16="http://schemas.microsoft.com/office/drawing/2014/main" id="{20415DF7-A314-EBA9-4B09-F7D93FC7FA0F}"/>
              </a:ext>
            </a:extLst>
          </p:cNvPr>
          <p:cNvSpPr/>
          <p:nvPr/>
        </p:nvSpPr>
        <p:spPr>
          <a:xfrm>
            <a:off x="457200" y="274320"/>
            <a:ext cx="2743200" cy="274320"/>
          </a:xfrm>
          <a:prstGeom prst="rect">
            <a:avLst/>
          </a:prstGeom>
          <a:noFill/>
          <a:ln/>
        </p:spPr>
        <p:txBody>
          <a:bodyPr wrap="square" lIns="0" tIns="0" rIns="0" bIns="0" rtlCol="0" anchor="ctr"/>
          <a:lstStyle/>
          <a:p>
            <a:pPr marL="0" indent="0">
              <a:buNone/>
            </a:pPr>
            <a:endParaRPr lang="en-US" sz="1000" dirty="0"/>
          </a:p>
        </p:txBody>
      </p:sp>
      <p:sp>
        <p:nvSpPr>
          <p:cNvPr id="4" name="Text 2">
            <a:extLst>
              <a:ext uri="{FF2B5EF4-FFF2-40B4-BE49-F238E27FC236}">
                <a16:creationId xmlns:a16="http://schemas.microsoft.com/office/drawing/2014/main" id="{DF77CF81-94F6-07DE-5825-FE5EF6D75EA7}"/>
              </a:ext>
            </a:extLst>
          </p:cNvPr>
          <p:cNvSpPr/>
          <p:nvPr/>
        </p:nvSpPr>
        <p:spPr>
          <a:xfrm>
            <a:off x="457200" y="123443"/>
            <a:ext cx="8229600" cy="5247900"/>
          </a:xfrm>
          <a:prstGeom prst="rect">
            <a:avLst/>
          </a:prstGeom>
          <a:noFill/>
          <a:ln/>
        </p:spPr>
        <p:txBody>
          <a:bodyPr wrap="square" lIns="0" tIns="0" rIns="0" bIns="0" rtlCol="0" anchor="ctr"/>
          <a:lstStyle/>
          <a:p>
            <a:pPr marL="0" indent="0" algn="just">
              <a:buNone/>
            </a:pPr>
            <a:endParaRPr lang="en-US" sz="2800" dirty="0">
              <a:solidFill>
                <a:schemeClr val="bg1"/>
              </a:solidFill>
            </a:endParaRPr>
          </a:p>
        </p:txBody>
      </p:sp>
      <p:sp>
        <p:nvSpPr>
          <p:cNvPr id="5" name="Text 3">
            <a:extLst>
              <a:ext uri="{FF2B5EF4-FFF2-40B4-BE49-F238E27FC236}">
                <a16:creationId xmlns:a16="http://schemas.microsoft.com/office/drawing/2014/main" id="{690C8B74-02CD-8E1C-AFB5-D94AFB3F20B0}"/>
              </a:ext>
            </a:extLst>
          </p:cNvPr>
          <p:cNvSpPr/>
          <p:nvPr/>
        </p:nvSpPr>
        <p:spPr>
          <a:xfrm>
            <a:off x="457200" y="1143000"/>
            <a:ext cx="5029200" cy="2286000"/>
          </a:xfrm>
          <a:prstGeom prst="rect">
            <a:avLst/>
          </a:prstGeom>
          <a:noFill/>
          <a:ln/>
        </p:spPr>
        <p:txBody>
          <a:bodyPr wrap="square" rtlCol="0" anchor="t"/>
          <a:lstStyle/>
          <a:p>
            <a:pPr marL="0" indent="0">
              <a:buNone/>
            </a:pPr>
            <a:endParaRPr lang="en-US" sz="1400" dirty="0"/>
          </a:p>
        </p:txBody>
      </p:sp>
      <p:sp>
        <p:nvSpPr>
          <p:cNvPr id="9" name="Text 6">
            <a:extLst>
              <a:ext uri="{FF2B5EF4-FFF2-40B4-BE49-F238E27FC236}">
                <a16:creationId xmlns:a16="http://schemas.microsoft.com/office/drawing/2014/main" id="{85CA99D3-089A-BB93-0F31-2400C09962EB}"/>
              </a:ext>
            </a:extLst>
          </p:cNvPr>
          <p:cNvSpPr/>
          <p:nvPr/>
        </p:nvSpPr>
        <p:spPr>
          <a:xfrm>
            <a:off x="59436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0" name="Text 7">
            <a:extLst>
              <a:ext uri="{FF2B5EF4-FFF2-40B4-BE49-F238E27FC236}">
                <a16:creationId xmlns:a16="http://schemas.microsoft.com/office/drawing/2014/main" id="{0F856822-F3F2-D17F-411A-B2B337C1A516}"/>
              </a:ext>
            </a:extLst>
          </p:cNvPr>
          <p:cNvSpPr/>
          <p:nvPr/>
        </p:nvSpPr>
        <p:spPr>
          <a:xfrm>
            <a:off x="59436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13" name="Text 10">
            <a:extLst>
              <a:ext uri="{FF2B5EF4-FFF2-40B4-BE49-F238E27FC236}">
                <a16:creationId xmlns:a16="http://schemas.microsoft.com/office/drawing/2014/main" id="{C3363B09-F406-1DAF-134A-A7CE2DF0F3B1}"/>
              </a:ext>
            </a:extLst>
          </p:cNvPr>
          <p:cNvSpPr/>
          <p:nvPr/>
        </p:nvSpPr>
        <p:spPr>
          <a:xfrm>
            <a:off x="269748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4" name="Text 11">
            <a:extLst>
              <a:ext uri="{FF2B5EF4-FFF2-40B4-BE49-F238E27FC236}">
                <a16:creationId xmlns:a16="http://schemas.microsoft.com/office/drawing/2014/main" id="{3EF677B5-8EA7-BE01-6E18-327BB50996B5}"/>
              </a:ext>
            </a:extLst>
          </p:cNvPr>
          <p:cNvSpPr/>
          <p:nvPr/>
        </p:nvSpPr>
        <p:spPr>
          <a:xfrm>
            <a:off x="269748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17" name="Text 14">
            <a:extLst>
              <a:ext uri="{FF2B5EF4-FFF2-40B4-BE49-F238E27FC236}">
                <a16:creationId xmlns:a16="http://schemas.microsoft.com/office/drawing/2014/main" id="{6028650F-CD87-B544-7749-F122773F4CA2}"/>
              </a:ext>
            </a:extLst>
          </p:cNvPr>
          <p:cNvSpPr/>
          <p:nvPr/>
        </p:nvSpPr>
        <p:spPr>
          <a:xfrm>
            <a:off x="480060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8" name="Text 15">
            <a:extLst>
              <a:ext uri="{FF2B5EF4-FFF2-40B4-BE49-F238E27FC236}">
                <a16:creationId xmlns:a16="http://schemas.microsoft.com/office/drawing/2014/main" id="{4DD97369-7117-B332-5D81-46F3C48F1114}"/>
              </a:ext>
            </a:extLst>
          </p:cNvPr>
          <p:cNvSpPr/>
          <p:nvPr/>
        </p:nvSpPr>
        <p:spPr>
          <a:xfrm>
            <a:off x="480060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21" name="Text 18">
            <a:extLst>
              <a:ext uri="{FF2B5EF4-FFF2-40B4-BE49-F238E27FC236}">
                <a16:creationId xmlns:a16="http://schemas.microsoft.com/office/drawing/2014/main" id="{B9EBCB43-CB93-3161-A35D-0B54F2C05709}"/>
              </a:ext>
            </a:extLst>
          </p:cNvPr>
          <p:cNvSpPr/>
          <p:nvPr/>
        </p:nvSpPr>
        <p:spPr>
          <a:xfrm>
            <a:off x="690372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22" name="Text 19">
            <a:extLst>
              <a:ext uri="{FF2B5EF4-FFF2-40B4-BE49-F238E27FC236}">
                <a16:creationId xmlns:a16="http://schemas.microsoft.com/office/drawing/2014/main" id="{7DB6942F-93A9-02D0-52ED-DCA64FD9FE80}"/>
              </a:ext>
            </a:extLst>
          </p:cNvPr>
          <p:cNvSpPr/>
          <p:nvPr/>
        </p:nvSpPr>
        <p:spPr>
          <a:xfrm>
            <a:off x="690372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23" name="Text 20">
            <a:extLst>
              <a:ext uri="{FF2B5EF4-FFF2-40B4-BE49-F238E27FC236}">
                <a16:creationId xmlns:a16="http://schemas.microsoft.com/office/drawing/2014/main" id="{5361FF6C-5932-B511-3445-80DCF0BC36BE}"/>
              </a:ext>
            </a:extLst>
          </p:cNvPr>
          <p:cNvSpPr/>
          <p:nvPr/>
        </p:nvSpPr>
        <p:spPr>
          <a:xfrm>
            <a:off x="8046720" y="4800600"/>
            <a:ext cx="914400" cy="274320"/>
          </a:xfrm>
          <a:prstGeom prst="rect">
            <a:avLst/>
          </a:prstGeom>
          <a:noFill/>
          <a:ln/>
        </p:spPr>
        <p:txBody>
          <a:bodyPr wrap="square" rtlCol="0" anchor="ctr"/>
          <a:lstStyle/>
          <a:p>
            <a:pPr marL="0" indent="0" algn="r">
              <a:buNone/>
            </a:pPr>
            <a:endParaRPr lang="en-US" sz="900" dirty="0"/>
          </a:p>
        </p:txBody>
      </p:sp>
      <p:sp>
        <p:nvSpPr>
          <p:cNvPr id="24" name="Text 21">
            <a:extLst>
              <a:ext uri="{FF2B5EF4-FFF2-40B4-BE49-F238E27FC236}">
                <a16:creationId xmlns:a16="http://schemas.microsoft.com/office/drawing/2014/main" id="{883D710A-E7E3-75A0-7864-EF59E54AC0D7}"/>
              </a:ext>
            </a:extLst>
          </p:cNvPr>
          <p:cNvSpPr/>
          <p:nvPr/>
        </p:nvSpPr>
        <p:spPr>
          <a:xfrm>
            <a:off x="457200" y="4800600"/>
            <a:ext cx="2286000" cy="274320"/>
          </a:xfrm>
          <a:prstGeom prst="rect">
            <a:avLst/>
          </a:prstGeom>
          <a:noFill/>
          <a:ln/>
        </p:spPr>
        <p:txBody>
          <a:bodyPr wrap="square" rtlCol="0" anchor="ctr"/>
          <a:lstStyle/>
          <a:p>
            <a:pPr marL="0" indent="0" algn="l">
              <a:buNone/>
            </a:pPr>
            <a:endParaRPr lang="en-US" sz="900" dirty="0"/>
          </a:p>
        </p:txBody>
      </p:sp>
      <p:sp>
        <p:nvSpPr>
          <p:cNvPr id="8" name="Text 2">
            <a:extLst>
              <a:ext uri="{FF2B5EF4-FFF2-40B4-BE49-F238E27FC236}">
                <a16:creationId xmlns:a16="http://schemas.microsoft.com/office/drawing/2014/main" id="{5ED3D341-A3FB-5F69-17F7-63AA1E12286E}"/>
              </a:ext>
            </a:extLst>
          </p:cNvPr>
          <p:cNvSpPr/>
          <p:nvPr/>
        </p:nvSpPr>
        <p:spPr>
          <a:xfrm>
            <a:off x="112129" y="386334"/>
            <a:ext cx="3206456"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rPr>
              <a:t>Book Available Room</a:t>
            </a:r>
            <a:endParaRPr lang="en-US" sz="2800" dirty="0"/>
          </a:p>
        </p:txBody>
      </p:sp>
      <p:pic>
        <p:nvPicPr>
          <p:cNvPr id="7" name="Picture 6">
            <a:extLst>
              <a:ext uri="{FF2B5EF4-FFF2-40B4-BE49-F238E27FC236}">
                <a16:creationId xmlns:a16="http://schemas.microsoft.com/office/drawing/2014/main" id="{02866659-36D2-4472-85FF-F2837D89F156}"/>
              </a:ext>
            </a:extLst>
          </p:cNvPr>
          <p:cNvPicPr>
            <a:picLocks noChangeAspect="1"/>
          </p:cNvPicPr>
          <p:nvPr/>
        </p:nvPicPr>
        <p:blipFill>
          <a:blip r:embed="rId3"/>
          <a:stretch>
            <a:fillRect/>
          </a:stretch>
        </p:blipFill>
        <p:spPr>
          <a:xfrm>
            <a:off x="3395254" y="681985"/>
            <a:ext cx="5636617" cy="3822192"/>
          </a:xfrm>
          <a:prstGeom prst="rect">
            <a:avLst/>
          </a:prstGeom>
        </p:spPr>
      </p:pic>
    </p:spTree>
    <p:extLst>
      <p:ext uri="{BB962C8B-B14F-4D97-AF65-F5344CB8AC3E}">
        <p14:creationId xmlns:p14="http://schemas.microsoft.com/office/powerpoint/2010/main" val="3197751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5FAFB229-679A-1D98-2A76-750CC4888CE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8F5E5B8-A71B-8AD3-1163-1F640196CDAF}"/>
              </a:ext>
            </a:extLst>
          </p:cNvPr>
          <p:cNvSpPr/>
          <p:nvPr/>
        </p:nvSpPr>
        <p:spPr>
          <a:xfrm>
            <a:off x="0" y="0"/>
            <a:ext cx="9144000" cy="54864"/>
          </a:xfrm>
          <a:prstGeom prst="rect">
            <a:avLst/>
          </a:prstGeom>
          <a:solidFill>
            <a:srgbClr val="0C7C99"/>
          </a:solidFill>
          <a:ln/>
        </p:spPr>
        <p:txBody>
          <a:bodyPr/>
          <a:lstStyle/>
          <a:p>
            <a:endParaRPr lang="en-IN"/>
          </a:p>
        </p:txBody>
      </p:sp>
      <p:sp>
        <p:nvSpPr>
          <p:cNvPr id="3" name="Text 1">
            <a:extLst>
              <a:ext uri="{FF2B5EF4-FFF2-40B4-BE49-F238E27FC236}">
                <a16:creationId xmlns:a16="http://schemas.microsoft.com/office/drawing/2014/main" id="{D2ADF9AC-593A-10FE-77D3-CE9EA7FC326F}"/>
              </a:ext>
            </a:extLst>
          </p:cNvPr>
          <p:cNvSpPr/>
          <p:nvPr/>
        </p:nvSpPr>
        <p:spPr>
          <a:xfrm>
            <a:off x="457200" y="274320"/>
            <a:ext cx="2743200" cy="274320"/>
          </a:xfrm>
          <a:prstGeom prst="rect">
            <a:avLst/>
          </a:prstGeom>
          <a:noFill/>
          <a:ln/>
        </p:spPr>
        <p:txBody>
          <a:bodyPr wrap="square" lIns="0" tIns="0" rIns="0" bIns="0" rtlCol="0" anchor="ctr"/>
          <a:lstStyle/>
          <a:p>
            <a:pPr marL="0" indent="0">
              <a:buNone/>
            </a:pPr>
            <a:endParaRPr lang="en-US" sz="1000" dirty="0"/>
          </a:p>
        </p:txBody>
      </p:sp>
      <p:sp>
        <p:nvSpPr>
          <p:cNvPr id="4" name="Text 2">
            <a:extLst>
              <a:ext uri="{FF2B5EF4-FFF2-40B4-BE49-F238E27FC236}">
                <a16:creationId xmlns:a16="http://schemas.microsoft.com/office/drawing/2014/main" id="{D80CA416-2669-96F5-C0B7-7F84D7E5DBBC}"/>
              </a:ext>
            </a:extLst>
          </p:cNvPr>
          <p:cNvSpPr/>
          <p:nvPr/>
        </p:nvSpPr>
        <p:spPr>
          <a:xfrm>
            <a:off x="457200" y="123443"/>
            <a:ext cx="8229600" cy="5247900"/>
          </a:xfrm>
          <a:prstGeom prst="rect">
            <a:avLst/>
          </a:prstGeom>
          <a:noFill/>
          <a:ln/>
        </p:spPr>
        <p:txBody>
          <a:bodyPr wrap="square" lIns="0" tIns="0" rIns="0" bIns="0" rtlCol="0" anchor="ctr"/>
          <a:lstStyle/>
          <a:p>
            <a:pPr marL="0" indent="0" algn="just">
              <a:buNone/>
            </a:pPr>
            <a:endParaRPr lang="en-US" sz="2800" dirty="0">
              <a:solidFill>
                <a:schemeClr val="bg1"/>
              </a:solidFill>
            </a:endParaRPr>
          </a:p>
        </p:txBody>
      </p:sp>
      <p:sp>
        <p:nvSpPr>
          <p:cNvPr id="5" name="Text 3">
            <a:extLst>
              <a:ext uri="{FF2B5EF4-FFF2-40B4-BE49-F238E27FC236}">
                <a16:creationId xmlns:a16="http://schemas.microsoft.com/office/drawing/2014/main" id="{454450FF-C535-34AA-B67C-04EDDA310F79}"/>
              </a:ext>
            </a:extLst>
          </p:cNvPr>
          <p:cNvSpPr/>
          <p:nvPr/>
        </p:nvSpPr>
        <p:spPr>
          <a:xfrm>
            <a:off x="457200" y="1143000"/>
            <a:ext cx="5029200" cy="2286000"/>
          </a:xfrm>
          <a:prstGeom prst="rect">
            <a:avLst/>
          </a:prstGeom>
          <a:noFill/>
          <a:ln/>
        </p:spPr>
        <p:txBody>
          <a:bodyPr wrap="square" rtlCol="0" anchor="t"/>
          <a:lstStyle/>
          <a:p>
            <a:pPr marL="0" indent="0">
              <a:buNone/>
            </a:pPr>
            <a:endParaRPr lang="en-US" sz="1400" dirty="0"/>
          </a:p>
        </p:txBody>
      </p:sp>
      <p:sp>
        <p:nvSpPr>
          <p:cNvPr id="9" name="Text 6">
            <a:extLst>
              <a:ext uri="{FF2B5EF4-FFF2-40B4-BE49-F238E27FC236}">
                <a16:creationId xmlns:a16="http://schemas.microsoft.com/office/drawing/2014/main" id="{157BF010-C8B0-0C94-984B-07D8F6D0B706}"/>
              </a:ext>
            </a:extLst>
          </p:cNvPr>
          <p:cNvSpPr/>
          <p:nvPr/>
        </p:nvSpPr>
        <p:spPr>
          <a:xfrm>
            <a:off x="59436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0" name="Text 7">
            <a:extLst>
              <a:ext uri="{FF2B5EF4-FFF2-40B4-BE49-F238E27FC236}">
                <a16:creationId xmlns:a16="http://schemas.microsoft.com/office/drawing/2014/main" id="{CA766D23-2703-FF8A-440B-7EF0720B8E48}"/>
              </a:ext>
            </a:extLst>
          </p:cNvPr>
          <p:cNvSpPr/>
          <p:nvPr/>
        </p:nvSpPr>
        <p:spPr>
          <a:xfrm>
            <a:off x="59436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13" name="Text 10">
            <a:extLst>
              <a:ext uri="{FF2B5EF4-FFF2-40B4-BE49-F238E27FC236}">
                <a16:creationId xmlns:a16="http://schemas.microsoft.com/office/drawing/2014/main" id="{F5C7C2FD-94C9-58B2-7249-C6B5CA1ACD25}"/>
              </a:ext>
            </a:extLst>
          </p:cNvPr>
          <p:cNvSpPr/>
          <p:nvPr/>
        </p:nvSpPr>
        <p:spPr>
          <a:xfrm>
            <a:off x="269748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4" name="Text 11">
            <a:extLst>
              <a:ext uri="{FF2B5EF4-FFF2-40B4-BE49-F238E27FC236}">
                <a16:creationId xmlns:a16="http://schemas.microsoft.com/office/drawing/2014/main" id="{2695FF65-98B7-D65E-0FCD-2DB20DC3E836}"/>
              </a:ext>
            </a:extLst>
          </p:cNvPr>
          <p:cNvSpPr/>
          <p:nvPr/>
        </p:nvSpPr>
        <p:spPr>
          <a:xfrm>
            <a:off x="269748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17" name="Text 14">
            <a:extLst>
              <a:ext uri="{FF2B5EF4-FFF2-40B4-BE49-F238E27FC236}">
                <a16:creationId xmlns:a16="http://schemas.microsoft.com/office/drawing/2014/main" id="{9FC41618-DA19-E04F-8FC3-7DC98F959B19}"/>
              </a:ext>
            </a:extLst>
          </p:cNvPr>
          <p:cNvSpPr/>
          <p:nvPr/>
        </p:nvSpPr>
        <p:spPr>
          <a:xfrm>
            <a:off x="480060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8" name="Text 15">
            <a:extLst>
              <a:ext uri="{FF2B5EF4-FFF2-40B4-BE49-F238E27FC236}">
                <a16:creationId xmlns:a16="http://schemas.microsoft.com/office/drawing/2014/main" id="{EB802CF4-3575-CAC1-C460-632ACD862742}"/>
              </a:ext>
            </a:extLst>
          </p:cNvPr>
          <p:cNvSpPr/>
          <p:nvPr/>
        </p:nvSpPr>
        <p:spPr>
          <a:xfrm>
            <a:off x="480060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21" name="Text 18">
            <a:extLst>
              <a:ext uri="{FF2B5EF4-FFF2-40B4-BE49-F238E27FC236}">
                <a16:creationId xmlns:a16="http://schemas.microsoft.com/office/drawing/2014/main" id="{BE5A702C-13A2-0C25-13E4-66DFDA386A5F}"/>
              </a:ext>
            </a:extLst>
          </p:cNvPr>
          <p:cNvSpPr/>
          <p:nvPr/>
        </p:nvSpPr>
        <p:spPr>
          <a:xfrm>
            <a:off x="690372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22" name="Text 19">
            <a:extLst>
              <a:ext uri="{FF2B5EF4-FFF2-40B4-BE49-F238E27FC236}">
                <a16:creationId xmlns:a16="http://schemas.microsoft.com/office/drawing/2014/main" id="{CAA5918D-E4AB-4FD6-0D3B-20192EDC63C5}"/>
              </a:ext>
            </a:extLst>
          </p:cNvPr>
          <p:cNvSpPr/>
          <p:nvPr/>
        </p:nvSpPr>
        <p:spPr>
          <a:xfrm>
            <a:off x="690372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23" name="Text 20">
            <a:extLst>
              <a:ext uri="{FF2B5EF4-FFF2-40B4-BE49-F238E27FC236}">
                <a16:creationId xmlns:a16="http://schemas.microsoft.com/office/drawing/2014/main" id="{8DC48F7B-EB90-7955-B1C9-8FACD384D0D0}"/>
              </a:ext>
            </a:extLst>
          </p:cNvPr>
          <p:cNvSpPr/>
          <p:nvPr/>
        </p:nvSpPr>
        <p:spPr>
          <a:xfrm>
            <a:off x="8046720" y="4800600"/>
            <a:ext cx="914400" cy="274320"/>
          </a:xfrm>
          <a:prstGeom prst="rect">
            <a:avLst/>
          </a:prstGeom>
          <a:noFill/>
          <a:ln/>
        </p:spPr>
        <p:txBody>
          <a:bodyPr wrap="square" rtlCol="0" anchor="ctr"/>
          <a:lstStyle/>
          <a:p>
            <a:pPr marL="0" indent="0" algn="r">
              <a:buNone/>
            </a:pPr>
            <a:endParaRPr lang="en-US" sz="900" dirty="0"/>
          </a:p>
        </p:txBody>
      </p:sp>
      <p:sp>
        <p:nvSpPr>
          <p:cNvPr id="24" name="Text 21">
            <a:extLst>
              <a:ext uri="{FF2B5EF4-FFF2-40B4-BE49-F238E27FC236}">
                <a16:creationId xmlns:a16="http://schemas.microsoft.com/office/drawing/2014/main" id="{DE46BC2E-1FB4-2E64-EC23-6E2780FE100C}"/>
              </a:ext>
            </a:extLst>
          </p:cNvPr>
          <p:cNvSpPr/>
          <p:nvPr/>
        </p:nvSpPr>
        <p:spPr>
          <a:xfrm>
            <a:off x="457200" y="4800600"/>
            <a:ext cx="2286000" cy="274320"/>
          </a:xfrm>
          <a:prstGeom prst="rect">
            <a:avLst/>
          </a:prstGeom>
          <a:noFill/>
          <a:ln/>
        </p:spPr>
        <p:txBody>
          <a:bodyPr wrap="square" rtlCol="0" anchor="ctr"/>
          <a:lstStyle/>
          <a:p>
            <a:pPr marL="0" indent="0" algn="l">
              <a:buNone/>
            </a:pPr>
            <a:endParaRPr lang="en-US" sz="900" dirty="0"/>
          </a:p>
        </p:txBody>
      </p:sp>
      <p:sp>
        <p:nvSpPr>
          <p:cNvPr id="8" name="Text 2">
            <a:extLst>
              <a:ext uri="{FF2B5EF4-FFF2-40B4-BE49-F238E27FC236}">
                <a16:creationId xmlns:a16="http://schemas.microsoft.com/office/drawing/2014/main" id="{FA533252-3CA4-4564-23A7-5C22DC65A3EA}"/>
              </a:ext>
            </a:extLst>
          </p:cNvPr>
          <p:cNvSpPr/>
          <p:nvPr/>
        </p:nvSpPr>
        <p:spPr>
          <a:xfrm>
            <a:off x="112129" y="386334"/>
            <a:ext cx="3206456"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rPr>
              <a:t>Active Booking</a:t>
            </a:r>
            <a:endParaRPr lang="en-US" sz="2800" dirty="0"/>
          </a:p>
        </p:txBody>
      </p:sp>
      <p:pic>
        <p:nvPicPr>
          <p:cNvPr id="11" name="Picture 10">
            <a:extLst>
              <a:ext uri="{FF2B5EF4-FFF2-40B4-BE49-F238E27FC236}">
                <a16:creationId xmlns:a16="http://schemas.microsoft.com/office/drawing/2014/main" id="{1A631E26-0AF6-FFE4-D772-27B256BD9E38}"/>
              </a:ext>
            </a:extLst>
          </p:cNvPr>
          <p:cNvPicPr>
            <a:picLocks noChangeAspect="1"/>
          </p:cNvPicPr>
          <p:nvPr/>
        </p:nvPicPr>
        <p:blipFill>
          <a:blip r:embed="rId3"/>
          <a:stretch>
            <a:fillRect/>
          </a:stretch>
        </p:blipFill>
        <p:spPr>
          <a:xfrm>
            <a:off x="2729575" y="699517"/>
            <a:ext cx="6315364" cy="3922776"/>
          </a:xfrm>
          <a:prstGeom prst="rect">
            <a:avLst/>
          </a:prstGeom>
        </p:spPr>
      </p:pic>
    </p:spTree>
    <p:extLst>
      <p:ext uri="{BB962C8B-B14F-4D97-AF65-F5344CB8AC3E}">
        <p14:creationId xmlns:p14="http://schemas.microsoft.com/office/powerpoint/2010/main" val="37094353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48CB18CD-1552-F823-7EAE-3F45882364E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684D5E0-37BF-3097-5E18-75A1BEA2D9BB}"/>
              </a:ext>
            </a:extLst>
          </p:cNvPr>
          <p:cNvSpPr/>
          <p:nvPr/>
        </p:nvSpPr>
        <p:spPr>
          <a:xfrm>
            <a:off x="0" y="0"/>
            <a:ext cx="9144000" cy="54864"/>
          </a:xfrm>
          <a:prstGeom prst="rect">
            <a:avLst/>
          </a:prstGeom>
          <a:solidFill>
            <a:srgbClr val="0C7C99"/>
          </a:solidFill>
          <a:ln/>
        </p:spPr>
        <p:txBody>
          <a:bodyPr/>
          <a:lstStyle/>
          <a:p>
            <a:endParaRPr lang="en-IN"/>
          </a:p>
        </p:txBody>
      </p:sp>
      <p:sp>
        <p:nvSpPr>
          <p:cNvPr id="3" name="Text 1">
            <a:extLst>
              <a:ext uri="{FF2B5EF4-FFF2-40B4-BE49-F238E27FC236}">
                <a16:creationId xmlns:a16="http://schemas.microsoft.com/office/drawing/2014/main" id="{FE867546-50F1-1C8B-470C-F09ECC2AEC33}"/>
              </a:ext>
            </a:extLst>
          </p:cNvPr>
          <p:cNvSpPr/>
          <p:nvPr/>
        </p:nvSpPr>
        <p:spPr>
          <a:xfrm>
            <a:off x="457200" y="274320"/>
            <a:ext cx="2743200" cy="274320"/>
          </a:xfrm>
          <a:prstGeom prst="rect">
            <a:avLst/>
          </a:prstGeom>
          <a:noFill/>
          <a:ln/>
        </p:spPr>
        <p:txBody>
          <a:bodyPr wrap="square" lIns="0" tIns="0" rIns="0" bIns="0" rtlCol="0" anchor="ctr"/>
          <a:lstStyle/>
          <a:p>
            <a:pPr marL="0" indent="0">
              <a:buNone/>
            </a:pPr>
            <a:endParaRPr lang="en-US" sz="1000" dirty="0"/>
          </a:p>
        </p:txBody>
      </p:sp>
      <p:sp>
        <p:nvSpPr>
          <p:cNvPr id="4" name="Text 2">
            <a:extLst>
              <a:ext uri="{FF2B5EF4-FFF2-40B4-BE49-F238E27FC236}">
                <a16:creationId xmlns:a16="http://schemas.microsoft.com/office/drawing/2014/main" id="{3A85972E-CCD8-D40D-2F6B-5099407CD9EB}"/>
              </a:ext>
            </a:extLst>
          </p:cNvPr>
          <p:cNvSpPr/>
          <p:nvPr/>
        </p:nvSpPr>
        <p:spPr>
          <a:xfrm>
            <a:off x="457200" y="123443"/>
            <a:ext cx="8229600" cy="5247900"/>
          </a:xfrm>
          <a:prstGeom prst="rect">
            <a:avLst/>
          </a:prstGeom>
          <a:noFill/>
          <a:ln/>
        </p:spPr>
        <p:txBody>
          <a:bodyPr wrap="square" lIns="0" tIns="0" rIns="0" bIns="0" rtlCol="0" anchor="ctr"/>
          <a:lstStyle/>
          <a:p>
            <a:pPr marL="0" indent="0" algn="just">
              <a:buNone/>
            </a:pPr>
            <a:endParaRPr lang="en-US" sz="2800" dirty="0">
              <a:solidFill>
                <a:schemeClr val="bg1"/>
              </a:solidFill>
            </a:endParaRPr>
          </a:p>
        </p:txBody>
      </p:sp>
      <p:sp>
        <p:nvSpPr>
          <p:cNvPr id="5" name="Text 3">
            <a:extLst>
              <a:ext uri="{FF2B5EF4-FFF2-40B4-BE49-F238E27FC236}">
                <a16:creationId xmlns:a16="http://schemas.microsoft.com/office/drawing/2014/main" id="{93C1BFAE-7F8D-F8F4-9DF2-76049E04A75C}"/>
              </a:ext>
            </a:extLst>
          </p:cNvPr>
          <p:cNvSpPr/>
          <p:nvPr/>
        </p:nvSpPr>
        <p:spPr>
          <a:xfrm>
            <a:off x="457200" y="1143000"/>
            <a:ext cx="5029200" cy="2286000"/>
          </a:xfrm>
          <a:prstGeom prst="rect">
            <a:avLst/>
          </a:prstGeom>
          <a:noFill/>
          <a:ln/>
        </p:spPr>
        <p:txBody>
          <a:bodyPr wrap="square" rtlCol="0" anchor="t"/>
          <a:lstStyle/>
          <a:p>
            <a:pPr marL="0" indent="0">
              <a:buNone/>
            </a:pPr>
            <a:endParaRPr lang="en-US" sz="1400" dirty="0"/>
          </a:p>
        </p:txBody>
      </p:sp>
      <p:sp>
        <p:nvSpPr>
          <p:cNvPr id="9" name="Text 6">
            <a:extLst>
              <a:ext uri="{FF2B5EF4-FFF2-40B4-BE49-F238E27FC236}">
                <a16:creationId xmlns:a16="http://schemas.microsoft.com/office/drawing/2014/main" id="{6818BFA0-A80B-E032-65E4-0FBDEBDBB9BF}"/>
              </a:ext>
            </a:extLst>
          </p:cNvPr>
          <p:cNvSpPr/>
          <p:nvPr/>
        </p:nvSpPr>
        <p:spPr>
          <a:xfrm>
            <a:off x="59436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0" name="Text 7">
            <a:extLst>
              <a:ext uri="{FF2B5EF4-FFF2-40B4-BE49-F238E27FC236}">
                <a16:creationId xmlns:a16="http://schemas.microsoft.com/office/drawing/2014/main" id="{57F4154E-2265-3B86-D78A-56DBCF8E5010}"/>
              </a:ext>
            </a:extLst>
          </p:cNvPr>
          <p:cNvSpPr/>
          <p:nvPr/>
        </p:nvSpPr>
        <p:spPr>
          <a:xfrm>
            <a:off x="59436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13" name="Text 10">
            <a:extLst>
              <a:ext uri="{FF2B5EF4-FFF2-40B4-BE49-F238E27FC236}">
                <a16:creationId xmlns:a16="http://schemas.microsoft.com/office/drawing/2014/main" id="{38CAB301-3EB4-5EA2-021E-4F262C718C67}"/>
              </a:ext>
            </a:extLst>
          </p:cNvPr>
          <p:cNvSpPr/>
          <p:nvPr/>
        </p:nvSpPr>
        <p:spPr>
          <a:xfrm>
            <a:off x="269748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4" name="Text 11">
            <a:extLst>
              <a:ext uri="{FF2B5EF4-FFF2-40B4-BE49-F238E27FC236}">
                <a16:creationId xmlns:a16="http://schemas.microsoft.com/office/drawing/2014/main" id="{294C0B00-4DD2-44E5-CEB6-2034BDF60DD6}"/>
              </a:ext>
            </a:extLst>
          </p:cNvPr>
          <p:cNvSpPr/>
          <p:nvPr/>
        </p:nvSpPr>
        <p:spPr>
          <a:xfrm>
            <a:off x="269748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17" name="Text 14">
            <a:extLst>
              <a:ext uri="{FF2B5EF4-FFF2-40B4-BE49-F238E27FC236}">
                <a16:creationId xmlns:a16="http://schemas.microsoft.com/office/drawing/2014/main" id="{7943F962-DC98-EE33-D742-226D60A93D1A}"/>
              </a:ext>
            </a:extLst>
          </p:cNvPr>
          <p:cNvSpPr/>
          <p:nvPr/>
        </p:nvSpPr>
        <p:spPr>
          <a:xfrm>
            <a:off x="480060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18" name="Text 15">
            <a:extLst>
              <a:ext uri="{FF2B5EF4-FFF2-40B4-BE49-F238E27FC236}">
                <a16:creationId xmlns:a16="http://schemas.microsoft.com/office/drawing/2014/main" id="{A855325A-F983-3938-3CA4-5311E1656863}"/>
              </a:ext>
            </a:extLst>
          </p:cNvPr>
          <p:cNvSpPr/>
          <p:nvPr/>
        </p:nvSpPr>
        <p:spPr>
          <a:xfrm>
            <a:off x="480060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21" name="Text 18">
            <a:extLst>
              <a:ext uri="{FF2B5EF4-FFF2-40B4-BE49-F238E27FC236}">
                <a16:creationId xmlns:a16="http://schemas.microsoft.com/office/drawing/2014/main" id="{56ABD472-9328-215B-9C4B-A959F70357C4}"/>
              </a:ext>
            </a:extLst>
          </p:cNvPr>
          <p:cNvSpPr/>
          <p:nvPr/>
        </p:nvSpPr>
        <p:spPr>
          <a:xfrm>
            <a:off x="6903720" y="3822192"/>
            <a:ext cx="1554480" cy="457200"/>
          </a:xfrm>
          <a:prstGeom prst="rect">
            <a:avLst/>
          </a:prstGeom>
          <a:noFill/>
          <a:ln/>
        </p:spPr>
        <p:txBody>
          <a:bodyPr wrap="square" lIns="0" tIns="0" rIns="0" bIns="0" rtlCol="0" anchor="ctr"/>
          <a:lstStyle/>
          <a:p>
            <a:pPr marL="0" indent="0">
              <a:buNone/>
            </a:pPr>
            <a:endParaRPr lang="en-US" sz="2800" dirty="0"/>
          </a:p>
        </p:txBody>
      </p:sp>
      <p:sp>
        <p:nvSpPr>
          <p:cNvPr id="22" name="Text 19">
            <a:extLst>
              <a:ext uri="{FF2B5EF4-FFF2-40B4-BE49-F238E27FC236}">
                <a16:creationId xmlns:a16="http://schemas.microsoft.com/office/drawing/2014/main" id="{12956C3A-1CC4-76D1-EA76-428DF83B24AA}"/>
              </a:ext>
            </a:extLst>
          </p:cNvPr>
          <p:cNvSpPr/>
          <p:nvPr/>
        </p:nvSpPr>
        <p:spPr>
          <a:xfrm>
            <a:off x="6903720" y="4279392"/>
            <a:ext cx="1554480" cy="320040"/>
          </a:xfrm>
          <a:prstGeom prst="rect">
            <a:avLst/>
          </a:prstGeom>
          <a:noFill/>
          <a:ln/>
        </p:spPr>
        <p:txBody>
          <a:bodyPr wrap="square" lIns="0" tIns="0" rIns="0" bIns="0" rtlCol="0" anchor="ctr"/>
          <a:lstStyle/>
          <a:p>
            <a:pPr marL="0" indent="0">
              <a:buNone/>
            </a:pPr>
            <a:endParaRPr lang="en-US" sz="1100" dirty="0"/>
          </a:p>
        </p:txBody>
      </p:sp>
      <p:sp>
        <p:nvSpPr>
          <p:cNvPr id="23" name="Text 20">
            <a:extLst>
              <a:ext uri="{FF2B5EF4-FFF2-40B4-BE49-F238E27FC236}">
                <a16:creationId xmlns:a16="http://schemas.microsoft.com/office/drawing/2014/main" id="{F384C2BD-8BC4-3F46-1B99-DEC360C0F720}"/>
              </a:ext>
            </a:extLst>
          </p:cNvPr>
          <p:cNvSpPr/>
          <p:nvPr/>
        </p:nvSpPr>
        <p:spPr>
          <a:xfrm>
            <a:off x="8046720" y="4800600"/>
            <a:ext cx="914400" cy="274320"/>
          </a:xfrm>
          <a:prstGeom prst="rect">
            <a:avLst/>
          </a:prstGeom>
          <a:noFill/>
          <a:ln/>
        </p:spPr>
        <p:txBody>
          <a:bodyPr wrap="square" rtlCol="0" anchor="ctr"/>
          <a:lstStyle/>
          <a:p>
            <a:pPr marL="0" indent="0" algn="r">
              <a:buNone/>
            </a:pPr>
            <a:endParaRPr lang="en-US" sz="900" dirty="0"/>
          </a:p>
        </p:txBody>
      </p:sp>
      <p:sp>
        <p:nvSpPr>
          <p:cNvPr id="24" name="Text 21">
            <a:extLst>
              <a:ext uri="{FF2B5EF4-FFF2-40B4-BE49-F238E27FC236}">
                <a16:creationId xmlns:a16="http://schemas.microsoft.com/office/drawing/2014/main" id="{A887CA17-0284-184E-AE87-ACCD6D896081}"/>
              </a:ext>
            </a:extLst>
          </p:cNvPr>
          <p:cNvSpPr/>
          <p:nvPr/>
        </p:nvSpPr>
        <p:spPr>
          <a:xfrm>
            <a:off x="457200" y="4800600"/>
            <a:ext cx="2286000" cy="274320"/>
          </a:xfrm>
          <a:prstGeom prst="rect">
            <a:avLst/>
          </a:prstGeom>
          <a:noFill/>
          <a:ln/>
        </p:spPr>
        <p:txBody>
          <a:bodyPr wrap="square" rtlCol="0" anchor="ctr"/>
          <a:lstStyle/>
          <a:p>
            <a:pPr marL="0" indent="0" algn="l">
              <a:buNone/>
            </a:pPr>
            <a:endParaRPr lang="en-US" sz="900" dirty="0"/>
          </a:p>
        </p:txBody>
      </p:sp>
      <p:sp>
        <p:nvSpPr>
          <p:cNvPr id="8" name="Text 2">
            <a:extLst>
              <a:ext uri="{FF2B5EF4-FFF2-40B4-BE49-F238E27FC236}">
                <a16:creationId xmlns:a16="http://schemas.microsoft.com/office/drawing/2014/main" id="{B469E6D7-0D62-8469-FCB3-FFF06FCDF4E3}"/>
              </a:ext>
            </a:extLst>
          </p:cNvPr>
          <p:cNvSpPr/>
          <p:nvPr/>
        </p:nvSpPr>
        <p:spPr>
          <a:xfrm>
            <a:off x="112129" y="386334"/>
            <a:ext cx="3206456"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rPr>
              <a:t>Track Tickets Raised</a:t>
            </a:r>
            <a:endParaRPr lang="en-US" sz="2800" dirty="0"/>
          </a:p>
        </p:txBody>
      </p:sp>
      <p:pic>
        <p:nvPicPr>
          <p:cNvPr id="7" name="Picture 6">
            <a:extLst>
              <a:ext uri="{FF2B5EF4-FFF2-40B4-BE49-F238E27FC236}">
                <a16:creationId xmlns:a16="http://schemas.microsoft.com/office/drawing/2014/main" id="{8B1751FF-4D22-FC8E-2538-90C8835CCAE2}"/>
              </a:ext>
            </a:extLst>
          </p:cNvPr>
          <p:cNvPicPr>
            <a:picLocks noChangeAspect="1"/>
          </p:cNvPicPr>
          <p:nvPr/>
        </p:nvPicPr>
        <p:blipFill>
          <a:blip r:embed="rId3"/>
          <a:stretch>
            <a:fillRect/>
          </a:stretch>
        </p:blipFill>
        <p:spPr>
          <a:xfrm>
            <a:off x="3200400" y="811531"/>
            <a:ext cx="5681113" cy="3665926"/>
          </a:xfrm>
          <a:prstGeom prst="rect">
            <a:avLst/>
          </a:prstGeom>
        </p:spPr>
      </p:pic>
    </p:spTree>
    <p:extLst>
      <p:ext uri="{BB962C8B-B14F-4D97-AF65-F5344CB8AC3E}">
        <p14:creationId xmlns:p14="http://schemas.microsoft.com/office/powerpoint/2010/main" val="3675595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C99"/>
          </a:solidFill>
          <a:ln/>
        </p:spPr>
        <p:txBody>
          <a:bodyPr/>
          <a:lstStyle/>
          <a:p>
            <a:endParaRPr lang="en-IN"/>
          </a:p>
        </p:txBody>
      </p:sp>
      <p:sp>
        <p:nvSpPr>
          <p:cNvPr id="3" name="Shape 1"/>
          <p:cNvSpPr/>
          <p:nvPr/>
        </p:nvSpPr>
        <p:spPr>
          <a:xfrm>
            <a:off x="0" y="5052060"/>
            <a:ext cx="9144000" cy="91440"/>
          </a:xfrm>
          <a:prstGeom prst="rect">
            <a:avLst/>
          </a:prstGeom>
          <a:solidFill>
            <a:srgbClr val="0C7C99"/>
          </a:solidFill>
          <a:ln/>
        </p:spPr>
        <p:txBody>
          <a:bodyPr/>
          <a:lstStyle/>
          <a:p>
            <a:endParaRPr lang="en-IN"/>
          </a:p>
        </p:txBody>
      </p:sp>
      <p:sp>
        <p:nvSpPr>
          <p:cNvPr id="4" name="Text 2"/>
          <p:cNvSpPr/>
          <p:nvPr/>
        </p:nvSpPr>
        <p:spPr>
          <a:xfrm>
            <a:off x="0" y="1097280"/>
            <a:ext cx="9144000" cy="914400"/>
          </a:xfrm>
          <a:prstGeom prst="rect">
            <a:avLst/>
          </a:prstGeom>
          <a:noFill/>
          <a:ln/>
        </p:spPr>
        <p:txBody>
          <a:bodyPr wrap="square"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5" name="Text 3"/>
          <p:cNvSpPr/>
          <p:nvPr/>
        </p:nvSpPr>
        <p:spPr>
          <a:xfrm>
            <a:off x="0" y="2011680"/>
            <a:ext cx="9144000" cy="457200"/>
          </a:xfrm>
          <a:prstGeom prst="rect">
            <a:avLst/>
          </a:prstGeom>
          <a:noFill/>
          <a:ln/>
        </p:spPr>
        <p:txBody>
          <a:bodyPr wrap="square" rtlCol="0" anchor="ctr"/>
          <a:lstStyle/>
          <a:p>
            <a:pPr marL="0" indent="0" algn="ctr">
              <a:buNone/>
            </a:pPr>
            <a:r>
              <a:rPr lang="en-US" sz="1600" dirty="0">
                <a:solidFill>
                  <a:srgbClr val="14A3C7"/>
                </a:solidFill>
                <a:latin typeface="Calibri" pitchFamily="34" charset="0"/>
                <a:ea typeface="Calibri" pitchFamily="34" charset="-122"/>
                <a:cs typeface="Calibri" pitchFamily="34" charset="-120"/>
              </a:rPr>
              <a:t>SCFMS — Smart Campus Facility Management System</a:t>
            </a:r>
            <a:endParaRPr lang="en-US" sz="1600" dirty="0"/>
          </a:p>
        </p:txBody>
      </p:sp>
      <p:sp>
        <p:nvSpPr>
          <p:cNvPr id="6" name="Shape 4"/>
          <p:cNvSpPr/>
          <p:nvPr/>
        </p:nvSpPr>
        <p:spPr>
          <a:xfrm>
            <a:off x="914400" y="2834640"/>
            <a:ext cx="1691640" cy="1005840"/>
          </a:xfrm>
          <a:prstGeom prst="rect">
            <a:avLst/>
          </a:prstGeom>
          <a:solidFill>
            <a:srgbClr val="122240"/>
          </a:solidFill>
          <a:ln/>
          <a:effectLst>
            <a:outerShdw blurRad="101600" dist="38100" dir="8100000" algn="bl" rotWithShape="0">
              <a:srgbClr val="000000">
                <a:alpha val="18000"/>
              </a:srgbClr>
            </a:outerShdw>
          </a:effectLst>
        </p:spPr>
        <p:txBody>
          <a:bodyPr/>
          <a:lstStyle/>
          <a:p>
            <a:endParaRPr lang="en-IN"/>
          </a:p>
        </p:txBody>
      </p:sp>
      <p:sp>
        <p:nvSpPr>
          <p:cNvPr id="7" name="Text 5"/>
          <p:cNvSpPr/>
          <p:nvPr/>
        </p:nvSpPr>
        <p:spPr>
          <a:xfrm>
            <a:off x="914400" y="2852928"/>
            <a:ext cx="1691640" cy="548640"/>
          </a:xfrm>
          <a:prstGeom prst="rect">
            <a:avLst/>
          </a:prstGeom>
          <a:noFill/>
          <a:ln/>
        </p:spPr>
        <p:txBody>
          <a:bodyPr wrap="square" rtlCol="0" anchor="ctr"/>
          <a:lstStyle/>
          <a:p>
            <a:pPr marL="0" indent="0" algn="ctr">
              <a:buNone/>
            </a:pPr>
            <a:r>
              <a:rPr lang="en-US" sz="3000" b="1" dirty="0">
                <a:solidFill>
                  <a:srgbClr val="22C988"/>
                </a:solidFill>
                <a:latin typeface="Cambria" pitchFamily="34" charset="0"/>
                <a:ea typeface="Cambria" pitchFamily="34" charset="-122"/>
                <a:cs typeface="Cambria" pitchFamily="34" charset="-120"/>
              </a:rPr>
              <a:t>6</a:t>
            </a:r>
            <a:endParaRPr lang="en-US" sz="3000" dirty="0"/>
          </a:p>
        </p:txBody>
      </p:sp>
      <p:sp>
        <p:nvSpPr>
          <p:cNvPr id="8" name="Text 6"/>
          <p:cNvSpPr/>
          <p:nvPr/>
        </p:nvSpPr>
        <p:spPr>
          <a:xfrm>
            <a:off x="914400" y="3383280"/>
            <a:ext cx="1691640" cy="411480"/>
          </a:xfrm>
          <a:prstGeom prst="rect">
            <a:avLst/>
          </a:prstGeom>
          <a:noFill/>
          <a:ln/>
        </p:spPr>
        <p:txBody>
          <a:bodyPr wrap="square" rtlCol="0" anchor="t"/>
          <a:lstStyle/>
          <a:p>
            <a:pPr marL="0" indent="0" algn="ctr">
              <a:buNone/>
            </a:pPr>
            <a:r>
              <a:rPr lang="en-US" sz="1000" dirty="0">
                <a:solidFill>
                  <a:srgbClr val="A3B8CC"/>
                </a:solidFill>
                <a:latin typeface="Calibri" pitchFamily="34" charset="0"/>
                <a:ea typeface="Calibri" pitchFamily="34" charset="-122"/>
                <a:cs typeface="Calibri" pitchFamily="34" charset="-120"/>
              </a:rPr>
              <a:t>Use Cases</a:t>
            </a:r>
            <a:endParaRPr lang="en-US" sz="1000" dirty="0"/>
          </a:p>
          <a:p>
            <a:pPr marL="0" indent="0" algn="ctr">
              <a:buNone/>
            </a:pPr>
            <a:r>
              <a:rPr lang="en-US" sz="1000" dirty="0">
                <a:solidFill>
                  <a:srgbClr val="A3B8CC"/>
                </a:solidFill>
                <a:latin typeface="Calibri" pitchFamily="34" charset="0"/>
                <a:ea typeface="Calibri" pitchFamily="34" charset="-122"/>
                <a:cs typeface="Calibri" pitchFamily="34" charset="-120"/>
              </a:rPr>
              <a:t>Implemented</a:t>
            </a:r>
            <a:endParaRPr lang="en-US" sz="1000" dirty="0"/>
          </a:p>
        </p:txBody>
      </p:sp>
      <p:sp>
        <p:nvSpPr>
          <p:cNvPr id="9" name="Shape 7"/>
          <p:cNvSpPr/>
          <p:nvPr/>
        </p:nvSpPr>
        <p:spPr>
          <a:xfrm>
            <a:off x="2880360" y="2834640"/>
            <a:ext cx="1691640" cy="1005840"/>
          </a:xfrm>
          <a:prstGeom prst="rect">
            <a:avLst/>
          </a:prstGeom>
          <a:solidFill>
            <a:srgbClr val="122240"/>
          </a:solidFill>
          <a:ln/>
          <a:effectLst>
            <a:outerShdw blurRad="101600" dist="38100" dir="8100000" algn="bl" rotWithShape="0">
              <a:srgbClr val="000000">
                <a:alpha val="18000"/>
              </a:srgbClr>
            </a:outerShdw>
          </a:effectLst>
        </p:spPr>
        <p:txBody>
          <a:bodyPr/>
          <a:lstStyle/>
          <a:p>
            <a:endParaRPr lang="en-IN"/>
          </a:p>
        </p:txBody>
      </p:sp>
      <p:sp>
        <p:nvSpPr>
          <p:cNvPr id="10" name="Text 8"/>
          <p:cNvSpPr/>
          <p:nvPr/>
        </p:nvSpPr>
        <p:spPr>
          <a:xfrm>
            <a:off x="2880360" y="2852928"/>
            <a:ext cx="1691640" cy="548640"/>
          </a:xfrm>
          <a:prstGeom prst="rect">
            <a:avLst/>
          </a:prstGeom>
          <a:noFill/>
          <a:ln/>
        </p:spPr>
        <p:txBody>
          <a:bodyPr wrap="square" rtlCol="0" anchor="ctr"/>
          <a:lstStyle/>
          <a:p>
            <a:pPr marL="0" indent="0" algn="ctr">
              <a:buNone/>
            </a:pPr>
            <a:r>
              <a:rPr lang="en-US" sz="3000" b="1" dirty="0">
                <a:solidFill>
                  <a:srgbClr val="22C988"/>
                </a:solidFill>
                <a:latin typeface="Cambria" pitchFamily="34" charset="0"/>
                <a:ea typeface="Cambria" pitchFamily="34" charset="-122"/>
                <a:cs typeface="Cambria" pitchFamily="34" charset="-120"/>
              </a:rPr>
              <a:t>5</a:t>
            </a:r>
            <a:endParaRPr lang="en-US" sz="3000" dirty="0"/>
          </a:p>
        </p:txBody>
      </p:sp>
      <p:sp>
        <p:nvSpPr>
          <p:cNvPr id="11" name="Text 9"/>
          <p:cNvSpPr/>
          <p:nvPr/>
        </p:nvSpPr>
        <p:spPr>
          <a:xfrm>
            <a:off x="2880360" y="3383280"/>
            <a:ext cx="1691640" cy="411480"/>
          </a:xfrm>
          <a:prstGeom prst="rect">
            <a:avLst/>
          </a:prstGeom>
          <a:noFill/>
          <a:ln/>
        </p:spPr>
        <p:txBody>
          <a:bodyPr wrap="square" rtlCol="0" anchor="t"/>
          <a:lstStyle/>
          <a:p>
            <a:pPr marL="0" indent="0" algn="ctr">
              <a:buNone/>
            </a:pPr>
            <a:r>
              <a:rPr lang="en-US" sz="1000" dirty="0">
                <a:solidFill>
                  <a:srgbClr val="A3B8CC"/>
                </a:solidFill>
                <a:latin typeface="Calibri" pitchFamily="34" charset="0"/>
                <a:ea typeface="Calibri" pitchFamily="34" charset="-122"/>
                <a:cs typeface="Calibri" pitchFamily="34" charset="-120"/>
              </a:rPr>
              <a:t>UML Model</a:t>
            </a:r>
            <a:endParaRPr lang="en-US" sz="1000" dirty="0"/>
          </a:p>
          <a:p>
            <a:pPr marL="0" indent="0" algn="ctr">
              <a:buNone/>
            </a:pPr>
            <a:r>
              <a:rPr lang="en-US" sz="1000" dirty="0">
                <a:solidFill>
                  <a:srgbClr val="A3B8CC"/>
                </a:solidFill>
                <a:latin typeface="Calibri" pitchFamily="34" charset="0"/>
                <a:ea typeface="Calibri" pitchFamily="34" charset="-122"/>
                <a:cs typeface="Calibri" pitchFamily="34" charset="-120"/>
              </a:rPr>
              <a:t>Types</a:t>
            </a:r>
            <a:endParaRPr lang="en-US" sz="1000" dirty="0"/>
          </a:p>
        </p:txBody>
      </p:sp>
      <p:sp>
        <p:nvSpPr>
          <p:cNvPr id="12" name="Shape 10"/>
          <p:cNvSpPr/>
          <p:nvPr/>
        </p:nvSpPr>
        <p:spPr>
          <a:xfrm>
            <a:off x="4846320" y="2834640"/>
            <a:ext cx="1691640" cy="1005840"/>
          </a:xfrm>
          <a:prstGeom prst="rect">
            <a:avLst/>
          </a:prstGeom>
          <a:solidFill>
            <a:srgbClr val="122240"/>
          </a:solidFill>
          <a:ln/>
          <a:effectLst>
            <a:outerShdw blurRad="101600" dist="38100" dir="8100000" algn="bl" rotWithShape="0">
              <a:srgbClr val="000000">
                <a:alpha val="18000"/>
              </a:srgbClr>
            </a:outerShdw>
          </a:effectLst>
        </p:spPr>
        <p:txBody>
          <a:bodyPr/>
          <a:lstStyle/>
          <a:p>
            <a:endParaRPr lang="en-IN"/>
          </a:p>
        </p:txBody>
      </p:sp>
      <p:sp>
        <p:nvSpPr>
          <p:cNvPr id="13" name="Text 11"/>
          <p:cNvSpPr/>
          <p:nvPr/>
        </p:nvSpPr>
        <p:spPr>
          <a:xfrm>
            <a:off x="4846320" y="2852928"/>
            <a:ext cx="1691640" cy="548640"/>
          </a:xfrm>
          <a:prstGeom prst="rect">
            <a:avLst/>
          </a:prstGeom>
          <a:noFill/>
          <a:ln/>
        </p:spPr>
        <p:txBody>
          <a:bodyPr wrap="square" rtlCol="0" anchor="ctr"/>
          <a:lstStyle/>
          <a:p>
            <a:pPr marL="0" indent="0" algn="ctr">
              <a:buNone/>
            </a:pPr>
            <a:r>
              <a:rPr lang="en-US" sz="3000" b="1" dirty="0">
                <a:solidFill>
                  <a:srgbClr val="22C988"/>
                </a:solidFill>
                <a:latin typeface="Cambria" pitchFamily="34" charset="0"/>
                <a:ea typeface="Cambria" pitchFamily="34" charset="-122"/>
                <a:cs typeface="Cambria" pitchFamily="34" charset="-120"/>
              </a:rPr>
              <a:t>15+</a:t>
            </a:r>
            <a:endParaRPr lang="en-US" sz="3000" dirty="0"/>
          </a:p>
        </p:txBody>
      </p:sp>
      <p:sp>
        <p:nvSpPr>
          <p:cNvPr id="14" name="Text 12"/>
          <p:cNvSpPr/>
          <p:nvPr/>
        </p:nvSpPr>
        <p:spPr>
          <a:xfrm>
            <a:off x="4846320" y="3383280"/>
            <a:ext cx="1691640" cy="411480"/>
          </a:xfrm>
          <a:prstGeom prst="rect">
            <a:avLst/>
          </a:prstGeom>
          <a:noFill/>
          <a:ln/>
        </p:spPr>
        <p:txBody>
          <a:bodyPr wrap="square" rtlCol="0" anchor="t"/>
          <a:lstStyle/>
          <a:p>
            <a:pPr marL="0" indent="0" algn="ctr">
              <a:buNone/>
            </a:pPr>
            <a:r>
              <a:rPr lang="en-US" sz="1000" dirty="0">
                <a:solidFill>
                  <a:srgbClr val="A3B8CC"/>
                </a:solidFill>
                <a:latin typeface="Calibri" pitchFamily="34" charset="0"/>
                <a:ea typeface="Calibri" pitchFamily="34" charset="-122"/>
                <a:cs typeface="Calibri" pitchFamily="34" charset="-120"/>
              </a:rPr>
              <a:t>OO Classes</a:t>
            </a:r>
            <a:endParaRPr lang="en-US" sz="1000" dirty="0"/>
          </a:p>
          <a:p>
            <a:pPr marL="0" indent="0" algn="ctr">
              <a:buNone/>
            </a:pPr>
            <a:r>
              <a:rPr lang="en-US" sz="1000" dirty="0">
                <a:solidFill>
                  <a:srgbClr val="A3B8CC"/>
                </a:solidFill>
                <a:latin typeface="Calibri" pitchFamily="34" charset="0"/>
                <a:ea typeface="Calibri" pitchFamily="34" charset="-122"/>
                <a:cs typeface="Calibri" pitchFamily="34" charset="-120"/>
              </a:rPr>
              <a:t>(BCE Pattern)</a:t>
            </a:r>
            <a:endParaRPr lang="en-US" sz="1000" dirty="0"/>
          </a:p>
        </p:txBody>
      </p:sp>
      <p:sp>
        <p:nvSpPr>
          <p:cNvPr id="15" name="Shape 13"/>
          <p:cNvSpPr/>
          <p:nvPr/>
        </p:nvSpPr>
        <p:spPr>
          <a:xfrm>
            <a:off x="6812280" y="2834640"/>
            <a:ext cx="1691640" cy="1005840"/>
          </a:xfrm>
          <a:prstGeom prst="rect">
            <a:avLst/>
          </a:prstGeom>
          <a:solidFill>
            <a:srgbClr val="122240"/>
          </a:solidFill>
          <a:ln/>
          <a:effectLst>
            <a:outerShdw blurRad="101600" dist="38100" dir="8100000" algn="bl" rotWithShape="0">
              <a:srgbClr val="000000">
                <a:alpha val="18000"/>
              </a:srgbClr>
            </a:outerShdw>
          </a:effectLst>
        </p:spPr>
        <p:txBody>
          <a:bodyPr/>
          <a:lstStyle/>
          <a:p>
            <a:endParaRPr lang="en-IN"/>
          </a:p>
        </p:txBody>
      </p:sp>
      <p:sp>
        <p:nvSpPr>
          <p:cNvPr id="16" name="Text 14"/>
          <p:cNvSpPr/>
          <p:nvPr/>
        </p:nvSpPr>
        <p:spPr>
          <a:xfrm>
            <a:off x="6812280" y="2852928"/>
            <a:ext cx="1691640" cy="548640"/>
          </a:xfrm>
          <a:prstGeom prst="rect">
            <a:avLst/>
          </a:prstGeom>
          <a:noFill/>
          <a:ln/>
        </p:spPr>
        <p:txBody>
          <a:bodyPr wrap="square" rtlCol="0" anchor="ctr"/>
          <a:lstStyle/>
          <a:p>
            <a:pPr marL="0" indent="0" algn="ctr">
              <a:buNone/>
            </a:pPr>
            <a:r>
              <a:rPr lang="en-US" sz="3000" b="1" dirty="0">
                <a:solidFill>
                  <a:srgbClr val="22C988"/>
                </a:solidFill>
                <a:latin typeface="Cambria" pitchFamily="34" charset="0"/>
                <a:ea typeface="Cambria" pitchFamily="34" charset="-122"/>
                <a:cs typeface="Cambria" pitchFamily="34" charset="-120"/>
              </a:rPr>
              <a:t>1</a:t>
            </a:r>
            <a:endParaRPr lang="en-US" sz="3000" dirty="0"/>
          </a:p>
        </p:txBody>
      </p:sp>
      <p:sp>
        <p:nvSpPr>
          <p:cNvPr id="17" name="Text 15"/>
          <p:cNvSpPr/>
          <p:nvPr/>
        </p:nvSpPr>
        <p:spPr>
          <a:xfrm>
            <a:off x="6812280" y="3383280"/>
            <a:ext cx="1691640" cy="411480"/>
          </a:xfrm>
          <a:prstGeom prst="rect">
            <a:avLst/>
          </a:prstGeom>
          <a:noFill/>
          <a:ln/>
        </p:spPr>
        <p:txBody>
          <a:bodyPr wrap="square" rtlCol="0" anchor="t"/>
          <a:lstStyle/>
          <a:p>
            <a:pPr marL="0" indent="0" algn="ctr">
              <a:buNone/>
            </a:pPr>
            <a:r>
              <a:rPr lang="en-US" sz="1000" dirty="0">
                <a:solidFill>
                  <a:srgbClr val="A3B8CC"/>
                </a:solidFill>
                <a:latin typeface="Calibri" pitchFamily="34" charset="0"/>
                <a:ea typeface="Calibri" pitchFamily="34" charset="-122"/>
                <a:cs typeface="Calibri" pitchFamily="34" charset="-120"/>
              </a:rPr>
              <a:t>Working</a:t>
            </a:r>
            <a:endParaRPr lang="en-US" sz="1000" dirty="0"/>
          </a:p>
          <a:p>
            <a:pPr marL="0" indent="0" algn="ctr">
              <a:buNone/>
            </a:pPr>
            <a:r>
              <a:rPr lang="en-US" sz="1000" dirty="0">
                <a:solidFill>
                  <a:srgbClr val="A3B8CC"/>
                </a:solidFill>
                <a:latin typeface="Calibri" pitchFamily="34" charset="0"/>
                <a:ea typeface="Calibri" pitchFamily="34" charset="-122"/>
                <a:cs typeface="Calibri" pitchFamily="34" charset="-120"/>
              </a:rPr>
              <a:t>Prototype</a:t>
            </a:r>
            <a:endParaRPr lang="en-US" sz="1000" dirty="0"/>
          </a:p>
        </p:txBody>
      </p:sp>
      <p:sp>
        <p:nvSpPr>
          <p:cNvPr id="18" name="Text 16"/>
          <p:cNvSpPr/>
          <p:nvPr/>
        </p:nvSpPr>
        <p:spPr>
          <a:xfrm>
            <a:off x="0" y="4206240"/>
            <a:ext cx="9144000" cy="320040"/>
          </a:xfrm>
          <a:prstGeom prst="rect">
            <a:avLst/>
          </a:prstGeom>
          <a:noFill/>
          <a:ln/>
        </p:spPr>
        <p:txBody>
          <a:bodyPr wrap="square" rtlCol="0" anchor="ctr"/>
          <a:lstStyle/>
          <a:p>
            <a:pPr marL="0" indent="0" algn="ctr">
              <a:buNone/>
            </a:pPr>
            <a:r>
              <a:rPr lang="en-US" sz="1200" dirty="0">
                <a:solidFill>
                  <a:srgbClr val="5A7A96"/>
                </a:solidFill>
                <a:latin typeface="Calibri" pitchFamily="34" charset="0"/>
                <a:ea typeface="Calibri" pitchFamily="34" charset="-122"/>
                <a:cs typeface="Calibri" pitchFamily="34" charset="-120"/>
              </a:rPr>
              <a:t>Sasi Sai Nadh Boddu  |  GWID: G22742105  |  Group 24</a:t>
            </a:r>
            <a:endParaRPr lang="en-US" sz="1200" dirty="0"/>
          </a:p>
        </p:txBody>
      </p:sp>
      <p:sp>
        <p:nvSpPr>
          <p:cNvPr id="19" name="Text 17"/>
          <p:cNvSpPr/>
          <p:nvPr/>
        </p:nvSpPr>
        <p:spPr>
          <a:xfrm>
            <a:off x="0" y="4572000"/>
            <a:ext cx="9144000" cy="320040"/>
          </a:xfrm>
          <a:prstGeom prst="rect">
            <a:avLst/>
          </a:prstGeom>
          <a:noFill/>
          <a:ln/>
        </p:spPr>
        <p:txBody>
          <a:bodyPr wrap="square" rtlCol="0" anchor="ctr"/>
          <a:lstStyle/>
          <a:p>
            <a:pPr marL="0" indent="0" algn="ctr">
              <a:buNone/>
            </a:pPr>
            <a:r>
              <a:rPr lang="en-US" sz="1400" i="1" dirty="0">
                <a:solidFill>
                  <a:srgbClr val="14A3C7"/>
                </a:solidFill>
                <a:latin typeface="Calibri" pitchFamily="34" charset="0"/>
                <a:ea typeface="Calibri" pitchFamily="34" charset="-122"/>
                <a:cs typeface="Calibri" pitchFamily="34" charset="-120"/>
              </a:rPr>
              <a:t>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964</Words>
  <Application>Microsoft Office PowerPoint</Application>
  <PresentationFormat>On-screen Show (16:9)</PresentationFormat>
  <Paragraphs>192</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Cambria</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SCFMS - Smart Campus Facility Management System</dc:title>
  <dc:subject>PptxGenJS Presentation</dc:subject>
  <dc:creator>Sasi Sai Nadh Boddu</dc:creator>
  <cp:lastModifiedBy>Sai Nadh</cp:lastModifiedBy>
  <cp:revision>3</cp:revision>
  <dcterms:created xsi:type="dcterms:W3CDTF">2026-04-12T01:27:28Z</dcterms:created>
  <dcterms:modified xsi:type="dcterms:W3CDTF">2026-04-16T23:27:34Z</dcterms:modified>
</cp:coreProperties>
</file>