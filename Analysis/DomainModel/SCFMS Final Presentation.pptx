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922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ABC9C"/>
          </a:solidFill>
          <a:ln w="12700">
            <a:solidFill>
              <a:srgbClr val="1ABC9C"/>
            </a:solidFill>
            <a:prstDash val="solid"/>
          </a:ln>
        </p:spPr>
        <p:txBody>
          <a:bodyPr/>
          <a:lstStyle/>
          <a:p>
            <a:endParaRPr lang="en-IN"/>
          </a:p>
        </p:txBody>
      </p:sp>
      <p:sp>
        <p:nvSpPr>
          <p:cNvPr id="3" name="Shape 1"/>
          <p:cNvSpPr/>
          <p:nvPr/>
        </p:nvSpPr>
        <p:spPr>
          <a:xfrm>
            <a:off x="0" y="0"/>
            <a:ext cx="9144000" cy="54864"/>
          </a:xfrm>
          <a:prstGeom prst="rect">
            <a:avLst/>
          </a:prstGeom>
          <a:solidFill>
            <a:srgbClr val="1ABC9C"/>
          </a:solidFill>
          <a:ln w="12700">
            <a:solidFill>
              <a:srgbClr val="1ABC9C"/>
            </a:solidFill>
            <a:prstDash val="solid"/>
          </a:ln>
        </p:spPr>
        <p:txBody>
          <a:bodyPr/>
          <a:lstStyle/>
          <a:p>
            <a:endParaRPr lang="en-IN"/>
          </a:p>
        </p:txBody>
      </p:sp>
      <p:sp>
        <p:nvSpPr>
          <p:cNvPr id="4" name="Text 2"/>
          <p:cNvSpPr/>
          <p:nvPr/>
        </p:nvSpPr>
        <p:spPr>
          <a:xfrm>
            <a:off x="411480" y="548640"/>
            <a:ext cx="8229600" cy="1280160"/>
          </a:xfrm>
          <a:prstGeom prst="rect">
            <a:avLst/>
          </a:prstGeom>
          <a:noFill/>
          <a:ln/>
        </p:spPr>
        <p:txBody>
          <a:bodyPr wrap="square" lIns="0" tIns="0" rIns="0" bIns="0" rtlCol="0" anchor="ctr"/>
          <a:lstStyle/>
          <a:p>
            <a:pPr marL="0" indent="0" algn="l">
              <a:buNone/>
            </a:pPr>
            <a:r>
              <a:rPr lang="en-US" sz="8800" b="1" kern="0" spc="1000" dirty="0">
                <a:solidFill>
                  <a:srgbClr val="2E86C1"/>
                </a:solidFill>
                <a:latin typeface="Calibri" pitchFamily="34" charset="0"/>
                <a:ea typeface="Calibri" pitchFamily="34" charset="-122"/>
                <a:cs typeface="Calibri" pitchFamily="34" charset="-120"/>
              </a:rPr>
              <a:t>SCFMS</a:t>
            </a:r>
            <a:endParaRPr lang="en-US" sz="8800" dirty="0"/>
          </a:p>
        </p:txBody>
      </p:sp>
      <p:sp>
        <p:nvSpPr>
          <p:cNvPr id="5" name="Text 3"/>
          <p:cNvSpPr/>
          <p:nvPr/>
        </p:nvSpPr>
        <p:spPr>
          <a:xfrm>
            <a:off x="411480" y="1737360"/>
            <a:ext cx="7315200" cy="457200"/>
          </a:xfrm>
          <a:prstGeom prst="rect">
            <a:avLst/>
          </a:prstGeom>
          <a:noFill/>
          <a:ln/>
        </p:spPr>
        <p:txBody>
          <a:bodyPr wrap="square" lIns="0" tIns="0" rIns="0" bIns="0" rtlCol="0" anchor="ctr"/>
          <a:lstStyle/>
          <a:p>
            <a:pPr marL="0" indent="0" algn="l">
              <a:buNone/>
            </a:pPr>
            <a:r>
              <a:rPr lang="en-US" sz="2200" dirty="0">
                <a:solidFill>
                  <a:srgbClr val="AED6F1"/>
                </a:solidFill>
                <a:latin typeface="Calibri" pitchFamily="34" charset="0"/>
                <a:ea typeface="Calibri" pitchFamily="34" charset="-122"/>
                <a:cs typeface="Calibri" pitchFamily="34" charset="-120"/>
              </a:rPr>
              <a:t>Smart Campus Facility Management System</a:t>
            </a:r>
            <a:endParaRPr lang="en-US" sz="2200" dirty="0"/>
          </a:p>
        </p:txBody>
      </p:sp>
      <p:sp>
        <p:nvSpPr>
          <p:cNvPr id="6" name="Text 4"/>
          <p:cNvSpPr/>
          <p:nvPr/>
        </p:nvSpPr>
        <p:spPr>
          <a:xfrm>
            <a:off x="411480" y="2240280"/>
            <a:ext cx="6858000" cy="365760"/>
          </a:xfrm>
          <a:prstGeom prst="rect">
            <a:avLst/>
          </a:prstGeom>
          <a:noFill/>
          <a:ln/>
        </p:spPr>
        <p:txBody>
          <a:bodyPr wrap="square" lIns="0" tIns="0" rIns="0" bIns="0" rtlCol="0" anchor="ctr"/>
          <a:lstStyle/>
          <a:p>
            <a:pPr marL="0" indent="0" algn="l">
              <a:buNone/>
            </a:pPr>
            <a:r>
              <a:rPr lang="en-US" sz="1400" i="1" dirty="0">
                <a:solidFill>
                  <a:srgbClr val="7F8C8D"/>
                </a:solidFill>
                <a:latin typeface="Calibri" pitchFamily="34" charset="0"/>
                <a:ea typeface="Calibri" pitchFamily="34" charset="-122"/>
                <a:cs typeface="Calibri" pitchFamily="34" charset="-120"/>
              </a:rPr>
              <a:t>Intelligent Solutions for Modern Campus Operations</a:t>
            </a:r>
            <a:endParaRPr lang="en-US" sz="1400" dirty="0"/>
          </a:p>
        </p:txBody>
      </p:sp>
      <p:sp>
        <p:nvSpPr>
          <p:cNvPr id="7" name="Shape 5"/>
          <p:cNvSpPr/>
          <p:nvPr/>
        </p:nvSpPr>
        <p:spPr>
          <a:xfrm>
            <a:off x="411480" y="2788920"/>
            <a:ext cx="4114800" cy="36576"/>
          </a:xfrm>
          <a:prstGeom prst="rect">
            <a:avLst/>
          </a:prstGeom>
          <a:solidFill>
            <a:srgbClr val="2E86C1"/>
          </a:solidFill>
          <a:ln w="12700">
            <a:solidFill>
              <a:srgbClr val="2E86C1"/>
            </a:solidFill>
            <a:prstDash val="solid"/>
          </a:ln>
        </p:spPr>
        <p:txBody>
          <a:bodyPr/>
          <a:lstStyle/>
          <a:p>
            <a:endParaRPr lang="en-IN"/>
          </a:p>
        </p:txBody>
      </p:sp>
      <p:sp>
        <p:nvSpPr>
          <p:cNvPr id="8" name="Text 6"/>
          <p:cNvSpPr/>
          <p:nvPr/>
        </p:nvSpPr>
        <p:spPr>
          <a:xfrm>
            <a:off x="411480" y="2926080"/>
            <a:ext cx="6400800" cy="320040"/>
          </a:xfrm>
          <a:prstGeom prst="rect">
            <a:avLst/>
          </a:prstGeom>
          <a:noFill/>
          <a:ln/>
        </p:spPr>
        <p:txBody>
          <a:bodyPr wrap="square" lIns="0" tIns="0" rIns="0" bIns="0" rtlCol="0" anchor="ctr"/>
          <a:lstStyle/>
          <a:p>
            <a:pPr marL="0" indent="0" algn="l">
              <a:buNone/>
            </a:pPr>
            <a:r>
              <a:rPr lang="en-US" sz="1300" dirty="0">
                <a:solidFill>
                  <a:srgbClr val="AED6F1"/>
                </a:solidFill>
                <a:latin typeface="Calibri" pitchFamily="34" charset="0"/>
                <a:ea typeface="Calibri" pitchFamily="34" charset="-122"/>
                <a:cs typeface="Calibri" pitchFamily="34" charset="-120"/>
              </a:rPr>
              <a:t>Final Project — Object Oriented Design</a:t>
            </a:r>
            <a:endParaRPr lang="en-US" sz="1300" dirty="0"/>
          </a:p>
        </p:txBody>
      </p:sp>
      <p:sp>
        <p:nvSpPr>
          <p:cNvPr id="9" name="Text 7"/>
          <p:cNvSpPr/>
          <p:nvPr/>
        </p:nvSpPr>
        <p:spPr>
          <a:xfrm>
            <a:off x="411480" y="3291840"/>
            <a:ext cx="7315200" cy="320040"/>
          </a:xfrm>
          <a:prstGeom prst="rect">
            <a:avLst/>
          </a:prstGeom>
          <a:noFill/>
          <a:ln/>
        </p:spPr>
        <p:txBody>
          <a:bodyPr wrap="square" lIns="0" tIns="0" rIns="0" bIns="0" rtlCol="0" anchor="ctr"/>
          <a:lstStyle/>
          <a:p>
            <a:pPr marL="0" indent="0" algn="l">
              <a:buNone/>
            </a:pPr>
            <a:r>
              <a:rPr lang="en-US" sz="1300" b="1" dirty="0">
                <a:solidFill>
                  <a:srgbClr val="FFFFFF"/>
                </a:solidFill>
                <a:latin typeface="Times New Roman" panose="02020603050405020304" pitchFamily="18" charset="0"/>
                <a:ea typeface="Calibri" pitchFamily="34" charset="-122"/>
                <a:cs typeface="Times New Roman" panose="02020603050405020304" pitchFamily="18" charset="0"/>
              </a:rPr>
              <a:t>Sasi Sai Nadh Boddu  |  GWID: G22742105  |  Group 24</a:t>
            </a:r>
            <a:endParaRPr lang="en-US" sz="1300" dirty="0">
              <a:latin typeface="Times New Roman" panose="02020603050405020304" pitchFamily="18" charset="0"/>
              <a:cs typeface="Times New Roman" panose="02020603050405020304" pitchFamily="18" charset="0"/>
            </a:endParaRPr>
          </a:p>
        </p:txBody>
      </p:sp>
      <p:sp>
        <p:nvSpPr>
          <p:cNvPr id="10" name="Text 8"/>
          <p:cNvSpPr/>
          <p:nvPr/>
        </p:nvSpPr>
        <p:spPr>
          <a:xfrm>
            <a:off x="411480" y="4663440"/>
            <a:ext cx="8229600" cy="320040"/>
          </a:xfrm>
          <a:prstGeom prst="rect">
            <a:avLst/>
          </a:prstGeom>
          <a:noFill/>
          <a:ln/>
        </p:spPr>
        <p:txBody>
          <a:bodyPr wrap="square" lIns="0" tIns="0" rIns="0" bIns="0" rtlCol="0" anchor="ctr"/>
          <a:lstStyle/>
          <a:p>
            <a:pPr marL="0" indent="0" algn="l">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4F72"/>
          </a:solidFill>
          <a:ln w="12700">
            <a:solidFill>
              <a:srgbClr val="1B4F72"/>
            </a:solidFill>
            <a:prstDash val="solid"/>
          </a:ln>
        </p:spPr>
        <p:txBody>
          <a:bodyPr/>
          <a:lstStyle/>
          <a:p>
            <a:endParaRPr lang="en-IN"/>
          </a:p>
        </p:txBody>
      </p:sp>
      <p:sp>
        <p:nvSpPr>
          <p:cNvPr id="3" name="Text 1"/>
          <p:cNvSpPr/>
          <p:nvPr/>
        </p:nvSpPr>
        <p:spPr>
          <a:xfrm>
            <a:off x="457200" y="182880"/>
            <a:ext cx="8229600" cy="64008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Presentation Agenda</a:t>
            </a:r>
            <a:endParaRPr lang="en-US" sz="3000" dirty="0"/>
          </a:p>
        </p:txBody>
      </p:sp>
      <p:sp>
        <p:nvSpPr>
          <p:cNvPr id="4" name="Shape 2"/>
          <p:cNvSpPr/>
          <p:nvPr/>
        </p:nvSpPr>
        <p:spPr>
          <a:xfrm>
            <a:off x="365760" y="1234440"/>
            <a:ext cx="4114800" cy="1554480"/>
          </a:xfrm>
          <a:prstGeom prst="rect">
            <a:avLst/>
          </a:prstGeom>
          <a:solidFill>
            <a:srgbClr val="FFFFFF"/>
          </a:solidFill>
          <a:ln w="12700">
            <a:solidFill>
              <a:srgbClr val="ECF0F1"/>
            </a:solidFill>
            <a:prstDash val="solid"/>
          </a:ln>
          <a:effectLst>
            <a:outerShdw blurRad="101600" dist="38100" dir="8100000" algn="bl" rotWithShape="0">
              <a:srgbClr val="000000">
                <a:alpha val="20000"/>
              </a:srgbClr>
            </a:outerShdw>
          </a:effectLst>
        </p:spPr>
        <p:txBody>
          <a:bodyPr/>
          <a:lstStyle/>
          <a:p>
            <a:endParaRPr lang="en-IN"/>
          </a:p>
        </p:txBody>
      </p:sp>
      <p:sp>
        <p:nvSpPr>
          <p:cNvPr id="5" name="Shape 3"/>
          <p:cNvSpPr/>
          <p:nvPr/>
        </p:nvSpPr>
        <p:spPr>
          <a:xfrm>
            <a:off x="365760" y="1234440"/>
            <a:ext cx="73152" cy="1554480"/>
          </a:xfrm>
          <a:prstGeom prst="rect">
            <a:avLst/>
          </a:prstGeom>
          <a:solidFill>
            <a:srgbClr val="1ABC9C"/>
          </a:solidFill>
          <a:ln w="12700">
            <a:solidFill>
              <a:srgbClr val="1ABC9C"/>
            </a:solidFill>
            <a:prstDash val="solid"/>
          </a:ln>
        </p:spPr>
        <p:txBody>
          <a:bodyPr/>
          <a:lstStyle/>
          <a:p>
            <a:endParaRPr lang="en-IN"/>
          </a:p>
        </p:txBody>
      </p:sp>
      <p:sp>
        <p:nvSpPr>
          <p:cNvPr id="6" name="Text 4"/>
          <p:cNvSpPr/>
          <p:nvPr/>
        </p:nvSpPr>
        <p:spPr>
          <a:xfrm>
            <a:off x="530352" y="1344168"/>
            <a:ext cx="640080" cy="457200"/>
          </a:xfrm>
          <a:prstGeom prst="rect">
            <a:avLst/>
          </a:prstGeom>
          <a:noFill/>
          <a:ln/>
        </p:spPr>
        <p:txBody>
          <a:bodyPr wrap="square" lIns="0" tIns="0" rIns="0" bIns="0" rtlCol="0" anchor="ctr"/>
          <a:lstStyle/>
          <a:p>
            <a:pPr marL="0" indent="0">
              <a:buNone/>
            </a:pPr>
            <a:r>
              <a:rPr lang="en-US" sz="2600" b="1" dirty="0">
                <a:solidFill>
                  <a:srgbClr val="2E86C1"/>
                </a:solidFill>
                <a:latin typeface="Calibri" pitchFamily="34" charset="0"/>
                <a:ea typeface="Calibri" pitchFamily="34" charset="-122"/>
                <a:cs typeface="Calibri" pitchFamily="34" charset="-120"/>
              </a:rPr>
              <a:t>01</a:t>
            </a:r>
            <a:endParaRPr lang="en-US" sz="2600" dirty="0"/>
          </a:p>
        </p:txBody>
      </p:sp>
      <p:sp>
        <p:nvSpPr>
          <p:cNvPr id="7" name="Text 5"/>
          <p:cNvSpPr/>
          <p:nvPr/>
        </p:nvSpPr>
        <p:spPr>
          <a:xfrm>
            <a:off x="530352" y="1783080"/>
            <a:ext cx="3657600" cy="411480"/>
          </a:xfrm>
          <a:prstGeom prst="rect">
            <a:avLst/>
          </a:prstGeom>
          <a:noFill/>
          <a:ln/>
        </p:spPr>
        <p:txBody>
          <a:bodyPr wrap="square" lIns="0" tIns="0" rIns="0" bIns="0" rtlCol="0" anchor="ctr"/>
          <a:lstStyle/>
          <a:p>
            <a:pPr marL="0" indent="0">
              <a:buNone/>
            </a:pPr>
            <a:r>
              <a:rPr lang="en-US" sz="1700" b="1" dirty="0">
                <a:solidFill>
                  <a:srgbClr val="1B4F72"/>
                </a:solidFill>
                <a:latin typeface="Calibri" pitchFamily="34" charset="0"/>
                <a:ea typeface="Calibri" pitchFamily="34" charset="-122"/>
                <a:cs typeface="Calibri" pitchFamily="34" charset="-120"/>
              </a:rPr>
              <a:t>Project Vision</a:t>
            </a:r>
            <a:endParaRPr lang="en-US" sz="1700" dirty="0"/>
          </a:p>
        </p:txBody>
      </p:sp>
      <p:sp>
        <p:nvSpPr>
          <p:cNvPr id="8" name="Text 6"/>
          <p:cNvSpPr/>
          <p:nvPr/>
        </p:nvSpPr>
        <p:spPr>
          <a:xfrm>
            <a:off x="530352" y="2240280"/>
            <a:ext cx="3657600" cy="365760"/>
          </a:xfrm>
          <a:prstGeom prst="rect">
            <a:avLst/>
          </a:prstGeom>
          <a:noFill/>
          <a:ln/>
        </p:spPr>
        <p:txBody>
          <a:bodyPr wrap="square" lIns="0" tIns="0" rIns="0" bIns="0" rtlCol="0" anchor="ctr"/>
          <a:lstStyle/>
          <a:p>
            <a:pPr marL="0" indent="0">
              <a:buNone/>
            </a:pPr>
            <a:r>
              <a:rPr lang="en-US" sz="1200" dirty="0">
                <a:solidFill>
                  <a:srgbClr val="7F8C8D"/>
                </a:solidFill>
                <a:latin typeface="Calibri" pitchFamily="34" charset="0"/>
                <a:ea typeface="Calibri" pitchFamily="34" charset="-122"/>
                <a:cs typeface="Calibri" pitchFamily="34" charset="-120"/>
              </a:rPr>
              <a:t>Background, objectives &amp; key innovations</a:t>
            </a:r>
            <a:endParaRPr lang="en-US" sz="1200" dirty="0"/>
          </a:p>
        </p:txBody>
      </p:sp>
      <p:sp>
        <p:nvSpPr>
          <p:cNvPr id="9" name="Shape 7"/>
          <p:cNvSpPr/>
          <p:nvPr/>
        </p:nvSpPr>
        <p:spPr>
          <a:xfrm>
            <a:off x="4800600" y="1234440"/>
            <a:ext cx="4114800" cy="1554480"/>
          </a:xfrm>
          <a:prstGeom prst="rect">
            <a:avLst/>
          </a:prstGeom>
          <a:solidFill>
            <a:srgbClr val="FFFFFF"/>
          </a:solidFill>
          <a:ln w="12700">
            <a:solidFill>
              <a:srgbClr val="ECF0F1"/>
            </a:solidFill>
            <a:prstDash val="solid"/>
          </a:ln>
          <a:effectLst>
            <a:outerShdw blurRad="101600" dist="38100" dir="8100000" algn="bl" rotWithShape="0">
              <a:srgbClr val="000000">
                <a:alpha val="20000"/>
              </a:srgbClr>
            </a:outerShdw>
          </a:effectLst>
        </p:spPr>
        <p:txBody>
          <a:bodyPr/>
          <a:lstStyle/>
          <a:p>
            <a:endParaRPr lang="en-IN"/>
          </a:p>
        </p:txBody>
      </p:sp>
      <p:sp>
        <p:nvSpPr>
          <p:cNvPr id="10" name="Shape 8"/>
          <p:cNvSpPr/>
          <p:nvPr/>
        </p:nvSpPr>
        <p:spPr>
          <a:xfrm>
            <a:off x="4800600" y="1234440"/>
            <a:ext cx="73152" cy="1554480"/>
          </a:xfrm>
          <a:prstGeom prst="rect">
            <a:avLst/>
          </a:prstGeom>
          <a:solidFill>
            <a:srgbClr val="1ABC9C"/>
          </a:solidFill>
          <a:ln w="12700">
            <a:solidFill>
              <a:srgbClr val="1ABC9C"/>
            </a:solidFill>
            <a:prstDash val="solid"/>
          </a:ln>
        </p:spPr>
        <p:txBody>
          <a:bodyPr/>
          <a:lstStyle/>
          <a:p>
            <a:endParaRPr lang="en-IN"/>
          </a:p>
        </p:txBody>
      </p:sp>
      <p:sp>
        <p:nvSpPr>
          <p:cNvPr id="11" name="Text 9"/>
          <p:cNvSpPr/>
          <p:nvPr/>
        </p:nvSpPr>
        <p:spPr>
          <a:xfrm>
            <a:off x="4965192" y="1344168"/>
            <a:ext cx="640080" cy="457200"/>
          </a:xfrm>
          <a:prstGeom prst="rect">
            <a:avLst/>
          </a:prstGeom>
          <a:noFill/>
          <a:ln/>
        </p:spPr>
        <p:txBody>
          <a:bodyPr wrap="square" lIns="0" tIns="0" rIns="0" bIns="0" rtlCol="0" anchor="ctr"/>
          <a:lstStyle/>
          <a:p>
            <a:pPr marL="0" indent="0">
              <a:buNone/>
            </a:pPr>
            <a:r>
              <a:rPr lang="en-US" sz="2600" b="1" dirty="0">
                <a:solidFill>
                  <a:srgbClr val="2E86C1"/>
                </a:solidFill>
                <a:latin typeface="Calibri" pitchFamily="34" charset="0"/>
                <a:ea typeface="Calibri" pitchFamily="34" charset="-122"/>
                <a:cs typeface="Calibri" pitchFamily="34" charset="-120"/>
              </a:rPr>
              <a:t>02</a:t>
            </a:r>
            <a:endParaRPr lang="en-US" sz="2600" dirty="0"/>
          </a:p>
        </p:txBody>
      </p:sp>
      <p:sp>
        <p:nvSpPr>
          <p:cNvPr id="12" name="Text 10"/>
          <p:cNvSpPr/>
          <p:nvPr/>
        </p:nvSpPr>
        <p:spPr>
          <a:xfrm>
            <a:off x="4965192" y="1783080"/>
            <a:ext cx="3657600" cy="411480"/>
          </a:xfrm>
          <a:prstGeom prst="rect">
            <a:avLst/>
          </a:prstGeom>
          <a:noFill/>
          <a:ln/>
        </p:spPr>
        <p:txBody>
          <a:bodyPr wrap="square" lIns="0" tIns="0" rIns="0" bIns="0" rtlCol="0" anchor="ctr"/>
          <a:lstStyle/>
          <a:p>
            <a:pPr marL="0" indent="0">
              <a:buNone/>
            </a:pPr>
            <a:r>
              <a:rPr lang="en-US" sz="1700" b="1" dirty="0">
                <a:solidFill>
                  <a:srgbClr val="1B4F72"/>
                </a:solidFill>
                <a:latin typeface="Calibri" pitchFamily="34" charset="0"/>
                <a:ea typeface="Calibri" pitchFamily="34" charset="-122"/>
                <a:cs typeface="Calibri" pitchFamily="34" charset="-120"/>
              </a:rPr>
              <a:t>Requirements</a:t>
            </a:r>
            <a:endParaRPr lang="en-US" sz="1700" dirty="0"/>
          </a:p>
        </p:txBody>
      </p:sp>
      <p:sp>
        <p:nvSpPr>
          <p:cNvPr id="13" name="Text 11"/>
          <p:cNvSpPr/>
          <p:nvPr/>
        </p:nvSpPr>
        <p:spPr>
          <a:xfrm>
            <a:off x="4965192" y="2240280"/>
            <a:ext cx="3657600" cy="365760"/>
          </a:xfrm>
          <a:prstGeom prst="rect">
            <a:avLst/>
          </a:prstGeom>
          <a:noFill/>
          <a:ln/>
        </p:spPr>
        <p:txBody>
          <a:bodyPr wrap="square" lIns="0" tIns="0" rIns="0" bIns="0" rtlCol="0" anchor="ctr"/>
          <a:lstStyle/>
          <a:p>
            <a:pPr marL="0" indent="0">
              <a:buNone/>
            </a:pPr>
            <a:r>
              <a:rPr lang="en-US" sz="1200" dirty="0">
                <a:solidFill>
                  <a:srgbClr val="7F8C8D"/>
                </a:solidFill>
                <a:latin typeface="Calibri" pitchFamily="34" charset="0"/>
                <a:ea typeface="Calibri" pitchFamily="34" charset="-122"/>
                <a:cs typeface="Calibri" pitchFamily="34" charset="-120"/>
              </a:rPr>
              <a:t>Use Cases &amp; Activity Diagrams</a:t>
            </a:r>
            <a:endParaRPr lang="en-US" sz="1200" dirty="0"/>
          </a:p>
        </p:txBody>
      </p:sp>
      <p:sp>
        <p:nvSpPr>
          <p:cNvPr id="14" name="Shape 12"/>
          <p:cNvSpPr/>
          <p:nvPr/>
        </p:nvSpPr>
        <p:spPr>
          <a:xfrm>
            <a:off x="365760" y="3017520"/>
            <a:ext cx="4114800" cy="1554480"/>
          </a:xfrm>
          <a:prstGeom prst="rect">
            <a:avLst/>
          </a:prstGeom>
          <a:solidFill>
            <a:srgbClr val="FFFFFF"/>
          </a:solidFill>
          <a:ln w="12700">
            <a:solidFill>
              <a:srgbClr val="ECF0F1"/>
            </a:solidFill>
            <a:prstDash val="solid"/>
          </a:ln>
          <a:effectLst>
            <a:outerShdw blurRad="101600" dist="38100" dir="8100000" algn="bl" rotWithShape="0">
              <a:srgbClr val="000000">
                <a:alpha val="20000"/>
              </a:srgbClr>
            </a:outerShdw>
          </a:effectLst>
        </p:spPr>
        <p:txBody>
          <a:bodyPr/>
          <a:lstStyle/>
          <a:p>
            <a:endParaRPr lang="en-IN"/>
          </a:p>
        </p:txBody>
      </p:sp>
      <p:sp>
        <p:nvSpPr>
          <p:cNvPr id="15" name="Shape 13"/>
          <p:cNvSpPr/>
          <p:nvPr/>
        </p:nvSpPr>
        <p:spPr>
          <a:xfrm>
            <a:off x="365760" y="3017520"/>
            <a:ext cx="73152" cy="1554480"/>
          </a:xfrm>
          <a:prstGeom prst="rect">
            <a:avLst/>
          </a:prstGeom>
          <a:solidFill>
            <a:srgbClr val="1ABC9C"/>
          </a:solidFill>
          <a:ln w="12700">
            <a:solidFill>
              <a:srgbClr val="1ABC9C"/>
            </a:solidFill>
            <a:prstDash val="solid"/>
          </a:ln>
        </p:spPr>
        <p:txBody>
          <a:bodyPr/>
          <a:lstStyle/>
          <a:p>
            <a:endParaRPr lang="en-IN"/>
          </a:p>
        </p:txBody>
      </p:sp>
      <p:sp>
        <p:nvSpPr>
          <p:cNvPr id="16" name="Text 14"/>
          <p:cNvSpPr/>
          <p:nvPr/>
        </p:nvSpPr>
        <p:spPr>
          <a:xfrm>
            <a:off x="530352" y="3127248"/>
            <a:ext cx="640080" cy="457200"/>
          </a:xfrm>
          <a:prstGeom prst="rect">
            <a:avLst/>
          </a:prstGeom>
          <a:noFill/>
          <a:ln/>
        </p:spPr>
        <p:txBody>
          <a:bodyPr wrap="square" lIns="0" tIns="0" rIns="0" bIns="0" rtlCol="0" anchor="ctr"/>
          <a:lstStyle/>
          <a:p>
            <a:pPr marL="0" indent="0">
              <a:buNone/>
            </a:pPr>
            <a:r>
              <a:rPr lang="en-US" sz="2600" b="1" dirty="0">
                <a:solidFill>
                  <a:srgbClr val="2E86C1"/>
                </a:solidFill>
                <a:latin typeface="Calibri" pitchFamily="34" charset="0"/>
                <a:ea typeface="Calibri" pitchFamily="34" charset="-122"/>
                <a:cs typeface="Calibri" pitchFamily="34" charset="-120"/>
              </a:rPr>
              <a:t>03</a:t>
            </a:r>
            <a:endParaRPr lang="en-US" sz="2600" dirty="0"/>
          </a:p>
        </p:txBody>
      </p:sp>
      <p:sp>
        <p:nvSpPr>
          <p:cNvPr id="17" name="Text 15"/>
          <p:cNvSpPr/>
          <p:nvPr/>
        </p:nvSpPr>
        <p:spPr>
          <a:xfrm>
            <a:off x="530352" y="3566160"/>
            <a:ext cx="3657600" cy="411480"/>
          </a:xfrm>
          <a:prstGeom prst="rect">
            <a:avLst/>
          </a:prstGeom>
          <a:noFill/>
          <a:ln/>
        </p:spPr>
        <p:txBody>
          <a:bodyPr wrap="square" lIns="0" tIns="0" rIns="0" bIns="0" rtlCol="0" anchor="ctr"/>
          <a:lstStyle/>
          <a:p>
            <a:pPr marL="0" indent="0">
              <a:buNone/>
            </a:pPr>
            <a:r>
              <a:rPr lang="en-US" sz="1700" b="1" dirty="0">
                <a:solidFill>
                  <a:srgbClr val="1B4F72"/>
                </a:solidFill>
                <a:latin typeface="Calibri" pitchFamily="34" charset="0"/>
                <a:ea typeface="Calibri" pitchFamily="34" charset="-122"/>
                <a:cs typeface="Calibri" pitchFamily="34" charset="-120"/>
              </a:rPr>
              <a:t>Analysis Model</a:t>
            </a:r>
            <a:endParaRPr lang="en-US" sz="1700" dirty="0"/>
          </a:p>
        </p:txBody>
      </p:sp>
      <p:sp>
        <p:nvSpPr>
          <p:cNvPr id="18" name="Text 16"/>
          <p:cNvSpPr/>
          <p:nvPr/>
        </p:nvSpPr>
        <p:spPr>
          <a:xfrm>
            <a:off x="530352" y="4023360"/>
            <a:ext cx="3657600" cy="365760"/>
          </a:xfrm>
          <a:prstGeom prst="rect">
            <a:avLst/>
          </a:prstGeom>
          <a:noFill/>
          <a:ln/>
        </p:spPr>
        <p:txBody>
          <a:bodyPr wrap="square" lIns="0" tIns="0" rIns="0" bIns="0" rtlCol="0" anchor="ctr"/>
          <a:lstStyle/>
          <a:p>
            <a:pPr marL="0" indent="0">
              <a:buNone/>
            </a:pPr>
            <a:r>
              <a:rPr lang="en-US" sz="1200" dirty="0">
                <a:solidFill>
                  <a:srgbClr val="7F8C8D"/>
                </a:solidFill>
                <a:latin typeface="Calibri" pitchFamily="34" charset="0"/>
                <a:ea typeface="Calibri" pitchFamily="34" charset="-122"/>
                <a:cs typeface="Calibri" pitchFamily="34" charset="-120"/>
              </a:rPr>
              <a:t>Robustness Diagrams &amp; Collaboration Diagrams</a:t>
            </a:r>
            <a:endParaRPr lang="en-US" sz="1200" dirty="0"/>
          </a:p>
        </p:txBody>
      </p:sp>
      <p:sp>
        <p:nvSpPr>
          <p:cNvPr id="19" name="Shape 17"/>
          <p:cNvSpPr/>
          <p:nvPr/>
        </p:nvSpPr>
        <p:spPr>
          <a:xfrm>
            <a:off x="4800600" y="3017520"/>
            <a:ext cx="4114800" cy="1554480"/>
          </a:xfrm>
          <a:prstGeom prst="rect">
            <a:avLst/>
          </a:prstGeom>
          <a:solidFill>
            <a:srgbClr val="FFFFFF"/>
          </a:solidFill>
          <a:ln w="12700">
            <a:solidFill>
              <a:srgbClr val="ECF0F1"/>
            </a:solidFill>
            <a:prstDash val="solid"/>
          </a:ln>
          <a:effectLst>
            <a:outerShdw blurRad="101600" dist="38100" dir="8100000" algn="bl" rotWithShape="0">
              <a:srgbClr val="000000">
                <a:alpha val="20000"/>
              </a:srgbClr>
            </a:outerShdw>
          </a:effectLst>
        </p:spPr>
        <p:txBody>
          <a:bodyPr/>
          <a:lstStyle/>
          <a:p>
            <a:endParaRPr lang="en-IN"/>
          </a:p>
        </p:txBody>
      </p:sp>
      <p:sp>
        <p:nvSpPr>
          <p:cNvPr id="20" name="Shape 18"/>
          <p:cNvSpPr/>
          <p:nvPr/>
        </p:nvSpPr>
        <p:spPr>
          <a:xfrm>
            <a:off x="4800600" y="3017520"/>
            <a:ext cx="73152" cy="1554480"/>
          </a:xfrm>
          <a:prstGeom prst="rect">
            <a:avLst/>
          </a:prstGeom>
          <a:solidFill>
            <a:srgbClr val="1ABC9C"/>
          </a:solidFill>
          <a:ln w="12700">
            <a:solidFill>
              <a:srgbClr val="1ABC9C"/>
            </a:solidFill>
            <a:prstDash val="solid"/>
          </a:ln>
        </p:spPr>
        <p:txBody>
          <a:bodyPr/>
          <a:lstStyle/>
          <a:p>
            <a:endParaRPr lang="en-IN"/>
          </a:p>
        </p:txBody>
      </p:sp>
      <p:sp>
        <p:nvSpPr>
          <p:cNvPr id="21" name="Text 19"/>
          <p:cNvSpPr/>
          <p:nvPr/>
        </p:nvSpPr>
        <p:spPr>
          <a:xfrm>
            <a:off x="4965192" y="3127248"/>
            <a:ext cx="640080" cy="457200"/>
          </a:xfrm>
          <a:prstGeom prst="rect">
            <a:avLst/>
          </a:prstGeom>
          <a:noFill/>
          <a:ln/>
        </p:spPr>
        <p:txBody>
          <a:bodyPr wrap="square" lIns="0" tIns="0" rIns="0" bIns="0" rtlCol="0" anchor="ctr"/>
          <a:lstStyle/>
          <a:p>
            <a:pPr marL="0" indent="0">
              <a:buNone/>
            </a:pPr>
            <a:r>
              <a:rPr lang="en-US" sz="2600" b="1" dirty="0">
                <a:solidFill>
                  <a:srgbClr val="2E86C1"/>
                </a:solidFill>
                <a:latin typeface="Calibri" pitchFamily="34" charset="0"/>
                <a:ea typeface="Calibri" pitchFamily="34" charset="-122"/>
                <a:cs typeface="Calibri" pitchFamily="34" charset="-120"/>
              </a:rPr>
              <a:t>04</a:t>
            </a:r>
            <a:endParaRPr lang="en-US" sz="2600" dirty="0"/>
          </a:p>
        </p:txBody>
      </p:sp>
      <p:sp>
        <p:nvSpPr>
          <p:cNvPr id="22" name="Text 20"/>
          <p:cNvSpPr/>
          <p:nvPr/>
        </p:nvSpPr>
        <p:spPr>
          <a:xfrm>
            <a:off x="4965192" y="3566160"/>
            <a:ext cx="3657600" cy="411480"/>
          </a:xfrm>
          <a:prstGeom prst="rect">
            <a:avLst/>
          </a:prstGeom>
          <a:noFill/>
          <a:ln/>
        </p:spPr>
        <p:txBody>
          <a:bodyPr wrap="square" lIns="0" tIns="0" rIns="0" bIns="0" rtlCol="0" anchor="ctr"/>
          <a:lstStyle/>
          <a:p>
            <a:pPr marL="0" indent="0">
              <a:buNone/>
            </a:pPr>
            <a:r>
              <a:rPr lang="en-US" sz="1700" b="1" dirty="0">
                <a:solidFill>
                  <a:srgbClr val="1B4F72"/>
                </a:solidFill>
                <a:latin typeface="Calibri" pitchFamily="34" charset="0"/>
                <a:ea typeface="Calibri" pitchFamily="34" charset="-122"/>
                <a:cs typeface="Calibri" pitchFamily="34" charset="-120"/>
              </a:rPr>
              <a:t>Design Model</a:t>
            </a:r>
            <a:endParaRPr lang="en-US" sz="1700" dirty="0"/>
          </a:p>
        </p:txBody>
      </p:sp>
      <p:sp>
        <p:nvSpPr>
          <p:cNvPr id="23" name="Text 21"/>
          <p:cNvSpPr/>
          <p:nvPr/>
        </p:nvSpPr>
        <p:spPr>
          <a:xfrm>
            <a:off x="4965192" y="4023360"/>
            <a:ext cx="3657600" cy="365760"/>
          </a:xfrm>
          <a:prstGeom prst="rect">
            <a:avLst/>
          </a:prstGeom>
          <a:noFill/>
          <a:ln/>
        </p:spPr>
        <p:txBody>
          <a:bodyPr wrap="square" lIns="0" tIns="0" rIns="0" bIns="0" rtlCol="0" anchor="ctr"/>
          <a:lstStyle/>
          <a:p>
            <a:pPr marL="0" indent="0">
              <a:buNone/>
            </a:pPr>
            <a:r>
              <a:rPr lang="en-US" sz="1200" dirty="0">
                <a:solidFill>
                  <a:srgbClr val="7F8C8D"/>
                </a:solidFill>
                <a:latin typeface="Calibri" pitchFamily="34" charset="0"/>
                <a:ea typeface="Calibri" pitchFamily="34" charset="-122"/>
                <a:cs typeface="Calibri" pitchFamily="34" charset="-120"/>
              </a:rPr>
              <a:t>Class, Component, Sequence &amp; State Diagrams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BC9C"/>
          </a:solidFill>
          <a:ln w="12700">
            <a:solidFill>
              <a:srgbClr val="1ABC9C"/>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1ABC9C"/>
          </a:solidFill>
          <a:ln w="12700">
            <a:solidFill>
              <a:srgbClr val="1ABC9C"/>
            </a:solidFill>
            <a:prstDash val="solid"/>
          </a:ln>
        </p:spPr>
        <p:txBody>
          <a:bodyPr/>
          <a:lstStyle/>
          <a:p>
            <a:endParaRPr lang="en-IN"/>
          </a:p>
        </p:txBody>
      </p:sp>
      <p:sp>
        <p:nvSpPr>
          <p:cNvPr id="4" name="Text 2"/>
          <p:cNvSpPr/>
          <p:nvPr/>
        </p:nvSpPr>
        <p:spPr>
          <a:xfrm>
            <a:off x="457200" y="731520"/>
            <a:ext cx="1828800" cy="1828800"/>
          </a:xfrm>
          <a:prstGeom prst="rect">
            <a:avLst/>
          </a:prstGeom>
          <a:noFill/>
          <a:ln/>
        </p:spPr>
        <p:txBody>
          <a:bodyPr wrap="square" lIns="0" tIns="0" rIns="0" bIns="0" rtlCol="0" anchor="ctr"/>
          <a:lstStyle/>
          <a:p>
            <a:pPr marL="0" indent="0" algn="l">
              <a:buNone/>
            </a:pPr>
            <a:r>
              <a:rPr lang="en-US" sz="12000" b="1" dirty="0">
                <a:solidFill>
                  <a:srgbClr val="1ABC9C">
                    <a:alpha val="70000"/>
                  </a:srgbClr>
                </a:solidFill>
                <a:latin typeface="Calibri" pitchFamily="34" charset="0"/>
                <a:ea typeface="Calibri" pitchFamily="34" charset="-122"/>
                <a:cs typeface="Calibri" pitchFamily="34" charset="-120"/>
              </a:rPr>
              <a:t>01</a:t>
            </a:r>
            <a:endParaRPr lang="en-US" sz="12000" dirty="0"/>
          </a:p>
        </p:txBody>
      </p:sp>
      <p:sp>
        <p:nvSpPr>
          <p:cNvPr id="5" name="Text 3"/>
          <p:cNvSpPr/>
          <p:nvPr/>
        </p:nvSpPr>
        <p:spPr>
          <a:xfrm>
            <a:off x="457200" y="2011680"/>
            <a:ext cx="8229600" cy="822960"/>
          </a:xfrm>
          <a:prstGeom prst="rect">
            <a:avLst/>
          </a:prstGeom>
          <a:noFill/>
          <a:ln/>
        </p:spPr>
        <p:txBody>
          <a:bodyPr wrap="square" lIns="0" tIns="0" rIns="0" bIns="0"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Project Vision</a:t>
            </a:r>
            <a:endParaRPr lang="en-US" sz="4400" dirty="0"/>
          </a:p>
        </p:txBody>
      </p:sp>
      <p:sp>
        <p:nvSpPr>
          <p:cNvPr id="6" name="Text 4"/>
          <p:cNvSpPr/>
          <p:nvPr/>
        </p:nvSpPr>
        <p:spPr>
          <a:xfrm>
            <a:off x="457200" y="2834640"/>
            <a:ext cx="8229600" cy="457200"/>
          </a:xfrm>
          <a:prstGeom prst="rect">
            <a:avLst/>
          </a:prstGeom>
          <a:noFill/>
          <a:ln/>
        </p:spPr>
        <p:txBody>
          <a:bodyPr wrap="square" lIns="0" tIns="0" rIns="0" bIns="0" rtlCol="0" anchor="ctr"/>
          <a:lstStyle/>
          <a:p>
            <a:pPr marL="0" indent="0" algn="l">
              <a:buNone/>
            </a:pPr>
            <a:r>
              <a:rPr lang="en-US" sz="1600" i="1" dirty="0">
                <a:solidFill>
                  <a:srgbClr val="AED6F1"/>
                </a:solidFill>
                <a:latin typeface="Calibri" pitchFamily="34" charset="0"/>
                <a:ea typeface="Calibri" pitchFamily="34" charset="-122"/>
                <a:cs typeface="Calibri" pitchFamily="34" charset="-120"/>
              </a:rPr>
              <a:t>Background · Objectives · Key Innovations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F72"/>
          </a:solidFill>
          <a:ln w="12700">
            <a:solidFill>
              <a:srgbClr val="1B4F72"/>
            </a:solidFill>
            <a:prstDash val="solid"/>
          </a:ln>
        </p:spPr>
        <p:txBody>
          <a:bodyPr/>
          <a:lstStyle/>
          <a:p>
            <a:endParaRPr lang="en-IN"/>
          </a:p>
        </p:txBody>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Project Vision — Overview</a:t>
            </a:r>
            <a:endParaRPr lang="en-US" sz="2600" dirty="0"/>
          </a:p>
        </p:txBody>
      </p:sp>
      <p:sp>
        <p:nvSpPr>
          <p:cNvPr id="4" name="Text 2"/>
          <p:cNvSpPr/>
          <p:nvPr/>
        </p:nvSpPr>
        <p:spPr>
          <a:xfrm>
            <a:off x="228601" y="956638"/>
            <a:ext cx="5029200" cy="365760"/>
          </a:xfrm>
          <a:prstGeom prst="rect">
            <a:avLst/>
          </a:prstGeom>
          <a:noFill/>
          <a:ln/>
        </p:spPr>
        <p:txBody>
          <a:bodyPr wrap="square" lIns="0" tIns="0" rIns="0" bIns="0" rtlCol="0" anchor="ctr"/>
          <a:lstStyle/>
          <a:p>
            <a:pPr marL="0" indent="0">
              <a:buNone/>
            </a:pPr>
            <a:r>
              <a:rPr lang="en-US" sz="1800" b="1" dirty="0">
                <a:solidFill>
                  <a:srgbClr val="1B4F72"/>
                </a:solidFill>
                <a:latin typeface="Calibri" pitchFamily="34" charset="0"/>
                <a:ea typeface="Calibri" pitchFamily="34" charset="-122"/>
                <a:cs typeface="Calibri" pitchFamily="34" charset="-120"/>
              </a:rPr>
              <a:t>What is SCFMS?</a:t>
            </a:r>
            <a:endParaRPr lang="en-US" sz="1800" dirty="0"/>
          </a:p>
        </p:txBody>
      </p:sp>
      <p:sp>
        <p:nvSpPr>
          <p:cNvPr id="5" name="Text 3"/>
          <p:cNvSpPr/>
          <p:nvPr/>
        </p:nvSpPr>
        <p:spPr>
          <a:xfrm>
            <a:off x="228601" y="1197046"/>
            <a:ext cx="5029200" cy="1005840"/>
          </a:xfrm>
          <a:prstGeom prst="rect">
            <a:avLst/>
          </a:prstGeom>
          <a:noFill/>
          <a:ln/>
        </p:spPr>
        <p:txBody>
          <a:bodyPr wrap="square" lIns="0" tIns="0" rIns="0" bIns="0" rtlCol="0" anchor="ctr"/>
          <a:lstStyle/>
          <a:p>
            <a:pPr marL="0" indent="0">
              <a:buNone/>
            </a:pPr>
            <a:r>
              <a:rPr lang="en-US" sz="1300" dirty="0">
                <a:solidFill>
                  <a:srgbClr val="0D1B2A"/>
                </a:solidFill>
                <a:latin typeface="Calibri" pitchFamily="34" charset="0"/>
                <a:ea typeface="Calibri" pitchFamily="34" charset="-122"/>
                <a:cs typeface="Calibri" pitchFamily="34" charset="-120"/>
              </a:rPr>
              <a:t>SCFMS is an integrated platform that revolutionizes how educational institutions manage their physical infrastructure. It combines real-time sensor networks, artificial intelligence, and cloud-based analytics into a unified ecosystem.</a:t>
            </a:r>
            <a:endParaRPr lang="en-US" sz="1300" dirty="0"/>
          </a:p>
        </p:txBody>
      </p:sp>
      <p:sp>
        <p:nvSpPr>
          <p:cNvPr id="6" name="Text 4"/>
          <p:cNvSpPr/>
          <p:nvPr/>
        </p:nvSpPr>
        <p:spPr>
          <a:xfrm>
            <a:off x="228601" y="2137032"/>
            <a:ext cx="5029200" cy="365760"/>
          </a:xfrm>
          <a:prstGeom prst="rect">
            <a:avLst/>
          </a:prstGeom>
          <a:noFill/>
          <a:ln/>
        </p:spPr>
        <p:txBody>
          <a:bodyPr wrap="square" lIns="0" tIns="0" rIns="0" bIns="0" rtlCol="0" anchor="ctr"/>
          <a:lstStyle/>
          <a:p>
            <a:pPr marL="0" indent="0">
              <a:buNone/>
            </a:pPr>
            <a:r>
              <a:rPr lang="en-US" sz="1800" b="1" dirty="0">
                <a:solidFill>
                  <a:srgbClr val="1B4F72"/>
                </a:solidFill>
                <a:latin typeface="Calibri" pitchFamily="34" charset="0"/>
                <a:ea typeface="Calibri" pitchFamily="34" charset="-122"/>
                <a:cs typeface="Calibri" pitchFamily="34" charset="-120"/>
              </a:rPr>
              <a:t>Core Transformation</a:t>
            </a:r>
            <a:endParaRPr lang="en-US" sz="1800" dirty="0"/>
          </a:p>
        </p:txBody>
      </p:sp>
      <p:sp>
        <p:nvSpPr>
          <p:cNvPr id="7" name="Text 5"/>
          <p:cNvSpPr/>
          <p:nvPr/>
        </p:nvSpPr>
        <p:spPr>
          <a:xfrm>
            <a:off x="283102" y="3110474"/>
            <a:ext cx="5029200" cy="822960"/>
          </a:xfrm>
          <a:prstGeom prst="rect">
            <a:avLst/>
          </a:prstGeom>
          <a:noFill/>
          <a:ln/>
        </p:spPr>
        <p:txBody>
          <a:bodyPr wrap="square" lIns="0" tIns="0" rIns="0" bIns="0" rtlCol="0" anchor="ctr"/>
          <a:lstStyle/>
          <a:p>
            <a:r>
              <a:rPr lang="en-US" sz="1400" dirty="0"/>
              <a:t>SCFMS is an object-oriented application that helps a university manage classrooms, labs, and shared spaces more efficiently. The system lets students and staff reserve rooms and equipment, reports maintenance issues, assigns work orders to technicians, and tracks completion with notifications. It also provides administrators with dashboards and usage analytics to reduce conflicts, improve response times, and optimize space utilization. The design emphasizes clean OOP principles (encapsulation, inheritance, polymorphism, interfaces) and realistic domain modeling (Users, Rooms, Reservations, Tickets, </a:t>
            </a:r>
            <a:r>
              <a:rPr lang="en-US" sz="1400" dirty="0" err="1"/>
              <a:t>WorkOrders</a:t>
            </a:r>
            <a:r>
              <a:rPr lang="en-US" sz="1400" dirty="0"/>
              <a:t>, Assets).</a:t>
            </a:r>
            <a:endParaRPr lang="en-US" sz="1300" dirty="0"/>
          </a:p>
        </p:txBody>
      </p:sp>
      <p:sp>
        <p:nvSpPr>
          <p:cNvPr id="8" name="Text 6"/>
          <p:cNvSpPr/>
          <p:nvPr/>
        </p:nvSpPr>
        <p:spPr>
          <a:xfrm>
            <a:off x="3042348" y="4777740"/>
            <a:ext cx="5029200" cy="320040"/>
          </a:xfrm>
          <a:prstGeom prst="rect">
            <a:avLst/>
          </a:prstGeom>
          <a:noFill/>
          <a:ln/>
        </p:spPr>
        <p:txBody>
          <a:bodyPr wrap="square" lIns="0" tIns="0" rIns="0" bIns="0" rtlCol="0" anchor="ctr"/>
          <a:lstStyle/>
          <a:p>
            <a:pPr marL="0" indent="0">
              <a:buNone/>
            </a:pPr>
            <a:r>
              <a:rPr lang="en-US" sz="1300" b="1" dirty="0">
                <a:solidFill>
                  <a:srgbClr val="2E86C1"/>
                </a:solidFill>
                <a:latin typeface="Calibri" pitchFamily="34" charset="0"/>
                <a:ea typeface="Calibri" pitchFamily="34" charset="-122"/>
                <a:cs typeface="Calibri" pitchFamily="34" charset="-120"/>
              </a:rPr>
              <a:t>Implementation Language: Java</a:t>
            </a:r>
            <a:endParaRPr lang="en-US" sz="1300" dirty="0"/>
          </a:p>
        </p:txBody>
      </p:sp>
      <p:sp>
        <p:nvSpPr>
          <p:cNvPr id="9" name="Shape 7"/>
          <p:cNvSpPr/>
          <p:nvPr/>
        </p:nvSpPr>
        <p:spPr>
          <a:xfrm>
            <a:off x="6400800" y="1097280"/>
            <a:ext cx="2286000" cy="1097280"/>
          </a:xfrm>
          <a:prstGeom prst="rect">
            <a:avLst/>
          </a:prstGeom>
          <a:solidFill>
            <a:srgbClr val="1B4F72"/>
          </a:solidFill>
          <a:ln w="12700">
            <a:solidFill>
              <a:srgbClr val="1B4F72"/>
            </a:solidFill>
            <a:prstDash val="solid"/>
          </a:ln>
          <a:effectLst>
            <a:outerShdw blurRad="101600" dist="38100" dir="8100000" algn="bl" rotWithShape="0">
              <a:srgbClr val="000000">
                <a:alpha val="20000"/>
              </a:srgbClr>
            </a:outerShdw>
          </a:effectLst>
        </p:spPr>
        <p:txBody>
          <a:bodyPr/>
          <a:lstStyle/>
          <a:p>
            <a:endParaRPr lang="en-IN"/>
          </a:p>
        </p:txBody>
      </p:sp>
      <p:sp>
        <p:nvSpPr>
          <p:cNvPr id="10" name="Text 8"/>
          <p:cNvSpPr/>
          <p:nvPr/>
        </p:nvSpPr>
        <p:spPr>
          <a:xfrm>
            <a:off x="6400800" y="1143000"/>
            <a:ext cx="2286000" cy="548640"/>
          </a:xfrm>
          <a:prstGeom prst="rect">
            <a:avLst/>
          </a:prstGeom>
          <a:noFill/>
          <a:ln/>
        </p:spPr>
        <p:txBody>
          <a:bodyPr wrap="square" lIns="0" tIns="0" rIns="0" bIns="0" rtlCol="0" anchor="ctr"/>
          <a:lstStyle/>
          <a:p>
            <a:pPr marL="0" indent="0" algn="ctr">
              <a:buNone/>
            </a:pPr>
            <a:r>
              <a:rPr lang="en-US" sz="3400" b="1" dirty="0">
                <a:solidFill>
                  <a:srgbClr val="1ABC9C"/>
                </a:solidFill>
                <a:latin typeface="Calibri" pitchFamily="34" charset="0"/>
                <a:ea typeface="Calibri" pitchFamily="34" charset="-122"/>
                <a:cs typeface="Calibri" pitchFamily="34" charset="-120"/>
              </a:rPr>
              <a:t>24/7</a:t>
            </a:r>
            <a:endParaRPr lang="en-US" sz="3400" dirty="0"/>
          </a:p>
        </p:txBody>
      </p:sp>
      <p:sp>
        <p:nvSpPr>
          <p:cNvPr id="11" name="Text 9"/>
          <p:cNvSpPr/>
          <p:nvPr/>
        </p:nvSpPr>
        <p:spPr>
          <a:xfrm>
            <a:off x="6400800" y="1645920"/>
            <a:ext cx="2286000" cy="457200"/>
          </a:xfrm>
          <a:prstGeom prst="rect">
            <a:avLst/>
          </a:prstGeom>
          <a:noFill/>
          <a:ln/>
        </p:spPr>
        <p:txBody>
          <a:bodyPr wrap="square" lIns="0" tIns="0" rIns="0" bIns="0" rtlCol="0" anchor="ctr"/>
          <a:lstStyle/>
          <a:p>
            <a:pPr marL="0" indent="0" algn="ctr">
              <a:buNone/>
            </a:pPr>
            <a:r>
              <a:rPr lang="en-US" sz="1100" dirty="0">
                <a:solidFill>
                  <a:srgbClr val="AED6F1"/>
                </a:solidFill>
                <a:latin typeface="Calibri" pitchFamily="34" charset="0"/>
                <a:ea typeface="Calibri" pitchFamily="34" charset="-122"/>
                <a:cs typeface="Calibri" pitchFamily="34" charset="-120"/>
              </a:rPr>
              <a:t>Real-Time</a:t>
            </a:r>
            <a:endParaRPr lang="en-US" sz="1100" dirty="0"/>
          </a:p>
          <a:p>
            <a:pPr marL="0" indent="0" algn="ctr">
              <a:buNone/>
            </a:pPr>
            <a:r>
              <a:rPr lang="en-US" sz="1100" dirty="0">
                <a:solidFill>
                  <a:srgbClr val="AED6F1"/>
                </a:solidFill>
                <a:latin typeface="Calibri" pitchFamily="34" charset="0"/>
                <a:ea typeface="Calibri" pitchFamily="34" charset="-122"/>
                <a:cs typeface="Calibri" pitchFamily="34" charset="-120"/>
              </a:rPr>
              <a:t>Monitoring</a:t>
            </a:r>
            <a:endParaRPr lang="en-US" sz="1100" dirty="0"/>
          </a:p>
        </p:txBody>
      </p:sp>
      <p:sp>
        <p:nvSpPr>
          <p:cNvPr id="12" name="Shape 10"/>
          <p:cNvSpPr/>
          <p:nvPr/>
        </p:nvSpPr>
        <p:spPr>
          <a:xfrm>
            <a:off x="6400800" y="2377440"/>
            <a:ext cx="2286000" cy="1097280"/>
          </a:xfrm>
          <a:prstGeom prst="rect">
            <a:avLst/>
          </a:prstGeom>
          <a:solidFill>
            <a:srgbClr val="1B4F72"/>
          </a:solidFill>
          <a:ln w="12700">
            <a:solidFill>
              <a:srgbClr val="1B4F72"/>
            </a:solidFill>
            <a:prstDash val="solid"/>
          </a:ln>
          <a:effectLst>
            <a:outerShdw blurRad="101600" dist="38100" dir="8100000" algn="bl" rotWithShape="0">
              <a:srgbClr val="000000">
                <a:alpha val="20000"/>
              </a:srgbClr>
            </a:outerShdw>
          </a:effectLst>
        </p:spPr>
        <p:txBody>
          <a:bodyPr/>
          <a:lstStyle/>
          <a:p>
            <a:endParaRPr lang="en-IN"/>
          </a:p>
        </p:txBody>
      </p:sp>
      <p:sp>
        <p:nvSpPr>
          <p:cNvPr id="13" name="Text 11"/>
          <p:cNvSpPr/>
          <p:nvPr/>
        </p:nvSpPr>
        <p:spPr>
          <a:xfrm>
            <a:off x="6400800" y="2423160"/>
            <a:ext cx="2286000" cy="548640"/>
          </a:xfrm>
          <a:prstGeom prst="rect">
            <a:avLst/>
          </a:prstGeom>
          <a:noFill/>
          <a:ln/>
        </p:spPr>
        <p:txBody>
          <a:bodyPr wrap="square" lIns="0" tIns="0" rIns="0" bIns="0" rtlCol="0" anchor="ctr"/>
          <a:lstStyle/>
          <a:p>
            <a:pPr marL="0" indent="0" algn="ctr">
              <a:buNone/>
            </a:pPr>
            <a:r>
              <a:rPr lang="en-US" sz="3400" b="1" dirty="0">
                <a:solidFill>
                  <a:srgbClr val="1ABC9C"/>
                </a:solidFill>
                <a:latin typeface="Calibri" pitchFamily="34" charset="0"/>
                <a:ea typeface="Calibri" pitchFamily="34" charset="-122"/>
                <a:cs typeface="Calibri" pitchFamily="34" charset="-120"/>
              </a:rPr>
              <a:t>AI</a:t>
            </a:r>
            <a:endParaRPr lang="en-US" sz="3400" dirty="0"/>
          </a:p>
        </p:txBody>
      </p:sp>
      <p:sp>
        <p:nvSpPr>
          <p:cNvPr id="14" name="Text 12"/>
          <p:cNvSpPr/>
          <p:nvPr/>
        </p:nvSpPr>
        <p:spPr>
          <a:xfrm>
            <a:off x="6400800" y="2926080"/>
            <a:ext cx="2286000" cy="457200"/>
          </a:xfrm>
          <a:prstGeom prst="rect">
            <a:avLst/>
          </a:prstGeom>
          <a:noFill/>
          <a:ln/>
        </p:spPr>
        <p:txBody>
          <a:bodyPr wrap="square" lIns="0" tIns="0" rIns="0" bIns="0" rtlCol="0" anchor="ctr"/>
          <a:lstStyle/>
          <a:p>
            <a:pPr marL="0" indent="0" algn="ctr">
              <a:buNone/>
            </a:pPr>
            <a:r>
              <a:rPr lang="en-US" sz="1100" dirty="0">
                <a:solidFill>
                  <a:srgbClr val="AED6F1"/>
                </a:solidFill>
                <a:latin typeface="Calibri" pitchFamily="34" charset="0"/>
                <a:ea typeface="Calibri" pitchFamily="34" charset="-122"/>
                <a:cs typeface="Calibri" pitchFamily="34" charset="-120"/>
              </a:rPr>
              <a:t>Powered</a:t>
            </a:r>
            <a:endParaRPr lang="en-US" sz="1100" dirty="0"/>
          </a:p>
          <a:p>
            <a:pPr marL="0" indent="0" algn="ctr">
              <a:buNone/>
            </a:pPr>
            <a:r>
              <a:rPr lang="en-US" sz="1100" dirty="0">
                <a:solidFill>
                  <a:srgbClr val="AED6F1"/>
                </a:solidFill>
                <a:latin typeface="Calibri" pitchFamily="34" charset="0"/>
                <a:ea typeface="Calibri" pitchFamily="34" charset="-122"/>
                <a:cs typeface="Calibri" pitchFamily="34" charset="-120"/>
              </a:rPr>
              <a:t>Analytics</a:t>
            </a:r>
            <a:endParaRPr lang="en-US" sz="1100" dirty="0"/>
          </a:p>
        </p:txBody>
      </p:sp>
      <p:sp>
        <p:nvSpPr>
          <p:cNvPr id="15" name="Shape 13"/>
          <p:cNvSpPr/>
          <p:nvPr/>
        </p:nvSpPr>
        <p:spPr>
          <a:xfrm>
            <a:off x="6400800" y="3657600"/>
            <a:ext cx="2286000" cy="1097280"/>
          </a:xfrm>
          <a:prstGeom prst="rect">
            <a:avLst/>
          </a:prstGeom>
          <a:solidFill>
            <a:srgbClr val="1B4F72"/>
          </a:solidFill>
          <a:ln w="12700">
            <a:solidFill>
              <a:srgbClr val="1B4F72"/>
            </a:solidFill>
            <a:prstDash val="solid"/>
          </a:ln>
          <a:effectLst>
            <a:outerShdw blurRad="101600" dist="38100" dir="8100000" algn="bl" rotWithShape="0">
              <a:srgbClr val="000000">
                <a:alpha val="20000"/>
              </a:srgbClr>
            </a:outerShdw>
          </a:effectLst>
        </p:spPr>
        <p:txBody>
          <a:bodyPr/>
          <a:lstStyle/>
          <a:p>
            <a:endParaRPr lang="en-IN"/>
          </a:p>
        </p:txBody>
      </p:sp>
      <p:sp>
        <p:nvSpPr>
          <p:cNvPr id="16" name="Text 14"/>
          <p:cNvSpPr/>
          <p:nvPr/>
        </p:nvSpPr>
        <p:spPr>
          <a:xfrm>
            <a:off x="6400800" y="3703320"/>
            <a:ext cx="2286000" cy="548640"/>
          </a:xfrm>
          <a:prstGeom prst="rect">
            <a:avLst/>
          </a:prstGeom>
          <a:noFill/>
          <a:ln/>
        </p:spPr>
        <p:txBody>
          <a:bodyPr wrap="square" lIns="0" tIns="0" rIns="0" bIns="0" rtlCol="0" anchor="ctr"/>
          <a:lstStyle/>
          <a:p>
            <a:pPr marL="0" indent="0" algn="ctr">
              <a:buNone/>
            </a:pPr>
            <a:r>
              <a:rPr lang="en-US" sz="3400" b="1" dirty="0">
                <a:solidFill>
                  <a:srgbClr val="1ABC9C"/>
                </a:solidFill>
                <a:latin typeface="Calibri" pitchFamily="34" charset="0"/>
                <a:ea typeface="Calibri" pitchFamily="34" charset="-122"/>
                <a:cs typeface="Calibri" pitchFamily="34" charset="-120"/>
              </a:rPr>
              <a:t>30%</a:t>
            </a:r>
            <a:endParaRPr lang="en-US" sz="3400" dirty="0"/>
          </a:p>
        </p:txBody>
      </p:sp>
      <p:sp>
        <p:nvSpPr>
          <p:cNvPr id="17" name="Text 15"/>
          <p:cNvSpPr/>
          <p:nvPr/>
        </p:nvSpPr>
        <p:spPr>
          <a:xfrm>
            <a:off x="6400800" y="4206240"/>
            <a:ext cx="2286000" cy="457200"/>
          </a:xfrm>
          <a:prstGeom prst="rect">
            <a:avLst/>
          </a:prstGeom>
          <a:noFill/>
          <a:ln/>
        </p:spPr>
        <p:txBody>
          <a:bodyPr wrap="square" lIns="0" tIns="0" rIns="0" bIns="0" rtlCol="0" anchor="ctr"/>
          <a:lstStyle/>
          <a:p>
            <a:pPr marL="0" indent="0" algn="ctr">
              <a:buNone/>
            </a:pPr>
            <a:r>
              <a:rPr lang="en-US" sz="1100" dirty="0">
                <a:solidFill>
                  <a:srgbClr val="AED6F1"/>
                </a:solidFill>
                <a:latin typeface="Calibri" pitchFamily="34" charset="0"/>
                <a:ea typeface="Calibri" pitchFamily="34" charset="-122"/>
                <a:cs typeface="Calibri" pitchFamily="34" charset="-120"/>
              </a:rPr>
              <a:t>Cost</a:t>
            </a:r>
            <a:endParaRPr lang="en-US" sz="1100" dirty="0"/>
          </a:p>
          <a:p>
            <a:pPr marL="0" indent="0" algn="ctr">
              <a:buNone/>
            </a:pPr>
            <a:r>
              <a:rPr lang="en-US" sz="1100" dirty="0">
                <a:solidFill>
                  <a:srgbClr val="AED6F1"/>
                </a:solidFill>
                <a:latin typeface="Calibri" pitchFamily="34" charset="0"/>
                <a:ea typeface="Calibri" pitchFamily="34" charset="-122"/>
                <a:cs typeface="Calibri" pitchFamily="34" charset="-120"/>
              </a:rPr>
              <a:t>Reduction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F72"/>
          </a:solidFill>
          <a:ln w="12700">
            <a:solidFill>
              <a:srgbClr val="1B4F72"/>
            </a:solidFill>
            <a:prstDash val="solid"/>
          </a:ln>
        </p:spPr>
        <p:txBody>
          <a:bodyPr/>
          <a:lstStyle/>
          <a:p>
            <a:endParaRPr lang="en-IN"/>
          </a:p>
        </p:txBody>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Project Vision — Features &amp; Stakeholders</a:t>
            </a:r>
            <a:endParaRPr lang="en-US" sz="2600" dirty="0"/>
          </a:p>
        </p:txBody>
      </p:sp>
      <p:sp>
        <p:nvSpPr>
          <p:cNvPr id="4" name="Text 2"/>
          <p:cNvSpPr/>
          <p:nvPr/>
        </p:nvSpPr>
        <p:spPr>
          <a:xfrm>
            <a:off x="365760" y="1051560"/>
            <a:ext cx="8229600" cy="365760"/>
          </a:xfrm>
          <a:prstGeom prst="rect">
            <a:avLst/>
          </a:prstGeom>
          <a:noFill/>
          <a:ln/>
        </p:spPr>
        <p:txBody>
          <a:bodyPr wrap="square" lIns="0" tIns="0" rIns="0" bIns="0" rtlCol="0" anchor="ctr"/>
          <a:lstStyle/>
          <a:p>
            <a:pPr marL="0" indent="0">
              <a:buNone/>
            </a:pPr>
            <a:r>
              <a:rPr lang="en-US" sz="1800" b="1" dirty="0">
                <a:solidFill>
                  <a:srgbClr val="1B4F72"/>
                </a:solidFill>
                <a:latin typeface="Calibri" pitchFamily="34" charset="0"/>
                <a:ea typeface="Calibri" pitchFamily="34" charset="-122"/>
                <a:cs typeface="Calibri" pitchFamily="34" charset="-120"/>
              </a:rPr>
              <a:t>Core System Features</a:t>
            </a:r>
            <a:endParaRPr lang="en-US" sz="1800" dirty="0"/>
          </a:p>
        </p:txBody>
      </p:sp>
      <p:sp>
        <p:nvSpPr>
          <p:cNvPr id="5" name="Shape 3"/>
          <p:cNvSpPr/>
          <p:nvPr/>
        </p:nvSpPr>
        <p:spPr>
          <a:xfrm>
            <a:off x="320040" y="1563624"/>
            <a:ext cx="164592" cy="164592"/>
          </a:xfrm>
          <a:prstGeom prst="ellipse">
            <a:avLst/>
          </a:prstGeom>
          <a:solidFill>
            <a:srgbClr val="1ABC9C"/>
          </a:solidFill>
          <a:ln w="12700">
            <a:solidFill>
              <a:srgbClr val="1ABC9C"/>
            </a:solidFill>
            <a:prstDash val="solid"/>
          </a:ln>
        </p:spPr>
        <p:txBody>
          <a:bodyPr/>
          <a:lstStyle/>
          <a:p>
            <a:endParaRPr lang="en-IN"/>
          </a:p>
        </p:txBody>
      </p:sp>
      <p:sp>
        <p:nvSpPr>
          <p:cNvPr id="6" name="Text 4"/>
          <p:cNvSpPr/>
          <p:nvPr/>
        </p:nvSpPr>
        <p:spPr>
          <a:xfrm>
            <a:off x="594360" y="1508760"/>
            <a:ext cx="5212080" cy="34747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User Authentication — Secure credential verification for system access control</a:t>
            </a:r>
            <a:endParaRPr lang="en-US" sz="1200" dirty="0"/>
          </a:p>
        </p:txBody>
      </p:sp>
      <p:sp>
        <p:nvSpPr>
          <p:cNvPr id="7" name="Shape 5"/>
          <p:cNvSpPr/>
          <p:nvPr/>
        </p:nvSpPr>
        <p:spPr>
          <a:xfrm>
            <a:off x="320040" y="1965960"/>
            <a:ext cx="164592" cy="164592"/>
          </a:xfrm>
          <a:prstGeom prst="ellipse">
            <a:avLst/>
          </a:prstGeom>
          <a:solidFill>
            <a:srgbClr val="1ABC9C"/>
          </a:solidFill>
          <a:ln w="12700">
            <a:solidFill>
              <a:srgbClr val="1ABC9C"/>
            </a:solidFill>
            <a:prstDash val="solid"/>
          </a:ln>
        </p:spPr>
        <p:txBody>
          <a:bodyPr/>
          <a:lstStyle/>
          <a:p>
            <a:endParaRPr lang="en-IN"/>
          </a:p>
        </p:txBody>
      </p:sp>
      <p:sp>
        <p:nvSpPr>
          <p:cNvPr id="8" name="Text 6"/>
          <p:cNvSpPr/>
          <p:nvPr/>
        </p:nvSpPr>
        <p:spPr>
          <a:xfrm>
            <a:off x="594360" y="1911096"/>
            <a:ext cx="5212080" cy="34747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Room Booking Management — Reserve and manage campus facility spaces</a:t>
            </a:r>
            <a:endParaRPr lang="en-US" sz="1200" dirty="0"/>
          </a:p>
        </p:txBody>
      </p:sp>
      <p:sp>
        <p:nvSpPr>
          <p:cNvPr id="9" name="Shape 7"/>
          <p:cNvSpPr/>
          <p:nvPr/>
        </p:nvSpPr>
        <p:spPr>
          <a:xfrm>
            <a:off x="320040" y="2368296"/>
            <a:ext cx="164592" cy="164592"/>
          </a:xfrm>
          <a:prstGeom prst="ellipse">
            <a:avLst/>
          </a:prstGeom>
          <a:solidFill>
            <a:srgbClr val="1ABC9C"/>
          </a:solidFill>
          <a:ln w="12700">
            <a:solidFill>
              <a:srgbClr val="1ABC9C"/>
            </a:solidFill>
            <a:prstDash val="solid"/>
          </a:ln>
        </p:spPr>
        <p:txBody>
          <a:bodyPr/>
          <a:lstStyle/>
          <a:p>
            <a:endParaRPr lang="en-IN"/>
          </a:p>
        </p:txBody>
      </p:sp>
      <p:sp>
        <p:nvSpPr>
          <p:cNvPr id="10" name="Text 8"/>
          <p:cNvSpPr/>
          <p:nvPr/>
        </p:nvSpPr>
        <p:spPr>
          <a:xfrm>
            <a:off x="594360" y="2313432"/>
            <a:ext cx="5212080" cy="34747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Room Availability Search — Real-time search based on criteria</a:t>
            </a:r>
            <a:endParaRPr lang="en-US" sz="1200" dirty="0"/>
          </a:p>
        </p:txBody>
      </p:sp>
      <p:sp>
        <p:nvSpPr>
          <p:cNvPr id="11" name="Shape 9"/>
          <p:cNvSpPr/>
          <p:nvPr/>
        </p:nvSpPr>
        <p:spPr>
          <a:xfrm>
            <a:off x="320040" y="2770632"/>
            <a:ext cx="164592" cy="164592"/>
          </a:xfrm>
          <a:prstGeom prst="ellipse">
            <a:avLst/>
          </a:prstGeom>
          <a:solidFill>
            <a:srgbClr val="1ABC9C"/>
          </a:solidFill>
          <a:ln w="12700">
            <a:solidFill>
              <a:srgbClr val="1ABC9C"/>
            </a:solidFill>
            <a:prstDash val="solid"/>
          </a:ln>
        </p:spPr>
        <p:txBody>
          <a:bodyPr/>
          <a:lstStyle/>
          <a:p>
            <a:endParaRPr lang="en-IN"/>
          </a:p>
        </p:txBody>
      </p:sp>
      <p:sp>
        <p:nvSpPr>
          <p:cNvPr id="12" name="Text 10"/>
          <p:cNvSpPr/>
          <p:nvPr/>
        </p:nvSpPr>
        <p:spPr>
          <a:xfrm>
            <a:off x="594360" y="2715768"/>
            <a:ext cx="5212080" cy="34747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Check-in/Check-out Management — Track and manage room occupancy</a:t>
            </a:r>
            <a:endParaRPr lang="en-US" sz="1200" dirty="0"/>
          </a:p>
        </p:txBody>
      </p:sp>
      <p:sp>
        <p:nvSpPr>
          <p:cNvPr id="13" name="Shape 11"/>
          <p:cNvSpPr/>
          <p:nvPr/>
        </p:nvSpPr>
        <p:spPr>
          <a:xfrm>
            <a:off x="320040" y="3172968"/>
            <a:ext cx="164592" cy="164592"/>
          </a:xfrm>
          <a:prstGeom prst="ellipse">
            <a:avLst/>
          </a:prstGeom>
          <a:solidFill>
            <a:srgbClr val="1ABC9C"/>
          </a:solidFill>
          <a:ln w="12700">
            <a:solidFill>
              <a:srgbClr val="1ABC9C"/>
            </a:solidFill>
            <a:prstDash val="solid"/>
          </a:ln>
        </p:spPr>
        <p:txBody>
          <a:bodyPr/>
          <a:lstStyle/>
          <a:p>
            <a:endParaRPr lang="en-IN"/>
          </a:p>
        </p:txBody>
      </p:sp>
      <p:sp>
        <p:nvSpPr>
          <p:cNvPr id="14" name="Text 12"/>
          <p:cNvSpPr/>
          <p:nvPr/>
        </p:nvSpPr>
        <p:spPr>
          <a:xfrm>
            <a:off x="594360" y="3118104"/>
            <a:ext cx="5212080" cy="34747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Maintenance Ticket Creation — Submit facility maintenance requests</a:t>
            </a:r>
            <a:endParaRPr lang="en-US" sz="1200" dirty="0"/>
          </a:p>
        </p:txBody>
      </p:sp>
      <p:sp>
        <p:nvSpPr>
          <p:cNvPr id="15" name="Shape 13"/>
          <p:cNvSpPr/>
          <p:nvPr/>
        </p:nvSpPr>
        <p:spPr>
          <a:xfrm>
            <a:off x="320040" y="3575304"/>
            <a:ext cx="164592" cy="164592"/>
          </a:xfrm>
          <a:prstGeom prst="ellipse">
            <a:avLst/>
          </a:prstGeom>
          <a:solidFill>
            <a:srgbClr val="1ABC9C"/>
          </a:solidFill>
          <a:ln w="12700">
            <a:solidFill>
              <a:srgbClr val="1ABC9C"/>
            </a:solidFill>
            <a:prstDash val="solid"/>
          </a:ln>
        </p:spPr>
        <p:txBody>
          <a:bodyPr/>
          <a:lstStyle/>
          <a:p>
            <a:endParaRPr lang="en-IN"/>
          </a:p>
        </p:txBody>
      </p:sp>
      <p:sp>
        <p:nvSpPr>
          <p:cNvPr id="16" name="Text 14"/>
          <p:cNvSpPr/>
          <p:nvPr/>
        </p:nvSpPr>
        <p:spPr>
          <a:xfrm>
            <a:off x="594360" y="3520440"/>
            <a:ext cx="5212080" cy="34747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Ticket Status Tracking — Monitor progress of maintenance requests</a:t>
            </a:r>
            <a:endParaRPr lang="en-US" sz="1200" dirty="0"/>
          </a:p>
        </p:txBody>
      </p:sp>
      <p:sp>
        <p:nvSpPr>
          <p:cNvPr id="17" name="Shape 15"/>
          <p:cNvSpPr/>
          <p:nvPr/>
        </p:nvSpPr>
        <p:spPr>
          <a:xfrm>
            <a:off x="320040" y="3977640"/>
            <a:ext cx="164592" cy="164592"/>
          </a:xfrm>
          <a:prstGeom prst="ellipse">
            <a:avLst/>
          </a:prstGeom>
          <a:solidFill>
            <a:srgbClr val="1ABC9C"/>
          </a:solidFill>
          <a:ln w="12700">
            <a:solidFill>
              <a:srgbClr val="1ABC9C"/>
            </a:solidFill>
            <a:prstDash val="solid"/>
          </a:ln>
        </p:spPr>
        <p:txBody>
          <a:bodyPr/>
          <a:lstStyle/>
          <a:p>
            <a:endParaRPr lang="en-IN"/>
          </a:p>
        </p:txBody>
      </p:sp>
      <p:sp>
        <p:nvSpPr>
          <p:cNvPr id="18" name="Text 16"/>
          <p:cNvSpPr/>
          <p:nvPr/>
        </p:nvSpPr>
        <p:spPr>
          <a:xfrm>
            <a:off x="594360" y="3922776"/>
            <a:ext cx="5212080" cy="347472"/>
          </a:xfrm>
          <a:prstGeom prst="rect">
            <a:avLst/>
          </a:prstGeom>
          <a:noFill/>
          <a:ln/>
        </p:spPr>
        <p:txBody>
          <a:bodyPr wrap="square" lIns="0" tIns="0" rIns="0" bIns="0" rtlCol="0" anchor="ctr"/>
          <a:lstStyle/>
          <a:p>
            <a:pPr marL="0" indent="0">
              <a:buNone/>
            </a:pPr>
            <a:r>
              <a:rPr lang="en-US" sz="1200" dirty="0">
                <a:solidFill>
                  <a:srgbClr val="0D1B2A"/>
                </a:solidFill>
                <a:latin typeface="Calibri" pitchFamily="34" charset="0"/>
                <a:ea typeface="Calibri" pitchFamily="34" charset="-122"/>
                <a:cs typeface="Calibri" pitchFamily="34" charset="-120"/>
              </a:rPr>
              <a:t>Real-time Facility Monitoring — 24/7 monitoring with AI-powered analytics</a:t>
            </a:r>
            <a:endParaRPr lang="en-US" sz="1200" dirty="0"/>
          </a:p>
        </p:txBody>
      </p:sp>
      <p:sp>
        <p:nvSpPr>
          <p:cNvPr id="19" name="Text 17"/>
          <p:cNvSpPr/>
          <p:nvPr/>
        </p:nvSpPr>
        <p:spPr>
          <a:xfrm>
            <a:off x="6217920" y="1051560"/>
            <a:ext cx="2743200" cy="365760"/>
          </a:xfrm>
          <a:prstGeom prst="rect">
            <a:avLst/>
          </a:prstGeom>
          <a:noFill/>
          <a:ln/>
        </p:spPr>
        <p:txBody>
          <a:bodyPr wrap="square" lIns="0" tIns="0" rIns="0" bIns="0" rtlCol="0" anchor="ctr"/>
          <a:lstStyle/>
          <a:p>
            <a:pPr marL="0" indent="0">
              <a:buNone/>
            </a:pPr>
            <a:r>
              <a:rPr lang="en-US" sz="1800" b="1" dirty="0">
                <a:solidFill>
                  <a:srgbClr val="1B4F72"/>
                </a:solidFill>
                <a:latin typeface="Calibri" pitchFamily="34" charset="0"/>
                <a:ea typeface="Calibri" pitchFamily="34" charset="-122"/>
                <a:cs typeface="Calibri" pitchFamily="34" charset="-120"/>
              </a:rPr>
              <a:t>Key Stakeholders</a:t>
            </a:r>
            <a:endParaRPr lang="en-US" sz="1800" dirty="0"/>
          </a:p>
        </p:txBody>
      </p:sp>
      <p:sp>
        <p:nvSpPr>
          <p:cNvPr id="20" name="Shape 18"/>
          <p:cNvSpPr/>
          <p:nvPr/>
        </p:nvSpPr>
        <p:spPr>
          <a:xfrm>
            <a:off x="6217920" y="1508760"/>
            <a:ext cx="2560320" cy="502920"/>
          </a:xfrm>
          <a:prstGeom prst="rect">
            <a:avLst/>
          </a:prstGeom>
          <a:solidFill>
            <a:srgbClr val="2E86C1"/>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21" name="Text 19"/>
          <p:cNvSpPr/>
          <p:nvPr/>
        </p:nvSpPr>
        <p:spPr>
          <a:xfrm>
            <a:off x="6217920" y="1508760"/>
            <a:ext cx="25603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Students</a:t>
            </a:r>
            <a:endParaRPr lang="en-US" sz="1300" dirty="0"/>
          </a:p>
        </p:txBody>
      </p:sp>
      <p:sp>
        <p:nvSpPr>
          <p:cNvPr id="22" name="Shape 20"/>
          <p:cNvSpPr/>
          <p:nvPr/>
        </p:nvSpPr>
        <p:spPr>
          <a:xfrm>
            <a:off x="6217920" y="2130552"/>
            <a:ext cx="2560320" cy="502920"/>
          </a:xfrm>
          <a:prstGeom prst="rect">
            <a:avLst/>
          </a:prstGeom>
          <a:solidFill>
            <a:srgbClr val="2E86C1"/>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23" name="Text 21"/>
          <p:cNvSpPr/>
          <p:nvPr/>
        </p:nvSpPr>
        <p:spPr>
          <a:xfrm>
            <a:off x="6217920" y="2130552"/>
            <a:ext cx="25603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Faculty</a:t>
            </a:r>
            <a:endParaRPr lang="en-US" sz="1300" dirty="0"/>
          </a:p>
        </p:txBody>
      </p:sp>
      <p:sp>
        <p:nvSpPr>
          <p:cNvPr id="24" name="Shape 22"/>
          <p:cNvSpPr/>
          <p:nvPr/>
        </p:nvSpPr>
        <p:spPr>
          <a:xfrm>
            <a:off x="6217920" y="2752344"/>
            <a:ext cx="2560320" cy="502920"/>
          </a:xfrm>
          <a:prstGeom prst="rect">
            <a:avLst/>
          </a:prstGeom>
          <a:solidFill>
            <a:srgbClr val="2E86C1"/>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25" name="Text 23"/>
          <p:cNvSpPr/>
          <p:nvPr/>
        </p:nvSpPr>
        <p:spPr>
          <a:xfrm>
            <a:off x="6217920" y="2752344"/>
            <a:ext cx="25603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Facility Managers</a:t>
            </a:r>
            <a:endParaRPr lang="en-US" sz="1300" dirty="0"/>
          </a:p>
        </p:txBody>
      </p:sp>
      <p:sp>
        <p:nvSpPr>
          <p:cNvPr id="26" name="Shape 24"/>
          <p:cNvSpPr/>
          <p:nvPr/>
        </p:nvSpPr>
        <p:spPr>
          <a:xfrm>
            <a:off x="6217920" y="3374136"/>
            <a:ext cx="2560320" cy="502920"/>
          </a:xfrm>
          <a:prstGeom prst="rect">
            <a:avLst/>
          </a:prstGeom>
          <a:solidFill>
            <a:srgbClr val="2E86C1"/>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27" name="Text 25"/>
          <p:cNvSpPr/>
          <p:nvPr/>
        </p:nvSpPr>
        <p:spPr>
          <a:xfrm>
            <a:off x="6217920" y="3374136"/>
            <a:ext cx="25603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Administrators</a:t>
            </a:r>
            <a:endParaRPr lang="en-US" sz="1300" dirty="0"/>
          </a:p>
        </p:txBody>
      </p:sp>
      <p:sp>
        <p:nvSpPr>
          <p:cNvPr id="28" name="Shape 26"/>
          <p:cNvSpPr/>
          <p:nvPr/>
        </p:nvSpPr>
        <p:spPr>
          <a:xfrm>
            <a:off x="6217920" y="3995928"/>
            <a:ext cx="2560320" cy="502920"/>
          </a:xfrm>
          <a:prstGeom prst="rect">
            <a:avLst/>
          </a:prstGeom>
          <a:solidFill>
            <a:srgbClr val="2E86C1"/>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29" name="Text 27"/>
          <p:cNvSpPr/>
          <p:nvPr/>
        </p:nvSpPr>
        <p:spPr>
          <a:xfrm>
            <a:off x="6217920" y="3995928"/>
            <a:ext cx="256032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Maintenance Staff</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86C1"/>
          </a:solidFill>
          <a:ln w="12700">
            <a:solidFill>
              <a:srgbClr val="2E86C1"/>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2E86C1"/>
          </a:solidFill>
          <a:ln w="12700">
            <a:solidFill>
              <a:srgbClr val="2E86C1"/>
            </a:solidFill>
            <a:prstDash val="solid"/>
          </a:ln>
        </p:spPr>
        <p:txBody>
          <a:bodyPr/>
          <a:lstStyle/>
          <a:p>
            <a:endParaRPr lang="en-IN"/>
          </a:p>
        </p:txBody>
      </p:sp>
      <p:sp>
        <p:nvSpPr>
          <p:cNvPr id="4" name="Text 2"/>
          <p:cNvSpPr/>
          <p:nvPr/>
        </p:nvSpPr>
        <p:spPr>
          <a:xfrm>
            <a:off x="457200" y="731520"/>
            <a:ext cx="1828800" cy="1828800"/>
          </a:xfrm>
          <a:prstGeom prst="rect">
            <a:avLst/>
          </a:prstGeom>
          <a:noFill/>
          <a:ln/>
        </p:spPr>
        <p:txBody>
          <a:bodyPr wrap="square" lIns="0" tIns="0" rIns="0" bIns="0" rtlCol="0" anchor="ctr"/>
          <a:lstStyle/>
          <a:p>
            <a:pPr marL="0" indent="0" algn="l">
              <a:buNone/>
            </a:pPr>
            <a:r>
              <a:rPr lang="en-US" sz="12000" b="1" dirty="0">
                <a:solidFill>
                  <a:srgbClr val="2E86C1">
                    <a:alpha val="70000"/>
                  </a:srgbClr>
                </a:solidFill>
                <a:latin typeface="Calibri" pitchFamily="34" charset="0"/>
                <a:ea typeface="Calibri" pitchFamily="34" charset="-122"/>
                <a:cs typeface="Calibri" pitchFamily="34" charset="-120"/>
              </a:rPr>
              <a:t>02</a:t>
            </a:r>
            <a:endParaRPr lang="en-US" sz="12000" dirty="0"/>
          </a:p>
        </p:txBody>
      </p:sp>
      <p:sp>
        <p:nvSpPr>
          <p:cNvPr id="5" name="Text 3"/>
          <p:cNvSpPr/>
          <p:nvPr/>
        </p:nvSpPr>
        <p:spPr>
          <a:xfrm>
            <a:off x="457200" y="2011680"/>
            <a:ext cx="8229600" cy="822960"/>
          </a:xfrm>
          <a:prstGeom prst="rect">
            <a:avLst/>
          </a:prstGeom>
          <a:noFill/>
          <a:ln/>
        </p:spPr>
        <p:txBody>
          <a:bodyPr wrap="square" lIns="0" tIns="0" rIns="0" bIns="0"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Requirements</a:t>
            </a:r>
            <a:endParaRPr lang="en-US" sz="4400" dirty="0"/>
          </a:p>
        </p:txBody>
      </p:sp>
      <p:sp>
        <p:nvSpPr>
          <p:cNvPr id="6" name="Text 4"/>
          <p:cNvSpPr/>
          <p:nvPr/>
        </p:nvSpPr>
        <p:spPr>
          <a:xfrm>
            <a:off x="457200" y="2834640"/>
            <a:ext cx="8229600" cy="457200"/>
          </a:xfrm>
          <a:prstGeom prst="rect">
            <a:avLst/>
          </a:prstGeom>
          <a:noFill/>
          <a:ln/>
        </p:spPr>
        <p:txBody>
          <a:bodyPr wrap="square" lIns="0" tIns="0" rIns="0" bIns="0" rtlCol="0" anchor="ctr"/>
          <a:lstStyle/>
          <a:p>
            <a:pPr marL="0" indent="0" algn="l">
              <a:buNone/>
            </a:pPr>
            <a:r>
              <a:rPr lang="en-US" sz="1600" i="1" dirty="0">
                <a:solidFill>
                  <a:srgbClr val="AED6F1"/>
                </a:solidFill>
                <a:latin typeface="Calibri" pitchFamily="34" charset="0"/>
                <a:ea typeface="Calibri" pitchFamily="34" charset="-122"/>
                <a:cs typeface="Calibri" pitchFamily="34" charset="-120"/>
              </a:rPr>
              <a:t>Use Cases · Activity Diagrams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F72"/>
          </a:solidFill>
          <a:ln w="12700">
            <a:solidFill>
              <a:srgbClr val="1B4F72"/>
            </a:solidFill>
            <a:prstDash val="solid"/>
          </a:ln>
        </p:spPr>
        <p:txBody>
          <a:bodyPr/>
          <a:lstStyle/>
          <a:p>
            <a:endParaRPr lang="en-IN"/>
          </a:p>
        </p:txBody>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Requirements — Use Case Model</a:t>
            </a:r>
            <a:endParaRPr lang="en-US" sz="2600" dirty="0"/>
          </a:p>
        </p:txBody>
      </p:sp>
      <p:sp>
        <p:nvSpPr>
          <p:cNvPr id="4" name="Shape 2"/>
          <p:cNvSpPr/>
          <p:nvPr/>
        </p:nvSpPr>
        <p:spPr>
          <a:xfrm>
            <a:off x="320040" y="1051560"/>
            <a:ext cx="4114800" cy="804672"/>
          </a:xfrm>
          <a:prstGeom prst="rect">
            <a:avLst/>
          </a:prstGeom>
          <a:solidFill>
            <a:srgbClr val="FFFFFF"/>
          </a:solidFill>
          <a:ln w="12700">
            <a:solidFill>
              <a:srgbClr val="ECF0F1"/>
            </a:solidFill>
            <a:prstDash val="solid"/>
          </a:ln>
          <a:effectLst>
            <a:outerShdw blurRad="101600" dist="38100" dir="8100000" algn="bl" rotWithShape="0">
              <a:srgbClr val="000000">
                <a:alpha val="20000"/>
              </a:srgbClr>
            </a:outerShdw>
          </a:effectLst>
        </p:spPr>
        <p:txBody>
          <a:bodyPr/>
          <a:lstStyle/>
          <a:p>
            <a:endParaRPr lang="en-IN"/>
          </a:p>
        </p:txBody>
      </p:sp>
      <p:sp>
        <p:nvSpPr>
          <p:cNvPr id="5" name="Shape 3"/>
          <p:cNvSpPr/>
          <p:nvPr/>
        </p:nvSpPr>
        <p:spPr>
          <a:xfrm>
            <a:off x="320040" y="1051560"/>
            <a:ext cx="64008" cy="804672"/>
          </a:xfrm>
          <a:prstGeom prst="rect">
            <a:avLst/>
          </a:prstGeom>
          <a:solidFill>
            <a:srgbClr val="2E86C1"/>
          </a:solidFill>
          <a:ln w="12700">
            <a:solidFill>
              <a:srgbClr val="2E86C1"/>
            </a:solidFill>
            <a:prstDash val="solid"/>
          </a:ln>
        </p:spPr>
        <p:txBody>
          <a:bodyPr/>
          <a:lstStyle/>
          <a:p>
            <a:endParaRPr lang="en-IN"/>
          </a:p>
        </p:txBody>
      </p:sp>
      <p:sp>
        <p:nvSpPr>
          <p:cNvPr id="6" name="Text 4"/>
          <p:cNvSpPr/>
          <p:nvPr/>
        </p:nvSpPr>
        <p:spPr>
          <a:xfrm>
            <a:off x="484632" y="1097280"/>
            <a:ext cx="640080" cy="274320"/>
          </a:xfrm>
          <a:prstGeom prst="rect">
            <a:avLst/>
          </a:prstGeom>
          <a:noFill/>
          <a:ln/>
        </p:spPr>
        <p:txBody>
          <a:bodyPr wrap="square" lIns="0" tIns="0" rIns="0" bIns="0" rtlCol="0" anchor="ctr"/>
          <a:lstStyle/>
          <a:p>
            <a:pPr marL="0" indent="0">
              <a:buNone/>
            </a:pPr>
            <a:r>
              <a:rPr lang="en-US" sz="1100" b="1" dirty="0">
                <a:solidFill>
                  <a:srgbClr val="1ABC9C"/>
                </a:solidFill>
                <a:latin typeface="Calibri" pitchFamily="34" charset="0"/>
                <a:ea typeface="Calibri" pitchFamily="34" charset="-122"/>
                <a:cs typeface="Calibri" pitchFamily="34" charset="-120"/>
              </a:rPr>
              <a:t>UC-01</a:t>
            </a:r>
            <a:endParaRPr lang="en-US" sz="1100" dirty="0"/>
          </a:p>
        </p:txBody>
      </p:sp>
      <p:sp>
        <p:nvSpPr>
          <p:cNvPr id="7" name="Text 5"/>
          <p:cNvSpPr/>
          <p:nvPr/>
        </p:nvSpPr>
        <p:spPr>
          <a:xfrm>
            <a:off x="484632" y="1325880"/>
            <a:ext cx="3657600" cy="256032"/>
          </a:xfrm>
          <a:prstGeom prst="rect">
            <a:avLst/>
          </a:prstGeom>
          <a:noFill/>
          <a:ln/>
        </p:spPr>
        <p:txBody>
          <a:bodyPr wrap="square" lIns="0" tIns="0" rIns="0" bIns="0" rtlCol="0" anchor="ctr"/>
          <a:lstStyle/>
          <a:p>
            <a:pPr marL="0" indent="0">
              <a:buNone/>
            </a:pPr>
            <a:r>
              <a:rPr lang="en-US" sz="1300" b="1" dirty="0">
                <a:solidFill>
                  <a:srgbClr val="1B4F72"/>
                </a:solidFill>
                <a:latin typeface="Calibri" pitchFamily="34" charset="0"/>
                <a:ea typeface="Calibri" pitchFamily="34" charset="-122"/>
                <a:cs typeface="Calibri" pitchFamily="34" charset="-120"/>
              </a:rPr>
              <a:t>Authenticate Credentials</a:t>
            </a:r>
            <a:endParaRPr lang="en-US" sz="1300" dirty="0"/>
          </a:p>
        </p:txBody>
      </p:sp>
      <p:sp>
        <p:nvSpPr>
          <p:cNvPr id="8" name="Text 6"/>
          <p:cNvSpPr/>
          <p:nvPr/>
        </p:nvSpPr>
        <p:spPr>
          <a:xfrm>
            <a:off x="484632" y="1581912"/>
            <a:ext cx="3749040" cy="228600"/>
          </a:xfrm>
          <a:prstGeom prst="rect">
            <a:avLst/>
          </a:prstGeom>
          <a:noFill/>
          <a:ln/>
        </p:spPr>
        <p:txBody>
          <a:bodyPr wrap="square" lIns="0" tIns="0" rIns="0" bIns="0" rtlCol="0" anchor="ctr"/>
          <a:lstStyle/>
          <a:p>
            <a:pPr marL="0" indent="0">
              <a:buNone/>
            </a:pPr>
            <a:r>
              <a:rPr lang="en-US" sz="1000" dirty="0">
                <a:solidFill>
                  <a:srgbClr val="7F8C8D"/>
                </a:solidFill>
                <a:latin typeface="Calibri" pitchFamily="34" charset="0"/>
                <a:ea typeface="Calibri" pitchFamily="34" charset="-122"/>
                <a:cs typeface="Calibri" pitchFamily="34" charset="-120"/>
              </a:rPr>
              <a:t>Actor: User  |  Secure login &amp; session management</a:t>
            </a:r>
            <a:endParaRPr lang="en-US" sz="1000" dirty="0"/>
          </a:p>
        </p:txBody>
      </p:sp>
      <p:sp>
        <p:nvSpPr>
          <p:cNvPr id="9" name="Shape 7"/>
          <p:cNvSpPr/>
          <p:nvPr/>
        </p:nvSpPr>
        <p:spPr>
          <a:xfrm>
            <a:off x="320040" y="2011680"/>
            <a:ext cx="4114800" cy="804672"/>
          </a:xfrm>
          <a:prstGeom prst="rect">
            <a:avLst/>
          </a:prstGeom>
          <a:solidFill>
            <a:srgbClr val="FFFFFF"/>
          </a:solidFill>
          <a:ln w="12700">
            <a:solidFill>
              <a:srgbClr val="ECF0F1"/>
            </a:solidFill>
            <a:prstDash val="solid"/>
          </a:ln>
          <a:effectLst>
            <a:outerShdw blurRad="101600" dist="38100" dir="8100000" algn="bl" rotWithShape="0">
              <a:srgbClr val="000000">
                <a:alpha val="20000"/>
              </a:srgbClr>
            </a:outerShdw>
          </a:effectLst>
        </p:spPr>
        <p:txBody>
          <a:bodyPr/>
          <a:lstStyle/>
          <a:p>
            <a:endParaRPr lang="en-IN"/>
          </a:p>
        </p:txBody>
      </p:sp>
      <p:sp>
        <p:nvSpPr>
          <p:cNvPr id="10" name="Shape 8"/>
          <p:cNvSpPr/>
          <p:nvPr/>
        </p:nvSpPr>
        <p:spPr>
          <a:xfrm>
            <a:off x="320040" y="2011680"/>
            <a:ext cx="64008" cy="804672"/>
          </a:xfrm>
          <a:prstGeom prst="rect">
            <a:avLst/>
          </a:prstGeom>
          <a:solidFill>
            <a:srgbClr val="2E86C1"/>
          </a:solidFill>
          <a:ln w="12700">
            <a:solidFill>
              <a:srgbClr val="2E86C1"/>
            </a:solidFill>
            <a:prstDash val="solid"/>
          </a:ln>
        </p:spPr>
        <p:txBody>
          <a:bodyPr/>
          <a:lstStyle/>
          <a:p>
            <a:endParaRPr lang="en-IN"/>
          </a:p>
        </p:txBody>
      </p:sp>
      <p:sp>
        <p:nvSpPr>
          <p:cNvPr id="11" name="Text 9"/>
          <p:cNvSpPr/>
          <p:nvPr/>
        </p:nvSpPr>
        <p:spPr>
          <a:xfrm>
            <a:off x="484632" y="2057400"/>
            <a:ext cx="640080" cy="274320"/>
          </a:xfrm>
          <a:prstGeom prst="rect">
            <a:avLst/>
          </a:prstGeom>
          <a:noFill/>
          <a:ln/>
        </p:spPr>
        <p:txBody>
          <a:bodyPr wrap="square" lIns="0" tIns="0" rIns="0" bIns="0" rtlCol="0" anchor="ctr"/>
          <a:lstStyle/>
          <a:p>
            <a:pPr marL="0" indent="0">
              <a:buNone/>
            </a:pPr>
            <a:r>
              <a:rPr lang="en-US" sz="1100" b="1" dirty="0">
                <a:solidFill>
                  <a:srgbClr val="1ABC9C"/>
                </a:solidFill>
                <a:latin typeface="Calibri" pitchFamily="34" charset="0"/>
                <a:ea typeface="Calibri" pitchFamily="34" charset="-122"/>
                <a:cs typeface="Calibri" pitchFamily="34" charset="-120"/>
              </a:rPr>
              <a:t>UC-02</a:t>
            </a:r>
            <a:endParaRPr lang="en-US" sz="1100" dirty="0"/>
          </a:p>
        </p:txBody>
      </p:sp>
      <p:sp>
        <p:nvSpPr>
          <p:cNvPr id="12" name="Text 10"/>
          <p:cNvSpPr/>
          <p:nvPr/>
        </p:nvSpPr>
        <p:spPr>
          <a:xfrm>
            <a:off x="484632" y="2286000"/>
            <a:ext cx="3657600" cy="256032"/>
          </a:xfrm>
          <a:prstGeom prst="rect">
            <a:avLst/>
          </a:prstGeom>
          <a:noFill/>
          <a:ln/>
        </p:spPr>
        <p:txBody>
          <a:bodyPr wrap="square" lIns="0" tIns="0" rIns="0" bIns="0" rtlCol="0" anchor="ctr"/>
          <a:lstStyle/>
          <a:p>
            <a:pPr marL="0" indent="0">
              <a:buNone/>
            </a:pPr>
            <a:r>
              <a:rPr lang="en-US" sz="1300" b="1" dirty="0">
                <a:solidFill>
                  <a:srgbClr val="1B4F72"/>
                </a:solidFill>
                <a:latin typeface="Calibri" pitchFamily="34" charset="0"/>
                <a:ea typeface="Calibri" pitchFamily="34" charset="-122"/>
                <a:cs typeface="Calibri" pitchFamily="34" charset="-120"/>
              </a:rPr>
              <a:t>Book Room</a:t>
            </a:r>
            <a:endParaRPr lang="en-US" sz="1300" dirty="0"/>
          </a:p>
        </p:txBody>
      </p:sp>
      <p:sp>
        <p:nvSpPr>
          <p:cNvPr id="13" name="Text 11"/>
          <p:cNvSpPr/>
          <p:nvPr/>
        </p:nvSpPr>
        <p:spPr>
          <a:xfrm>
            <a:off x="484632" y="2542032"/>
            <a:ext cx="3749040" cy="228600"/>
          </a:xfrm>
          <a:prstGeom prst="rect">
            <a:avLst/>
          </a:prstGeom>
          <a:noFill/>
          <a:ln/>
        </p:spPr>
        <p:txBody>
          <a:bodyPr wrap="square" lIns="0" tIns="0" rIns="0" bIns="0" rtlCol="0" anchor="ctr"/>
          <a:lstStyle/>
          <a:p>
            <a:pPr marL="0" indent="0">
              <a:buNone/>
            </a:pPr>
            <a:r>
              <a:rPr lang="en-US" sz="1000" dirty="0">
                <a:solidFill>
                  <a:srgbClr val="7F8C8D"/>
                </a:solidFill>
                <a:latin typeface="Calibri" pitchFamily="34" charset="0"/>
                <a:ea typeface="Calibri" pitchFamily="34" charset="-122"/>
                <a:cs typeface="Calibri" pitchFamily="34" charset="-120"/>
              </a:rPr>
              <a:t>Actor: User/Student/Faculty  |  Reserve campus facility spaces</a:t>
            </a:r>
            <a:endParaRPr lang="en-US" sz="1000" dirty="0"/>
          </a:p>
        </p:txBody>
      </p:sp>
      <p:sp>
        <p:nvSpPr>
          <p:cNvPr id="14" name="Shape 12"/>
          <p:cNvSpPr/>
          <p:nvPr/>
        </p:nvSpPr>
        <p:spPr>
          <a:xfrm>
            <a:off x="320040" y="2971800"/>
            <a:ext cx="4114800" cy="804672"/>
          </a:xfrm>
          <a:prstGeom prst="rect">
            <a:avLst/>
          </a:prstGeom>
          <a:solidFill>
            <a:srgbClr val="FFFFFF"/>
          </a:solidFill>
          <a:ln w="12700">
            <a:solidFill>
              <a:srgbClr val="ECF0F1"/>
            </a:solidFill>
            <a:prstDash val="solid"/>
          </a:ln>
          <a:effectLst>
            <a:outerShdw blurRad="101600" dist="38100" dir="8100000" algn="bl" rotWithShape="0">
              <a:srgbClr val="000000">
                <a:alpha val="20000"/>
              </a:srgbClr>
            </a:outerShdw>
          </a:effectLst>
        </p:spPr>
        <p:txBody>
          <a:bodyPr/>
          <a:lstStyle/>
          <a:p>
            <a:endParaRPr lang="en-IN"/>
          </a:p>
        </p:txBody>
      </p:sp>
      <p:sp>
        <p:nvSpPr>
          <p:cNvPr id="15" name="Shape 13"/>
          <p:cNvSpPr/>
          <p:nvPr/>
        </p:nvSpPr>
        <p:spPr>
          <a:xfrm>
            <a:off x="320040" y="2971800"/>
            <a:ext cx="64008" cy="804672"/>
          </a:xfrm>
          <a:prstGeom prst="rect">
            <a:avLst/>
          </a:prstGeom>
          <a:solidFill>
            <a:srgbClr val="2E86C1"/>
          </a:solidFill>
          <a:ln w="12700">
            <a:solidFill>
              <a:srgbClr val="2E86C1"/>
            </a:solidFill>
            <a:prstDash val="solid"/>
          </a:ln>
        </p:spPr>
        <p:txBody>
          <a:bodyPr/>
          <a:lstStyle/>
          <a:p>
            <a:endParaRPr lang="en-IN"/>
          </a:p>
        </p:txBody>
      </p:sp>
      <p:sp>
        <p:nvSpPr>
          <p:cNvPr id="16" name="Text 14"/>
          <p:cNvSpPr/>
          <p:nvPr/>
        </p:nvSpPr>
        <p:spPr>
          <a:xfrm>
            <a:off x="484632" y="3017520"/>
            <a:ext cx="640080" cy="274320"/>
          </a:xfrm>
          <a:prstGeom prst="rect">
            <a:avLst/>
          </a:prstGeom>
          <a:noFill/>
          <a:ln/>
        </p:spPr>
        <p:txBody>
          <a:bodyPr wrap="square" lIns="0" tIns="0" rIns="0" bIns="0" rtlCol="0" anchor="ctr"/>
          <a:lstStyle/>
          <a:p>
            <a:pPr marL="0" indent="0">
              <a:buNone/>
            </a:pPr>
            <a:r>
              <a:rPr lang="en-US" sz="1100" b="1" dirty="0">
                <a:solidFill>
                  <a:srgbClr val="1ABC9C"/>
                </a:solidFill>
                <a:latin typeface="Calibri" pitchFamily="34" charset="0"/>
                <a:ea typeface="Calibri" pitchFamily="34" charset="-122"/>
                <a:cs typeface="Calibri" pitchFamily="34" charset="-120"/>
              </a:rPr>
              <a:t>UC-03</a:t>
            </a:r>
            <a:endParaRPr lang="en-US" sz="1100" dirty="0"/>
          </a:p>
        </p:txBody>
      </p:sp>
      <p:sp>
        <p:nvSpPr>
          <p:cNvPr id="17" name="Text 15"/>
          <p:cNvSpPr/>
          <p:nvPr/>
        </p:nvSpPr>
        <p:spPr>
          <a:xfrm>
            <a:off x="484632" y="3246120"/>
            <a:ext cx="3657600" cy="256032"/>
          </a:xfrm>
          <a:prstGeom prst="rect">
            <a:avLst/>
          </a:prstGeom>
          <a:noFill/>
          <a:ln/>
        </p:spPr>
        <p:txBody>
          <a:bodyPr wrap="square" lIns="0" tIns="0" rIns="0" bIns="0" rtlCol="0" anchor="ctr"/>
          <a:lstStyle/>
          <a:p>
            <a:pPr marL="0" indent="0">
              <a:buNone/>
            </a:pPr>
            <a:r>
              <a:rPr lang="en-US" sz="1300" b="1" dirty="0">
                <a:solidFill>
                  <a:srgbClr val="1B4F72"/>
                </a:solidFill>
                <a:latin typeface="Calibri" pitchFamily="34" charset="0"/>
                <a:ea typeface="Calibri" pitchFamily="34" charset="-122"/>
                <a:cs typeface="Calibri" pitchFamily="34" charset="-120"/>
              </a:rPr>
              <a:t>Search Availability</a:t>
            </a:r>
            <a:endParaRPr lang="en-US" sz="1300" dirty="0"/>
          </a:p>
        </p:txBody>
      </p:sp>
      <p:sp>
        <p:nvSpPr>
          <p:cNvPr id="18" name="Text 16"/>
          <p:cNvSpPr/>
          <p:nvPr/>
        </p:nvSpPr>
        <p:spPr>
          <a:xfrm>
            <a:off x="484632" y="3502152"/>
            <a:ext cx="3749040" cy="228600"/>
          </a:xfrm>
          <a:prstGeom prst="rect">
            <a:avLst/>
          </a:prstGeom>
          <a:noFill/>
          <a:ln/>
        </p:spPr>
        <p:txBody>
          <a:bodyPr wrap="square" lIns="0" tIns="0" rIns="0" bIns="0" rtlCol="0" anchor="ctr"/>
          <a:lstStyle/>
          <a:p>
            <a:pPr marL="0" indent="0">
              <a:buNone/>
            </a:pPr>
            <a:r>
              <a:rPr lang="en-US" sz="1000" dirty="0">
                <a:solidFill>
                  <a:srgbClr val="7F8C8D"/>
                </a:solidFill>
                <a:latin typeface="Calibri" pitchFamily="34" charset="0"/>
                <a:ea typeface="Calibri" pitchFamily="34" charset="-122"/>
                <a:cs typeface="Calibri" pitchFamily="34" charset="-120"/>
              </a:rPr>
              <a:t>Actor: User  |  Real-time room availability lookup</a:t>
            </a:r>
            <a:endParaRPr lang="en-US" sz="1000" dirty="0"/>
          </a:p>
        </p:txBody>
      </p:sp>
      <p:sp>
        <p:nvSpPr>
          <p:cNvPr id="19" name="Shape 17"/>
          <p:cNvSpPr/>
          <p:nvPr/>
        </p:nvSpPr>
        <p:spPr>
          <a:xfrm>
            <a:off x="320040" y="3931920"/>
            <a:ext cx="4114800" cy="804672"/>
          </a:xfrm>
          <a:prstGeom prst="rect">
            <a:avLst/>
          </a:prstGeom>
          <a:solidFill>
            <a:srgbClr val="FFFFFF"/>
          </a:solidFill>
          <a:ln w="12700">
            <a:solidFill>
              <a:srgbClr val="ECF0F1"/>
            </a:solidFill>
            <a:prstDash val="solid"/>
          </a:ln>
          <a:effectLst>
            <a:outerShdw blurRad="101600" dist="38100" dir="8100000" algn="bl" rotWithShape="0">
              <a:srgbClr val="000000">
                <a:alpha val="20000"/>
              </a:srgbClr>
            </a:outerShdw>
          </a:effectLst>
        </p:spPr>
        <p:txBody>
          <a:bodyPr/>
          <a:lstStyle/>
          <a:p>
            <a:endParaRPr lang="en-IN"/>
          </a:p>
        </p:txBody>
      </p:sp>
      <p:sp>
        <p:nvSpPr>
          <p:cNvPr id="20" name="Shape 18"/>
          <p:cNvSpPr/>
          <p:nvPr/>
        </p:nvSpPr>
        <p:spPr>
          <a:xfrm>
            <a:off x="320040" y="3931920"/>
            <a:ext cx="64008" cy="804672"/>
          </a:xfrm>
          <a:prstGeom prst="rect">
            <a:avLst/>
          </a:prstGeom>
          <a:solidFill>
            <a:srgbClr val="2E86C1"/>
          </a:solidFill>
          <a:ln w="12700">
            <a:solidFill>
              <a:srgbClr val="2E86C1"/>
            </a:solidFill>
            <a:prstDash val="solid"/>
          </a:ln>
        </p:spPr>
        <p:txBody>
          <a:bodyPr/>
          <a:lstStyle/>
          <a:p>
            <a:endParaRPr lang="en-IN"/>
          </a:p>
        </p:txBody>
      </p:sp>
      <p:sp>
        <p:nvSpPr>
          <p:cNvPr id="21" name="Text 19"/>
          <p:cNvSpPr/>
          <p:nvPr/>
        </p:nvSpPr>
        <p:spPr>
          <a:xfrm>
            <a:off x="484632" y="3977640"/>
            <a:ext cx="640080" cy="274320"/>
          </a:xfrm>
          <a:prstGeom prst="rect">
            <a:avLst/>
          </a:prstGeom>
          <a:noFill/>
          <a:ln/>
        </p:spPr>
        <p:txBody>
          <a:bodyPr wrap="square" lIns="0" tIns="0" rIns="0" bIns="0" rtlCol="0" anchor="ctr"/>
          <a:lstStyle/>
          <a:p>
            <a:pPr marL="0" indent="0">
              <a:buNone/>
            </a:pPr>
            <a:r>
              <a:rPr lang="en-US" sz="1100" b="1" dirty="0">
                <a:solidFill>
                  <a:srgbClr val="1ABC9C"/>
                </a:solidFill>
                <a:latin typeface="Calibri" pitchFamily="34" charset="0"/>
                <a:ea typeface="Calibri" pitchFamily="34" charset="-122"/>
                <a:cs typeface="Calibri" pitchFamily="34" charset="-120"/>
              </a:rPr>
              <a:t>UC-04</a:t>
            </a:r>
            <a:endParaRPr lang="en-US" sz="1100" dirty="0"/>
          </a:p>
        </p:txBody>
      </p:sp>
      <p:sp>
        <p:nvSpPr>
          <p:cNvPr id="22" name="Text 20"/>
          <p:cNvSpPr/>
          <p:nvPr/>
        </p:nvSpPr>
        <p:spPr>
          <a:xfrm>
            <a:off x="484632" y="4206240"/>
            <a:ext cx="3657600" cy="256032"/>
          </a:xfrm>
          <a:prstGeom prst="rect">
            <a:avLst/>
          </a:prstGeom>
          <a:noFill/>
          <a:ln/>
        </p:spPr>
        <p:txBody>
          <a:bodyPr wrap="square" lIns="0" tIns="0" rIns="0" bIns="0" rtlCol="0" anchor="ctr"/>
          <a:lstStyle/>
          <a:p>
            <a:pPr marL="0" indent="0">
              <a:buNone/>
            </a:pPr>
            <a:r>
              <a:rPr lang="en-US" sz="1300" b="1" dirty="0">
                <a:solidFill>
                  <a:srgbClr val="1B4F72"/>
                </a:solidFill>
                <a:latin typeface="Calibri" pitchFamily="34" charset="0"/>
                <a:ea typeface="Calibri" pitchFamily="34" charset="-122"/>
                <a:cs typeface="Calibri" pitchFamily="34" charset="-120"/>
              </a:rPr>
              <a:t>Check-In / Check-Out</a:t>
            </a:r>
            <a:endParaRPr lang="en-US" sz="1300" dirty="0"/>
          </a:p>
        </p:txBody>
      </p:sp>
      <p:sp>
        <p:nvSpPr>
          <p:cNvPr id="23" name="Text 21"/>
          <p:cNvSpPr/>
          <p:nvPr/>
        </p:nvSpPr>
        <p:spPr>
          <a:xfrm>
            <a:off x="484632" y="4462272"/>
            <a:ext cx="3749040" cy="228600"/>
          </a:xfrm>
          <a:prstGeom prst="rect">
            <a:avLst/>
          </a:prstGeom>
          <a:noFill/>
          <a:ln/>
        </p:spPr>
        <p:txBody>
          <a:bodyPr wrap="square" lIns="0" tIns="0" rIns="0" bIns="0" rtlCol="0" anchor="ctr"/>
          <a:lstStyle/>
          <a:p>
            <a:pPr marL="0" indent="0">
              <a:buNone/>
            </a:pPr>
            <a:r>
              <a:rPr lang="en-US" sz="1000" dirty="0">
                <a:solidFill>
                  <a:srgbClr val="7F8C8D"/>
                </a:solidFill>
                <a:latin typeface="Calibri" pitchFamily="34" charset="0"/>
                <a:ea typeface="Calibri" pitchFamily="34" charset="-122"/>
                <a:cs typeface="Calibri" pitchFamily="34" charset="-120"/>
              </a:rPr>
              <a:t>Actor: User  |  Track occupancy at booking time</a:t>
            </a:r>
            <a:endParaRPr lang="en-US" sz="1000" dirty="0"/>
          </a:p>
        </p:txBody>
      </p:sp>
      <p:sp>
        <p:nvSpPr>
          <p:cNvPr id="24" name="Shape 22"/>
          <p:cNvSpPr/>
          <p:nvPr/>
        </p:nvSpPr>
        <p:spPr>
          <a:xfrm>
            <a:off x="4892040" y="1051560"/>
            <a:ext cx="4114800" cy="804672"/>
          </a:xfrm>
          <a:prstGeom prst="rect">
            <a:avLst/>
          </a:prstGeom>
          <a:solidFill>
            <a:srgbClr val="FFFFFF"/>
          </a:solidFill>
          <a:ln w="12700">
            <a:solidFill>
              <a:srgbClr val="ECF0F1"/>
            </a:solidFill>
            <a:prstDash val="solid"/>
          </a:ln>
          <a:effectLst>
            <a:outerShdw blurRad="101600" dist="38100" dir="8100000" algn="bl" rotWithShape="0">
              <a:srgbClr val="000000">
                <a:alpha val="20000"/>
              </a:srgbClr>
            </a:outerShdw>
          </a:effectLst>
        </p:spPr>
        <p:txBody>
          <a:bodyPr/>
          <a:lstStyle/>
          <a:p>
            <a:endParaRPr lang="en-IN"/>
          </a:p>
        </p:txBody>
      </p:sp>
      <p:sp>
        <p:nvSpPr>
          <p:cNvPr id="25" name="Shape 23"/>
          <p:cNvSpPr/>
          <p:nvPr/>
        </p:nvSpPr>
        <p:spPr>
          <a:xfrm>
            <a:off x="4892040" y="1051560"/>
            <a:ext cx="64008" cy="804672"/>
          </a:xfrm>
          <a:prstGeom prst="rect">
            <a:avLst/>
          </a:prstGeom>
          <a:solidFill>
            <a:srgbClr val="2E86C1"/>
          </a:solidFill>
          <a:ln w="12700">
            <a:solidFill>
              <a:srgbClr val="2E86C1"/>
            </a:solidFill>
            <a:prstDash val="solid"/>
          </a:ln>
        </p:spPr>
        <p:txBody>
          <a:bodyPr/>
          <a:lstStyle/>
          <a:p>
            <a:endParaRPr lang="en-IN"/>
          </a:p>
        </p:txBody>
      </p:sp>
      <p:sp>
        <p:nvSpPr>
          <p:cNvPr id="26" name="Text 24"/>
          <p:cNvSpPr/>
          <p:nvPr/>
        </p:nvSpPr>
        <p:spPr>
          <a:xfrm>
            <a:off x="5056632" y="1097280"/>
            <a:ext cx="640080" cy="274320"/>
          </a:xfrm>
          <a:prstGeom prst="rect">
            <a:avLst/>
          </a:prstGeom>
          <a:noFill/>
          <a:ln/>
        </p:spPr>
        <p:txBody>
          <a:bodyPr wrap="square" lIns="0" tIns="0" rIns="0" bIns="0" rtlCol="0" anchor="ctr"/>
          <a:lstStyle/>
          <a:p>
            <a:pPr marL="0" indent="0">
              <a:buNone/>
            </a:pPr>
            <a:r>
              <a:rPr lang="en-US" sz="1100" b="1" dirty="0">
                <a:solidFill>
                  <a:srgbClr val="1ABC9C"/>
                </a:solidFill>
                <a:latin typeface="Calibri" pitchFamily="34" charset="0"/>
                <a:ea typeface="Calibri" pitchFamily="34" charset="-122"/>
                <a:cs typeface="Calibri" pitchFamily="34" charset="-120"/>
              </a:rPr>
              <a:t>UC-05</a:t>
            </a:r>
            <a:endParaRPr lang="en-US" sz="1100" dirty="0"/>
          </a:p>
        </p:txBody>
      </p:sp>
      <p:sp>
        <p:nvSpPr>
          <p:cNvPr id="27" name="Text 25"/>
          <p:cNvSpPr/>
          <p:nvPr/>
        </p:nvSpPr>
        <p:spPr>
          <a:xfrm>
            <a:off x="5056632" y="1325880"/>
            <a:ext cx="3657600" cy="256032"/>
          </a:xfrm>
          <a:prstGeom prst="rect">
            <a:avLst/>
          </a:prstGeom>
          <a:noFill/>
          <a:ln/>
        </p:spPr>
        <p:txBody>
          <a:bodyPr wrap="square" lIns="0" tIns="0" rIns="0" bIns="0" rtlCol="0" anchor="ctr"/>
          <a:lstStyle/>
          <a:p>
            <a:pPr marL="0" indent="0">
              <a:buNone/>
            </a:pPr>
            <a:r>
              <a:rPr lang="en-US" sz="1300" b="1" dirty="0">
                <a:solidFill>
                  <a:srgbClr val="1B4F72"/>
                </a:solidFill>
                <a:latin typeface="Calibri" pitchFamily="34" charset="0"/>
                <a:ea typeface="Calibri" pitchFamily="34" charset="-122"/>
                <a:cs typeface="Calibri" pitchFamily="34" charset="-120"/>
              </a:rPr>
              <a:t>Create Maintenance Ticket</a:t>
            </a:r>
            <a:endParaRPr lang="en-US" sz="1300" dirty="0"/>
          </a:p>
        </p:txBody>
      </p:sp>
      <p:sp>
        <p:nvSpPr>
          <p:cNvPr id="28" name="Text 26"/>
          <p:cNvSpPr/>
          <p:nvPr/>
        </p:nvSpPr>
        <p:spPr>
          <a:xfrm>
            <a:off x="5056632" y="1581912"/>
            <a:ext cx="3749040" cy="228600"/>
          </a:xfrm>
          <a:prstGeom prst="rect">
            <a:avLst/>
          </a:prstGeom>
          <a:noFill/>
          <a:ln/>
        </p:spPr>
        <p:txBody>
          <a:bodyPr wrap="square" lIns="0" tIns="0" rIns="0" bIns="0" rtlCol="0" anchor="ctr"/>
          <a:lstStyle/>
          <a:p>
            <a:pPr marL="0" indent="0">
              <a:buNone/>
            </a:pPr>
            <a:r>
              <a:rPr lang="en-US" sz="1000" dirty="0">
                <a:solidFill>
                  <a:srgbClr val="7F8C8D"/>
                </a:solidFill>
                <a:latin typeface="Calibri" pitchFamily="34" charset="0"/>
                <a:ea typeface="Calibri" pitchFamily="34" charset="-122"/>
                <a:cs typeface="Calibri" pitchFamily="34" charset="-120"/>
              </a:rPr>
              <a:t>Actor: User/Staff  |  Submit facility issue reports</a:t>
            </a:r>
            <a:endParaRPr lang="en-US" sz="1000" dirty="0"/>
          </a:p>
        </p:txBody>
      </p:sp>
      <p:sp>
        <p:nvSpPr>
          <p:cNvPr id="29" name="Shape 27"/>
          <p:cNvSpPr/>
          <p:nvPr/>
        </p:nvSpPr>
        <p:spPr>
          <a:xfrm>
            <a:off x="4892040" y="2011680"/>
            <a:ext cx="4114800" cy="804672"/>
          </a:xfrm>
          <a:prstGeom prst="rect">
            <a:avLst/>
          </a:prstGeom>
          <a:solidFill>
            <a:srgbClr val="FFFFFF"/>
          </a:solidFill>
          <a:ln w="12700">
            <a:solidFill>
              <a:srgbClr val="ECF0F1"/>
            </a:solidFill>
            <a:prstDash val="solid"/>
          </a:ln>
          <a:effectLst>
            <a:outerShdw blurRad="101600" dist="38100" dir="8100000" algn="bl" rotWithShape="0">
              <a:srgbClr val="000000">
                <a:alpha val="20000"/>
              </a:srgbClr>
            </a:outerShdw>
          </a:effectLst>
        </p:spPr>
        <p:txBody>
          <a:bodyPr/>
          <a:lstStyle/>
          <a:p>
            <a:endParaRPr lang="en-IN"/>
          </a:p>
        </p:txBody>
      </p:sp>
      <p:sp>
        <p:nvSpPr>
          <p:cNvPr id="30" name="Shape 28"/>
          <p:cNvSpPr/>
          <p:nvPr/>
        </p:nvSpPr>
        <p:spPr>
          <a:xfrm>
            <a:off x="4892040" y="2011680"/>
            <a:ext cx="64008" cy="804672"/>
          </a:xfrm>
          <a:prstGeom prst="rect">
            <a:avLst/>
          </a:prstGeom>
          <a:solidFill>
            <a:srgbClr val="2E86C1"/>
          </a:solidFill>
          <a:ln w="12700">
            <a:solidFill>
              <a:srgbClr val="2E86C1"/>
            </a:solidFill>
            <a:prstDash val="solid"/>
          </a:ln>
        </p:spPr>
        <p:txBody>
          <a:bodyPr/>
          <a:lstStyle/>
          <a:p>
            <a:endParaRPr lang="en-IN"/>
          </a:p>
        </p:txBody>
      </p:sp>
      <p:sp>
        <p:nvSpPr>
          <p:cNvPr id="31" name="Text 29"/>
          <p:cNvSpPr/>
          <p:nvPr/>
        </p:nvSpPr>
        <p:spPr>
          <a:xfrm>
            <a:off x="5056632" y="2057400"/>
            <a:ext cx="640080" cy="274320"/>
          </a:xfrm>
          <a:prstGeom prst="rect">
            <a:avLst/>
          </a:prstGeom>
          <a:noFill/>
          <a:ln/>
        </p:spPr>
        <p:txBody>
          <a:bodyPr wrap="square" lIns="0" tIns="0" rIns="0" bIns="0" rtlCol="0" anchor="ctr"/>
          <a:lstStyle/>
          <a:p>
            <a:pPr marL="0" indent="0">
              <a:buNone/>
            </a:pPr>
            <a:r>
              <a:rPr lang="en-US" sz="1100" b="1" dirty="0">
                <a:solidFill>
                  <a:srgbClr val="1ABC9C"/>
                </a:solidFill>
                <a:latin typeface="Calibri" pitchFamily="34" charset="0"/>
                <a:ea typeface="Calibri" pitchFamily="34" charset="-122"/>
                <a:cs typeface="Calibri" pitchFamily="34" charset="-120"/>
              </a:rPr>
              <a:t>UC-06</a:t>
            </a:r>
            <a:endParaRPr lang="en-US" sz="1100" dirty="0"/>
          </a:p>
        </p:txBody>
      </p:sp>
      <p:sp>
        <p:nvSpPr>
          <p:cNvPr id="32" name="Text 30"/>
          <p:cNvSpPr/>
          <p:nvPr/>
        </p:nvSpPr>
        <p:spPr>
          <a:xfrm>
            <a:off x="5056632" y="2286000"/>
            <a:ext cx="3657600" cy="256032"/>
          </a:xfrm>
          <a:prstGeom prst="rect">
            <a:avLst/>
          </a:prstGeom>
          <a:noFill/>
          <a:ln/>
        </p:spPr>
        <p:txBody>
          <a:bodyPr wrap="square" lIns="0" tIns="0" rIns="0" bIns="0" rtlCol="0" anchor="ctr"/>
          <a:lstStyle/>
          <a:p>
            <a:pPr marL="0" indent="0">
              <a:buNone/>
            </a:pPr>
            <a:r>
              <a:rPr lang="en-US" sz="1300" b="1" dirty="0">
                <a:solidFill>
                  <a:srgbClr val="1B4F72"/>
                </a:solidFill>
                <a:latin typeface="Calibri" pitchFamily="34" charset="0"/>
                <a:ea typeface="Calibri" pitchFamily="34" charset="-122"/>
                <a:cs typeface="Calibri" pitchFamily="34" charset="-120"/>
              </a:rPr>
              <a:t>Track Ticket Status</a:t>
            </a:r>
            <a:endParaRPr lang="en-US" sz="1300" dirty="0"/>
          </a:p>
        </p:txBody>
      </p:sp>
      <p:sp>
        <p:nvSpPr>
          <p:cNvPr id="33" name="Text 31"/>
          <p:cNvSpPr/>
          <p:nvPr/>
        </p:nvSpPr>
        <p:spPr>
          <a:xfrm>
            <a:off x="5056632" y="2542032"/>
            <a:ext cx="3749040" cy="228600"/>
          </a:xfrm>
          <a:prstGeom prst="rect">
            <a:avLst/>
          </a:prstGeom>
          <a:noFill/>
          <a:ln/>
        </p:spPr>
        <p:txBody>
          <a:bodyPr wrap="square" lIns="0" tIns="0" rIns="0" bIns="0" rtlCol="0" anchor="ctr"/>
          <a:lstStyle/>
          <a:p>
            <a:pPr marL="0" indent="0">
              <a:buNone/>
            </a:pPr>
            <a:r>
              <a:rPr lang="en-US" sz="1000" dirty="0">
                <a:solidFill>
                  <a:srgbClr val="7F8C8D"/>
                </a:solidFill>
                <a:latin typeface="Calibri" pitchFamily="34" charset="0"/>
                <a:ea typeface="Calibri" pitchFamily="34" charset="-122"/>
                <a:cs typeface="Calibri" pitchFamily="34" charset="-120"/>
              </a:rPr>
              <a:t>Actor: User/Manager  |  Monitor maintenance progress</a:t>
            </a:r>
            <a:endParaRPr lang="en-US" sz="1000" dirty="0"/>
          </a:p>
        </p:txBody>
      </p:sp>
      <p:sp>
        <p:nvSpPr>
          <p:cNvPr id="34" name="Shape 32"/>
          <p:cNvSpPr/>
          <p:nvPr/>
        </p:nvSpPr>
        <p:spPr>
          <a:xfrm>
            <a:off x="4892040" y="2971800"/>
            <a:ext cx="4114800" cy="804672"/>
          </a:xfrm>
          <a:prstGeom prst="rect">
            <a:avLst/>
          </a:prstGeom>
          <a:solidFill>
            <a:srgbClr val="FFFFFF"/>
          </a:solidFill>
          <a:ln w="12700">
            <a:solidFill>
              <a:srgbClr val="ECF0F1"/>
            </a:solidFill>
            <a:prstDash val="solid"/>
          </a:ln>
          <a:effectLst>
            <a:outerShdw blurRad="101600" dist="38100" dir="8100000" algn="bl" rotWithShape="0">
              <a:srgbClr val="000000">
                <a:alpha val="20000"/>
              </a:srgbClr>
            </a:outerShdw>
          </a:effectLst>
        </p:spPr>
        <p:txBody>
          <a:bodyPr/>
          <a:lstStyle/>
          <a:p>
            <a:endParaRPr lang="en-IN"/>
          </a:p>
        </p:txBody>
      </p:sp>
      <p:sp>
        <p:nvSpPr>
          <p:cNvPr id="35" name="Shape 33"/>
          <p:cNvSpPr/>
          <p:nvPr/>
        </p:nvSpPr>
        <p:spPr>
          <a:xfrm>
            <a:off x="4892040" y="2971800"/>
            <a:ext cx="64008" cy="804672"/>
          </a:xfrm>
          <a:prstGeom prst="rect">
            <a:avLst/>
          </a:prstGeom>
          <a:solidFill>
            <a:srgbClr val="2E86C1"/>
          </a:solidFill>
          <a:ln w="12700">
            <a:solidFill>
              <a:srgbClr val="2E86C1"/>
            </a:solidFill>
            <a:prstDash val="solid"/>
          </a:ln>
        </p:spPr>
        <p:txBody>
          <a:bodyPr/>
          <a:lstStyle/>
          <a:p>
            <a:endParaRPr lang="en-IN"/>
          </a:p>
        </p:txBody>
      </p:sp>
      <p:sp>
        <p:nvSpPr>
          <p:cNvPr id="36" name="Text 34"/>
          <p:cNvSpPr/>
          <p:nvPr/>
        </p:nvSpPr>
        <p:spPr>
          <a:xfrm>
            <a:off x="5056632" y="3017520"/>
            <a:ext cx="640080" cy="274320"/>
          </a:xfrm>
          <a:prstGeom prst="rect">
            <a:avLst/>
          </a:prstGeom>
          <a:noFill/>
          <a:ln/>
        </p:spPr>
        <p:txBody>
          <a:bodyPr wrap="square" lIns="0" tIns="0" rIns="0" bIns="0" rtlCol="0" anchor="ctr"/>
          <a:lstStyle/>
          <a:p>
            <a:pPr marL="0" indent="0">
              <a:buNone/>
            </a:pPr>
            <a:r>
              <a:rPr lang="en-US" sz="1100" b="1" dirty="0">
                <a:solidFill>
                  <a:srgbClr val="1ABC9C"/>
                </a:solidFill>
                <a:latin typeface="Calibri" pitchFamily="34" charset="0"/>
                <a:ea typeface="Calibri" pitchFamily="34" charset="-122"/>
                <a:cs typeface="Calibri" pitchFamily="34" charset="-120"/>
              </a:rPr>
              <a:t>UC-07</a:t>
            </a:r>
            <a:endParaRPr lang="en-US" sz="1100" dirty="0"/>
          </a:p>
        </p:txBody>
      </p:sp>
      <p:sp>
        <p:nvSpPr>
          <p:cNvPr id="37" name="Text 35"/>
          <p:cNvSpPr/>
          <p:nvPr/>
        </p:nvSpPr>
        <p:spPr>
          <a:xfrm>
            <a:off x="5056632" y="3246120"/>
            <a:ext cx="3657600" cy="256032"/>
          </a:xfrm>
          <a:prstGeom prst="rect">
            <a:avLst/>
          </a:prstGeom>
          <a:noFill/>
          <a:ln/>
        </p:spPr>
        <p:txBody>
          <a:bodyPr wrap="square" lIns="0" tIns="0" rIns="0" bIns="0" rtlCol="0" anchor="ctr"/>
          <a:lstStyle/>
          <a:p>
            <a:pPr marL="0" indent="0">
              <a:buNone/>
            </a:pPr>
            <a:r>
              <a:rPr lang="en-US" sz="1300" b="1" dirty="0">
                <a:solidFill>
                  <a:srgbClr val="1B4F72"/>
                </a:solidFill>
                <a:latin typeface="Calibri" pitchFamily="34" charset="0"/>
                <a:ea typeface="Calibri" pitchFamily="34" charset="-122"/>
                <a:cs typeface="Calibri" pitchFamily="34" charset="-120"/>
              </a:rPr>
              <a:t>Real-Time Monitoring</a:t>
            </a:r>
            <a:endParaRPr lang="en-US" sz="1300" dirty="0"/>
          </a:p>
        </p:txBody>
      </p:sp>
      <p:sp>
        <p:nvSpPr>
          <p:cNvPr id="38" name="Text 36"/>
          <p:cNvSpPr/>
          <p:nvPr/>
        </p:nvSpPr>
        <p:spPr>
          <a:xfrm>
            <a:off x="5056632" y="3502152"/>
            <a:ext cx="3749040" cy="228600"/>
          </a:xfrm>
          <a:prstGeom prst="rect">
            <a:avLst/>
          </a:prstGeom>
          <a:noFill/>
          <a:ln/>
        </p:spPr>
        <p:txBody>
          <a:bodyPr wrap="square" lIns="0" tIns="0" rIns="0" bIns="0" rtlCol="0" anchor="ctr"/>
          <a:lstStyle/>
          <a:p>
            <a:pPr marL="0" indent="0">
              <a:buNone/>
            </a:pPr>
            <a:r>
              <a:rPr lang="en-US" sz="1000" dirty="0">
                <a:solidFill>
                  <a:srgbClr val="7F8C8D"/>
                </a:solidFill>
                <a:latin typeface="Calibri" pitchFamily="34" charset="0"/>
                <a:ea typeface="Calibri" pitchFamily="34" charset="-122"/>
                <a:cs typeface="Calibri" pitchFamily="34" charset="-120"/>
              </a:rPr>
              <a:t>Actor: Facility Manager  |  AI-powered facility analytics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F72"/>
          </a:solidFill>
          <a:ln w="12700">
            <a:solidFill>
              <a:srgbClr val="1B4F72"/>
            </a:solidFill>
            <a:prstDash val="solid"/>
          </a:ln>
        </p:spPr>
        <p:txBody>
          <a:bodyPr/>
          <a:lstStyle/>
          <a:p>
            <a:endParaRPr lang="en-IN"/>
          </a:p>
        </p:txBody>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Requirements — Activity Diagrams</a:t>
            </a:r>
            <a:endParaRPr lang="en-US" sz="2600" dirty="0"/>
          </a:p>
        </p:txBody>
      </p:sp>
      <p:sp>
        <p:nvSpPr>
          <p:cNvPr id="4" name="Shape 2"/>
          <p:cNvSpPr/>
          <p:nvPr/>
        </p:nvSpPr>
        <p:spPr>
          <a:xfrm>
            <a:off x="320040" y="1005840"/>
            <a:ext cx="2651760" cy="365760"/>
          </a:xfrm>
          <a:prstGeom prst="rect">
            <a:avLst/>
          </a:prstGeom>
          <a:solidFill>
            <a:srgbClr val="2E86C1"/>
          </a:solidFill>
          <a:ln w="12700">
            <a:solidFill>
              <a:srgbClr val="2E86C1"/>
            </a:solidFill>
            <a:prstDash val="solid"/>
          </a:ln>
        </p:spPr>
        <p:txBody>
          <a:bodyPr/>
          <a:lstStyle/>
          <a:p>
            <a:endParaRPr lang="en-IN"/>
          </a:p>
        </p:txBody>
      </p:sp>
      <p:sp>
        <p:nvSpPr>
          <p:cNvPr id="5" name="Text 3"/>
          <p:cNvSpPr/>
          <p:nvPr/>
        </p:nvSpPr>
        <p:spPr>
          <a:xfrm>
            <a:off x="320040" y="1005840"/>
            <a:ext cx="2651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Room Booking (BR Check-In)</a:t>
            </a:r>
            <a:endParaRPr lang="en-US" sz="1100" dirty="0"/>
          </a:p>
        </p:txBody>
      </p:sp>
      <p:sp>
        <p:nvSpPr>
          <p:cNvPr id="6" name="Shape 4"/>
          <p:cNvSpPr/>
          <p:nvPr/>
        </p:nvSpPr>
        <p:spPr>
          <a:xfrm>
            <a:off x="457200" y="1508760"/>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7" name="Text 5"/>
          <p:cNvSpPr/>
          <p:nvPr/>
        </p:nvSpPr>
        <p:spPr>
          <a:xfrm>
            <a:off x="457200" y="1508760"/>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User Logs In</a:t>
            </a:r>
            <a:endParaRPr lang="en-US" sz="1100" dirty="0"/>
          </a:p>
        </p:txBody>
      </p:sp>
      <p:sp>
        <p:nvSpPr>
          <p:cNvPr id="8" name="Shape 6"/>
          <p:cNvSpPr/>
          <p:nvPr/>
        </p:nvSpPr>
        <p:spPr>
          <a:xfrm>
            <a:off x="1554480" y="1856232"/>
            <a:ext cx="54864" cy="182880"/>
          </a:xfrm>
          <a:prstGeom prst="rect">
            <a:avLst/>
          </a:prstGeom>
          <a:solidFill>
            <a:srgbClr val="2E86C1"/>
          </a:solidFill>
          <a:ln w="12700">
            <a:solidFill>
              <a:srgbClr val="2E86C1"/>
            </a:solidFill>
            <a:prstDash val="solid"/>
          </a:ln>
        </p:spPr>
        <p:txBody>
          <a:bodyPr/>
          <a:lstStyle/>
          <a:p>
            <a:endParaRPr lang="en-IN"/>
          </a:p>
        </p:txBody>
      </p:sp>
      <p:sp>
        <p:nvSpPr>
          <p:cNvPr id="9" name="Shape 7"/>
          <p:cNvSpPr/>
          <p:nvPr/>
        </p:nvSpPr>
        <p:spPr>
          <a:xfrm>
            <a:off x="457200" y="2075688"/>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10" name="Text 8"/>
          <p:cNvSpPr/>
          <p:nvPr/>
        </p:nvSpPr>
        <p:spPr>
          <a:xfrm>
            <a:off x="457200" y="2075688"/>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Search Available Rooms</a:t>
            </a:r>
            <a:endParaRPr lang="en-US" sz="1100" dirty="0"/>
          </a:p>
        </p:txBody>
      </p:sp>
      <p:sp>
        <p:nvSpPr>
          <p:cNvPr id="11" name="Shape 9"/>
          <p:cNvSpPr/>
          <p:nvPr/>
        </p:nvSpPr>
        <p:spPr>
          <a:xfrm>
            <a:off x="1554480" y="2423160"/>
            <a:ext cx="54864" cy="182880"/>
          </a:xfrm>
          <a:prstGeom prst="rect">
            <a:avLst/>
          </a:prstGeom>
          <a:solidFill>
            <a:srgbClr val="2E86C1"/>
          </a:solidFill>
          <a:ln w="12700">
            <a:solidFill>
              <a:srgbClr val="2E86C1"/>
            </a:solidFill>
            <a:prstDash val="solid"/>
          </a:ln>
        </p:spPr>
        <p:txBody>
          <a:bodyPr/>
          <a:lstStyle/>
          <a:p>
            <a:endParaRPr lang="en-IN"/>
          </a:p>
        </p:txBody>
      </p:sp>
      <p:sp>
        <p:nvSpPr>
          <p:cNvPr id="12" name="Shape 10"/>
          <p:cNvSpPr/>
          <p:nvPr/>
        </p:nvSpPr>
        <p:spPr>
          <a:xfrm>
            <a:off x="457200" y="2642616"/>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13" name="Text 11"/>
          <p:cNvSpPr/>
          <p:nvPr/>
        </p:nvSpPr>
        <p:spPr>
          <a:xfrm>
            <a:off x="457200" y="2642616"/>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Select Room &amp; Time Slot</a:t>
            </a:r>
            <a:endParaRPr lang="en-US" sz="1100" dirty="0"/>
          </a:p>
        </p:txBody>
      </p:sp>
      <p:sp>
        <p:nvSpPr>
          <p:cNvPr id="14" name="Shape 12"/>
          <p:cNvSpPr/>
          <p:nvPr/>
        </p:nvSpPr>
        <p:spPr>
          <a:xfrm>
            <a:off x="1554480" y="2990088"/>
            <a:ext cx="54864" cy="182880"/>
          </a:xfrm>
          <a:prstGeom prst="rect">
            <a:avLst/>
          </a:prstGeom>
          <a:solidFill>
            <a:srgbClr val="2E86C1"/>
          </a:solidFill>
          <a:ln w="12700">
            <a:solidFill>
              <a:srgbClr val="2E86C1"/>
            </a:solidFill>
            <a:prstDash val="solid"/>
          </a:ln>
        </p:spPr>
        <p:txBody>
          <a:bodyPr/>
          <a:lstStyle/>
          <a:p>
            <a:endParaRPr lang="en-IN"/>
          </a:p>
        </p:txBody>
      </p:sp>
      <p:sp>
        <p:nvSpPr>
          <p:cNvPr id="15" name="Shape 13"/>
          <p:cNvSpPr/>
          <p:nvPr/>
        </p:nvSpPr>
        <p:spPr>
          <a:xfrm>
            <a:off x="457200" y="3209544"/>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16" name="Text 14"/>
          <p:cNvSpPr/>
          <p:nvPr/>
        </p:nvSpPr>
        <p:spPr>
          <a:xfrm>
            <a:off x="457200" y="3209544"/>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Confirm Booking</a:t>
            </a:r>
            <a:endParaRPr lang="en-US" sz="1100" dirty="0"/>
          </a:p>
        </p:txBody>
      </p:sp>
      <p:sp>
        <p:nvSpPr>
          <p:cNvPr id="17" name="Shape 15"/>
          <p:cNvSpPr/>
          <p:nvPr/>
        </p:nvSpPr>
        <p:spPr>
          <a:xfrm>
            <a:off x="1554480" y="3557016"/>
            <a:ext cx="54864" cy="182880"/>
          </a:xfrm>
          <a:prstGeom prst="rect">
            <a:avLst/>
          </a:prstGeom>
          <a:solidFill>
            <a:srgbClr val="2E86C1"/>
          </a:solidFill>
          <a:ln w="12700">
            <a:solidFill>
              <a:srgbClr val="2E86C1"/>
            </a:solidFill>
            <a:prstDash val="solid"/>
          </a:ln>
        </p:spPr>
        <p:txBody>
          <a:bodyPr/>
          <a:lstStyle/>
          <a:p>
            <a:endParaRPr lang="en-IN"/>
          </a:p>
        </p:txBody>
      </p:sp>
      <p:sp>
        <p:nvSpPr>
          <p:cNvPr id="18" name="Shape 16"/>
          <p:cNvSpPr/>
          <p:nvPr/>
        </p:nvSpPr>
        <p:spPr>
          <a:xfrm>
            <a:off x="457200" y="3776472"/>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19" name="Text 17"/>
          <p:cNvSpPr/>
          <p:nvPr/>
        </p:nvSpPr>
        <p:spPr>
          <a:xfrm>
            <a:off x="457200" y="3776472"/>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Receive Confirmation</a:t>
            </a:r>
            <a:endParaRPr lang="en-US" sz="1100" dirty="0"/>
          </a:p>
        </p:txBody>
      </p:sp>
      <p:sp>
        <p:nvSpPr>
          <p:cNvPr id="20" name="Shape 18"/>
          <p:cNvSpPr/>
          <p:nvPr/>
        </p:nvSpPr>
        <p:spPr>
          <a:xfrm>
            <a:off x="1554480" y="4123944"/>
            <a:ext cx="54864" cy="182880"/>
          </a:xfrm>
          <a:prstGeom prst="rect">
            <a:avLst/>
          </a:prstGeom>
          <a:solidFill>
            <a:srgbClr val="2E86C1"/>
          </a:solidFill>
          <a:ln w="12700">
            <a:solidFill>
              <a:srgbClr val="2E86C1"/>
            </a:solidFill>
            <a:prstDash val="solid"/>
          </a:ln>
        </p:spPr>
        <p:txBody>
          <a:bodyPr/>
          <a:lstStyle/>
          <a:p>
            <a:endParaRPr lang="en-IN"/>
          </a:p>
        </p:txBody>
      </p:sp>
      <p:sp>
        <p:nvSpPr>
          <p:cNvPr id="21" name="Shape 19"/>
          <p:cNvSpPr/>
          <p:nvPr/>
        </p:nvSpPr>
        <p:spPr>
          <a:xfrm>
            <a:off x="457200" y="4343400"/>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22" name="Text 20"/>
          <p:cNvSpPr/>
          <p:nvPr/>
        </p:nvSpPr>
        <p:spPr>
          <a:xfrm>
            <a:off x="457200" y="4343400"/>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Check-In at Room</a:t>
            </a:r>
            <a:endParaRPr lang="en-US" sz="1100" dirty="0"/>
          </a:p>
        </p:txBody>
      </p:sp>
      <p:sp>
        <p:nvSpPr>
          <p:cNvPr id="23" name="Shape 21"/>
          <p:cNvSpPr/>
          <p:nvPr/>
        </p:nvSpPr>
        <p:spPr>
          <a:xfrm>
            <a:off x="3246120" y="1005840"/>
            <a:ext cx="2651760" cy="365760"/>
          </a:xfrm>
          <a:prstGeom prst="rect">
            <a:avLst/>
          </a:prstGeom>
          <a:solidFill>
            <a:srgbClr val="2E86C1"/>
          </a:solidFill>
          <a:ln w="12700">
            <a:solidFill>
              <a:srgbClr val="2E86C1"/>
            </a:solidFill>
            <a:prstDash val="solid"/>
          </a:ln>
        </p:spPr>
        <p:txBody>
          <a:bodyPr/>
          <a:lstStyle/>
          <a:p>
            <a:endParaRPr lang="en-IN"/>
          </a:p>
        </p:txBody>
      </p:sp>
      <p:sp>
        <p:nvSpPr>
          <p:cNvPr id="24" name="Text 22"/>
          <p:cNvSpPr/>
          <p:nvPr/>
        </p:nvSpPr>
        <p:spPr>
          <a:xfrm>
            <a:off x="3246120" y="1005840"/>
            <a:ext cx="2651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Maintenance Ticket Creation</a:t>
            </a:r>
            <a:endParaRPr lang="en-US" sz="1100" dirty="0"/>
          </a:p>
        </p:txBody>
      </p:sp>
      <p:sp>
        <p:nvSpPr>
          <p:cNvPr id="25" name="Shape 23"/>
          <p:cNvSpPr/>
          <p:nvPr/>
        </p:nvSpPr>
        <p:spPr>
          <a:xfrm>
            <a:off x="3383280" y="1508760"/>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26" name="Text 24"/>
          <p:cNvSpPr/>
          <p:nvPr/>
        </p:nvSpPr>
        <p:spPr>
          <a:xfrm>
            <a:off x="3383280" y="1508760"/>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User Identifies Issue</a:t>
            </a:r>
            <a:endParaRPr lang="en-US" sz="1100" dirty="0"/>
          </a:p>
        </p:txBody>
      </p:sp>
      <p:sp>
        <p:nvSpPr>
          <p:cNvPr id="27" name="Shape 25"/>
          <p:cNvSpPr/>
          <p:nvPr/>
        </p:nvSpPr>
        <p:spPr>
          <a:xfrm>
            <a:off x="4480560" y="1856232"/>
            <a:ext cx="54864" cy="182880"/>
          </a:xfrm>
          <a:prstGeom prst="rect">
            <a:avLst/>
          </a:prstGeom>
          <a:solidFill>
            <a:srgbClr val="2E86C1"/>
          </a:solidFill>
          <a:ln w="12700">
            <a:solidFill>
              <a:srgbClr val="2E86C1"/>
            </a:solidFill>
            <a:prstDash val="solid"/>
          </a:ln>
        </p:spPr>
        <p:txBody>
          <a:bodyPr/>
          <a:lstStyle/>
          <a:p>
            <a:endParaRPr lang="en-IN"/>
          </a:p>
        </p:txBody>
      </p:sp>
      <p:sp>
        <p:nvSpPr>
          <p:cNvPr id="28" name="Shape 26"/>
          <p:cNvSpPr/>
          <p:nvPr/>
        </p:nvSpPr>
        <p:spPr>
          <a:xfrm>
            <a:off x="3383280" y="2075688"/>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29" name="Text 27"/>
          <p:cNvSpPr/>
          <p:nvPr/>
        </p:nvSpPr>
        <p:spPr>
          <a:xfrm>
            <a:off x="3383280" y="2075688"/>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Access Ticket System</a:t>
            </a:r>
            <a:endParaRPr lang="en-US" sz="1100" dirty="0"/>
          </a:p>
        </p:txBody>
      </p:sp>
      <p:sp>
        <p:nvSpPr>
          <p:cNvPr id="30" name="Shape 28"/>
          <p:cNvSpPr/>
          <p:nvPr/>
        </p:nvSpPr>
        <p:spPr>
          <a:xfrm>
            <a:off x="4480560" y="2423160"/>
            <a:ext cx="54864" cy="182880"/>
          </a:xfrm>
          <a:prstGeom prst="rect">
            <a:avLst/>
          </a:prstGeom>
          <a:solidFill>
            <a:srgbClr val="2E86C1"/>
          </a:solidFill>
          <a:ln w="12700">
            <a:solidFill>
              <a:srgbClr val="2E86C1"/>
            </a:solidFill>
            <a:prstDash val="solid"/>
          </a:ln>
        </p:spPr>
        <p:txBody>
          <a:bodyPr/>
          <a:lstStyle/>
          <a:p>
            <a:endParaRPr lang="en-IN"/>
          </a:p>
        </p:txBody>
      </p:sp>
      <p:sp>
        <p:nvSpPr>
          <p:cNvPr id="31" name="Shape 29"/>
          <p:cNvSpPr/>
          <p:nvPr/>
        </p:nvSpPr>
        <p:spPr>
          <a:xfrm>
            <a:off x="3383280" y="2642616"/>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32" name="Text 30"/>
          <p:cNvSpPr/>
          <p:nvPr/>
        </p:nvSpPr>
        <p:spPr>
          <a:xfrm>
            <a:off x="3383280" y="2642616"/>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Enter Issue Details</a:t>
            </a:r>
            <a:endParaRPr lang="en-US" sz="1100" dirty="0"/>
          </a:p>
        </p:txBody>
      </p:sp>
      <p:sp>
        <p:nvSpPr>
          <p:cNvPr id="33" name="Shape 31"/>
          <p:cNvSpPr/>
          <p:nvPr/>
        </p:nvSpPr>
        <p:spPr>
          <a:xfrm>
            <a:off x="4480560" y="2990088"/>
            <a:ext cx="54864" cy="182880"/>
          </a:xfrm>
          <a:prstGeom prst="rect">
            <a:avLst/>
          </a:prstGeom>
          <a:solidFill>
            <a:srgbClr val="2E86C1"/>
          </a:solidFill>
          <a:ln w="12700">
            <a:solidFill>
              <a:srgbClr val="2E86C1"/>
            </a:solidFill>
            <a:prstDash val="solid"/>
          </a:ln>
        </p:spPr>
        <p:txBody>
          <a:bodyPr/>
          <a:lstStyle/>
          <a:p>
            <a:endParaRPr lang="en-IN"/>
          </a:p>
        </p:txBody>
      </p:sp>
      <p:sp>
        <p:nvSpPr>
          <p:cNvPr id="34" name="Shape 32"/>
          <p:cNvSpPr/>
          <p:nvPr/>
        </p:nvSpPr>
        <p:spPr>
          <a:xfrm>
            <a:off x="3383280" y="3209544"/>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35" name="Text 33"/>
          <p:cNvSpPr/>
          <p:nvPr/>
        </p:nvSpPr>
        <p:spPr>
          <a:xfrm>
            <a:off x="3383280" y="3209544"/>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Submit Ticket</a:t>
            </a:r>
            <a:endParaRPr lang="en-US" sz="1100" dirty="0"/>
          </a:p>
        </p:txBody>
      </p:sp>
      <p:sp>
        <p:nvSpPr>
          <p:cNvPr id="36" name="Shape 34"/>
          <p:cNvSpPr/>
          <p:nvPr/>
        </p:nvSpPr>
        <p:spPr>
          <a:xfrm>
            <a:off x="4480560" y="3557016"/>
            <a:ext cx="54864" cy="182880"/>
          </a:xfrm>
          <a:prstGeom prst="rect">
            <a:avLst/>
          </a:prstGeom>
          <a:solidFill>
            <a:srgbClr val="2E86C1"/>
          </a:solidFill>
          <a:ln w="12700">
            <a:solidFill>
              <a:srgbClr val="2E86C1"/>
            </a:solidFill>
            <a:prstDash val="solid"/>
          </a:ln>
        </p:spPr>
        <p:txBody>
          <a:bodyPr/>
          <a:lstStyle/>
          <a:p>
            <a:endParaRPr lang="en-IN"/>
          </a:p>
        </p:txBody>
      </p:sp>
      <p:sp>
        <p:nvSpPr>
          <p:cNvPr id="37" name="Shape 35"/>
          <p:cNvSpPr/>
          <p:nvPr/>
        </p:nvSpPr>
        <p:spPr>
          <a:xfrm>
            <a:off x="3383280" y="3776472"/>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38" name="Text 36"/>
          <p:cNvSpPr/>
          <p:nvPr/>
        </p:nvSpPr>
        <p:spPr>
          <a:xfrm>
            <a:off x="3383280" y="3776472"/>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Ticket Assigned to Staff</a:t>
            </a:r>
            <a:endParaRPr lang="en-US" sz="1100" dirty="0"/>
          </a:p>
        </p:txBody>
      </p:sp>
      <p:sp>
        <p:nvSpPr>
          <p:cNvPr id="39" name="Shape 37"/>
          <p:cNvSpPr/>
          <p:nvPr/>
        </p:nvSpPr>
        <p:spPr>
          <a:xfrm>
            <a:off x="4480560" y="4123944"/>
            <a:ext cx="54864" cy="182880"/>
          </a:xfrm>
          <a:prstGeom prst="rect">
            <a:avLst/>
          </a:prstGeom>
          <a:solidFill>
            <a:srgbClr val="2E86C1"/>
          </a:solidFill>
          <a:ln w="12700">
            <a:solidFill>
              <a:srgbClr val="2E86C1"/>
            </a:solidFill>
            <a:prstDash val="solid"/>
          </a:ln>
        </p:spPr>
        <p:txBody>
          <a:bodyPr/>
          <a:lstStyle/>
          <a:p>
            <a:endParaRPr lang="en-IN"/>
          </a:p>
        </p:txBody>
      </p:sp>
      <p:sp>
        <p:nvSpPr>
          <p:cNvPr id="40" name="Shape 38"/>
          <p:cNvSpPr/>
          <p:nvPr/>
        </p:nvSpPr>
        <p:spPr>
          <a:xfrm>
            <a:off x="3383280" y="4343400"/>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41" name="Text 39"/>
          <p:cNvSpPr/>
          <p:nvPr/>
        </p:nvSpPr>
        <p:spPr>
          <a:xfrm>
            <a:off x="3383280" y="4343400"/>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Resolution &amp; Closure</a:t>
            </a:r>
            <a:endParaRPr lang="en-US" sz="1100" dirty="0"/>
          </a:p>
        </p:txBody>
      </p:sp>
      <p:sp>
        <p:nvSpPr>
          <p:cNvPr id="42" name="Shape 40"/>
          <p:cNvSpPr/>
          <p:nvPr/>
        </p:nvSpPr>
        <p:spPr>
          <a:xfrm>
            <a:off x="6172200" y="1005840"/>
            <a:ext cx="2651760" cy="365760"/>
          </a:xfrm>
          <a:prstGeom prst="rect">
            <a:avLst/>
          </a:prstGeom>
          <a:solidFill>
            <a:srgbClr val="2E86C1"/>
          </a:solidFill>
          <a:ln w="12700">
            <a:solidFill>
              <a:srgbClr val="2E86C1"/>
            </a:solidFill>
            <a:prstDash val="solid"/>
          </a:ln>
        </p:spPr>
        <p:txBody>
          <a:bodyPr/>
          <a:lstStyle/>
          <a:p>
            <a:endParaRPr lang="en-IN"/>
          </a:p>
        </p:txBody>
      </p:sp>
      <p:sp>
        <p:nvSpPr>
          <p:cNvPr id="43" name="Text 41"/>
          <p:cNvSpPr/>
          <p:nvPr/>
        </p:nvSpPr>
        <p:spPr>
          <a:xfrm>
            <a:off x="6172200" y="1005840"/>
            <a:ext cx="2651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Track Ticket Status</a:t>
            </a:r>
            <a:endParaRPr lang="en-US" sz="1100" dirty="0"/>
          </a:p>
        </p:txBody>
      </p:sp>
      <p:sp>
        <p:nvSpPr>
          <p:cNvPr id="44" name="Shape 42"/>
          <p:cNvSpPr/>
          <p:nvPr/>
        </p:nvSpPr>
        <p:spPr>
          <a:xfrm>
            <a:off x="6309360" y="1508760"/>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45" name="Text 43"/>
          <p:cNvSpPr/>
          <p:nvPr/>
        </p:nvSpPr>
        <p:spPr>
          <a:xfrm>
            <a:off x="6309360" y="1508760"/>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User Logs In</a:t>
            </a:r>
            <a:endParaRPr lang="en-US" sz="1100" dirty="0"/>
          </a:p>
        </p:txBody>
      </p:sp>
      <p:sp>
        <p:nvSpPr>
          <p:cNvPr id="46" name="Shape 44"/>
          <p:cNvSpPr/>
          <p:nvPr/>
        </p:nvSpPr>
        <p:spPr>
          <a:xfrm>
            <a:off x="7406640" y="1856232"/>
            <a:ext cx="54864" cy="182880"/>
          </a:xfrm>
          <a:prstGeom prst="rect">
            <a:avLst/>
          </a:prstGeom>
          <a:solidFill>
            <a:srgbClr val="2E86C1"/>
          </a:solidFill>
          <a:ln w="12700">
            <a:solidFill>
              <a:srgbClr val="2E86C1"/>
            </a:solidFill>
            <a:prstDash val="solid"/>
          </a:ln>
        </p:spPr>
        <p:txBody>
          <a:bodyPr/>
          <a:lstStyle/>
          <a:p>
            <a:endParaRPr lang="en-IN"/>
          </a:p>
        </p:txBody>
      </p:sp>
      <p:sp>
        <p:nvSpPr>
          <p:cNvPr id="47" name="Shape 45"/>
          <p:cNvSpPr/>
          <p:nvPr/>
        </p:nvSpPr>
        <p:spPr>
          <a:xfrm>
            <a:off x="6309360" y="2075688"/>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48" name="Text 46"/>
          <p:cNvSpPr/>
          <p:nvPr/>
        </p:nvSpPr>
        <p:spPr>
          <a:xfrm>
            <a:off x="6309360" y="2075688"/>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Navigate to My Tickets</a:t>
            </a:r>
            <a:endParaRPr lang="en-US" sz="1100" dirty="0"/>
          </a:p>
        </p:txBody>
      </p:sp>
      <p:sp>
        <p:nvSpPr>
          <p:cNvPr id="49" name="Shape 47"/>
          <p:cNvSpPr/>
          <p:nvPr/>
        </p:nvSpPr>
        <p:spPr>
          <a:xfrm>
            <a:off x="7406640" y="2423160"/>
            <a:ext cx="54864" cy="182880"/>
          </a:xfrm>
          <a:prstGeom prst="rect">
            <a:avLst/>
          </a:prstGeom>
          <a:solidFill>
            <a:srgbClr val="2E86C1"/>
          </a:solidFill>
          <a:ln w="12700">
            <a:solidFill>
              <a:srgbClr val="2E86C1"/>
            </a:solidFill>
            <a:prstDash val="solid"/>
          </a:ln>
        </p:spPr>
        <p:txBody>
          <a:bodyPr/>
          <a:lstStyle/>
          <a:p>
            <a:endParaRPr lang="en-IN"/>
          </a:p>
        </p:txBody>
      </p:sp>
      <p:sp>
        <p:nvSpPr>
          <p:cNvPr id="50" name="Shape 48"/>
          <p:cNvSpPr/>
          <p:nvPr/>
        </p:nvSpPr>
        <p:spPr>
          <a:xfrm>
            <a:off x="6309360" y="2642616"/>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51" name="Text 49"/>
          <p:cNvSpPr/>
          <p:nvPr/>
        </p:nvSpPr>
        <p:spPr>
          <a:xfrm>
            <a:off x="6309360" y="2642616"/>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View Ticket List</a:t>
            </a:r>
            <a:endParaRPr lang="en-US" sz="1100" dirty="0"/>
          </a:p>
        </p:txBody>
      </p:sp>
      <p:sp>
        <p:nvSpPr>
          <p:cNvPr id="52" name="Shape 50"/>
          <p:cNvSpPr/>
          <p:nvPr/>
        </p:nvSpPr>
        <p:spPr>
          <a:xfrm>
            <a:off x="7406640" y="2990088"/>
            <a:ext cx="54864" cy="182880"/>
          </a:xfrm>
          <a:prstGeom prst="rect">
            <a:avLst/>
          </a:prstGeom>
          <a:solidFill>
            <a:srgbClr val="2E86C1"/>
          </a:solidFill>
          <a:ln w="12700">
            <a:solidFill>
              <a:srgbClr val="2E86C1"/>
            </a:solidFill>
            <a:prstDash val="solid"/>
          </a:ln>
        </p:spPr>
        <p:txBody>
          <a:bodyPr/>
          <a:lstStyle/>
          <a:p>
            <a:endParaRPr lang="en-IN"/>
          </a:p>
        </p:txBody>
      </p:sp>
      <p:sp>
        <p:nvSpPr>
          <p:cNvPr id="53" name="Shape 51"/>
          <p:cNvSpPr/>
          <p:nvPr/>
        </p:nvSpPr>
        <p:spPr>
          <a:xfrm>
            <a:off x="6309360" y="3209544"/>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54" name="Text 52"/>
          <p:cNvSpPr/>
          <p:nvPr/>
        </p:nvSpPr>
        <p:spPr>
          <a:xfrm>
            <a:off x="6309360" y="3209544"/>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Select Ticket</a:t>
            </a:r>
            <a:endParaRPr lang="en-US" sz="1100" dirty="0"/>
          </a:p>
        </p:txBody>
      </p:sp>
      <p:sp>
        <p:nvSpPr>
          <p:cNvPr id="55" name="Shape 53"/>
          <p:cNvSpPr/>
          <p:nvPr/>
        </p:nvSpPr>
        <p:spPr>
          <a:xfrm>
            <a:off x="7406640" y="3557016"/>
            <a:ext cx="54864" cy="182880"/>
          </a:xfrm>
          <a:prstGeom prst="rect">
            <a:avLst/>
          </a:prstGeom>
          <a:solidFill>
            <a:srgbClr val="2E86C1"/>
          </a:solidFill>
          <a:ln w="12700">
            <a:solidFill>
              <a:srgbClr val="2E86C1"/>
            </a:solidFill>
            <a:prstDash val="solid"/>
          </a:ln>
        </p:spPr>
        <p:txBody>
          <a:bodyPr/>
          <a:lstStyle/>
          <a:p>
            <a:endParaRPr lang="en-IN"/>
          </a:p>
        </p:txBody>
      </p:sp>
      <p:sp>
        <p:nvSpPr>
          <p:cNvPr id="56" name="Shape 54"/>
          <p:cNvSpPr/>
          <p:nvPr/>
        </p:nvSpPr>
        <p:spPr>
          <a:xfrm>
            <a:off x="6309360" y="3776472"/>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57" name="Text 55"/>
          <p:cNvSpPr/>
          <p:nvPr/>
        </p:nvSpPr>
        <p:spPr>
          <a:xfrm>
            <a:off x="6309360" y="3776472"/>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View Status &amp; Updates</a:t>
            </a:r>
            <a:endParaRPr lang="en-US" sz="1100" dirty="0"/>
          </a:p>
        </p:txBody>
      </p:sp>
      <p:sp>
        <p:nvSpPr>
          <p:cNvPr id="58" name="Shape 56"/>
          <p:cNvSpPr/>
          <p:nvPr/>
        </p:nvSpPr>
        <p:spPr>
          <a:xfrm>
            <a:off x="7406640" y="4123944"/>
            <a:ext cx="54864" cy="182880"/>
          </a:xfrm>
          <a:prstGeom prst="rect">
            <a:avLst/>
          </a:prstGeom>
          <a:solidFill>
            <a:srgbClr val="2E86C1"/>
          </a:solidFill>
          <a:ln w="12700">
            <a:solidFill>
              <a:srgbClr val="2E86C1"/>
            </a:solidFill>
            <a:prstDash val="solid"/>
          </a:ln>
        </p:spPr>
        <p:txBody>
          <a:bodyPr/>
          <a:lstStyle/>
          <a:p>
            <a:endParaRPr lang="en-IN"/>
          </a:p>
        </p:txBody>
      </p:sp>
      <p:sp>
        <p:nvSpPr>
          <p:cNvPr id="59" name="Shape 57"/>
          <p:cNvSpPr/>
          <p:nvPr/>
        </p:nvSpPr>
        <p:spPr>
          <a:xfrm>
            <a:off x="6309360" y="4343400"/>
            <a:ext cx="2377440" cy="347472"/>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60" name="Text 58"/>
          <p:cNvSpPr/>
          <p:nvPr/>
        </p:nvSpPr>
        <p:spPr>
          <a:xfrm>
            <a:off x="6309360" y="4343400"/>
            <a:ext cx="2377440" cy="347472"/>
          </a:xfrm>
          <a:prstGeom prst="rect">
            <a:avLst/>
          </a:prstGeom>
          <a:noFill/>
          <a:ln/>
        </p:spPr>
        <p:txBody>
          <a:bodyPr wrap="square" lIns="0" tIns="0" rIns="0" bIns="0" rtlCol="0" anchor="ctr"/>
          <a:lstStyle/>
          <a:p>
            <a:pPr marL="0" indent="0" algn="ctr">
              <a:buNone/>
            </a:pPr>
            <a:r>
              <a:rPr lang="en-US" sz="1100" dirty="0">
                <a:solidFill>
                  <a:srgbClr val="1B4F72"/>
                </a:solidFill>
                <a:latin typeface="Calibri" pitchFamily="34" charset="0"/>
                <a:ea typeface="Calibri" pitchFamily="34" charset="-122"/>
                <a:cs typeface="Calibri" pitchFamily="34" charset="-120"/>
              </a:rPr>
              <a:t>Mark Resolved (if done)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4F7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BC9C"/>
          </a:solidFill>
          <a:ln w="12700">
            <a:solidFill>
              <a:srgbClr val="1ABC9C"/>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1ABC9C"/>
          </a:solidFill>
          <a:ln w="12700">
            <a:solidFill>
              <a:srgbClr val="1ABC9C"/>
            </a:solidFill>
            <a:prstDash val="solid"/>
          </a:ln>
        </p:spPr>
        <p:txBody>
          <a:bodyPr/>
          <a:lstStyle/>
          <a:p>
            <a:endParaRPr lang="en-IN"/>
          </a:p>
        </p:txBody>
      </p:sp>
      <p:sp>
        <p:nvSpPr>
          <p:cNvPr id="4" name="Text 2"/>
          <p:cNvSpPr/>
          <p:nvPr/>
        </p:nvSpPr>
        <p:spPr>
          <a:xfrm>
            <a:off x="457200" y="731520"/>
            <a:ext cx="1828800" cy="1828800"/>
          </a:xfrm>
          <a:prstGeom prst="rect">
            <a:avLst/>
          </a:prstGeom>
          <a:noFill/>
          <a:ln/>
        </p:spPr>
        <p:txBody>
          <a:bodyPr wrap="square" lIns="0" tIns="0" rIns="0" bIns="0" rtlCol="0" anchor="ctr"/>
          <a:lstStyle/>
          <a:p>
            <a:pPr marL="0" indent="0" algn="l">
              <a:buNone/>
            </a:pPr>
            <a:r>
              <a:rPr lang="en-US" sz="12000" b="1" dirty="0">
                <a:solidFill>
                  <a:srgbClr val="1ABC9C">
                    <a:alpha val="70000"/>
                  </a:srgbClr>
                </a:solidFill>
                <a:latin typeface="Calibri" pitchFamily="34" charset="0"/>
                <a:ea typeface="Calibri" pitchFamily="34" charset="-122"/>
                <a:cs typeface="Calibri" pitchFamily="34" charset="-120"/>
              </a:rPr>
              <a:t>03</a:t>
            </a:r>
            <a:endParaRPr lang="en-US" sz="12000" dirty="0"/>
          </a:p>
        </p:txBody>
      </p:sp>
      <p:sp>
        <p:nvSpPr>
          <p:cNvPr id="5" name="Text 3"/>
          <p:cNvSpPr/>
          <p:nvPr/>
        </p:nvSpPr>
        <p:spPr>
          <a:xfrm>
            <a:off x="457200" y="2011680"/>
            <a:ext cx="8229600" cy="822960"/>
          </a:xfrm>
          <a:prstGeom prst="rect">
            <a:avLst/>
          </a:prstGeom>
          <a:noFill/>
          <a:ln/>
        </p:spPr>
        <p:txBody>
          <a:bodyPr wrap="square" lIns="0" tIns="0" rIns="0" bIns="0"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Analysis Model</a:t>
            </a:r>
            <a:endParaRPr lang="en-US" sz="4400" dirty="0"/>
          </a:p>
        </p:txBody>
      </p:sp>
      <p:sp>
        <p:nvSpPr>
          <p:cNvPr id="6" name="Text 4"/>
          <p:cNvSpPr/>
          <p:nvPr/>
        </p:nvSpPr>
        <p:spPr>
          <a:xfrm>
            <a:off x="457200" y="2834640"/>
            <a:ext cx="8229600" cy="457200"/>
          </a:xfrm>
          <a:prstGeom prst="rect">
            <a:avLst/>
          </a:prstGeom>
          <a:noFill/>
          <a:ln/>
        </p:spPr>
        <p:txBody>
          <a:bodyPr wrap="square" lIns="0" tIns="0" rIns="0" bIns="0" rtlCol="0" anchor="ctr"/>
          <a:lstStyle/>
          <a:p>
            <a:pPr marL="0" indent="0" algn="l">
              <a:buNone/>
            </a:pPr>
            <a:r>
              <a:rPr lang="en-US" sz="1600" i="1" dirty="0">
                <a:solidFill>
                  <a:srgbClr val="AED6F1"/>
                </a:solidFill>
                <a:latin typeface="Calibri" pitchFamily="34" charset="0"/>
                <a:ea typeface="Calibri" pitchFamily="34" charset="-122"/>
                <a:cs typeface="Calibri" pitchFamily="34" charset="-120"/>
              </a:rPr>
              <a:t>Robustness Diagrams · Collaboration Diagrams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F72"/>
          </a:solidFill>
          <a:ln w="12700">
            <a:solidFill>
              <a:srgbClr val="1B4F72"/>
            </a:solidFill>
            <a:prstDash val="solid"/>
          </a:ln>
        </p:spPr>
        <p:txBody>
          <a:bodyPr/>
          <a:lstStyle/>
          <a:p>
            <a:endParaRPr lang="en-IN"/>
          </a:p>
        </p:txBody>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Analysis Model — Robustness Diagrams</a:t>
            </a:r>
            <a:endParaRPr lang="en-US" sz="2600" dirty="0"/>
          </a:p>
        </p:txBody>
      </p:sp>
      <p:sp>
        <p:nvSpPr>
          <p:cNvPr id="4" name="Shape 2"/>
          <p:cNvSpPr/>
          <p:nvPr/>
        </p:nvSpPr>
        <p:spPr>
          <a:xfrm>
            <a:off x="320040" y="1005840"/>
            <a:ext cx="2468880" cy="411480"/>
          </a:xfrm>
          <a:prstGeom prst="rect">
            <a:avLst/>
          </a:prstGeom>
          <a:solidFill>
            <a:srgbClr val="2E86C1"/>
          </a:solidFill>
          <a:ln w="12700">
            <a:solidFill>
              <a:srgbClr val="2E86C1"/>
            </a:solidFill>
            <a:prstDash val="solid"/>
          </a:ln>
        </p:spPr>
        <p:txBody>
          <a:bodyPr/>
          <a:lstStyle/>
          <a:p>
            <a:endParaRPr lang="en-IN"/>
          </a:p>
        </p:txBody>
      </p:sp>
      <p:sp>
        <p:nvSpPr>
          <p:cNvPr id="5" name="Text 3"/>
          <p:cNvSpPr/>
          <p:nvPr/>
        </p:nvSpPr>
        <p:spPr>
          <a:xfrm>
            <a:off x="320040" y="1005840"/>
            <a:ext cx="24688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Boundary: UI / Interface elements</a:t>
            </a:r>
            <a:endParaRPr lang="en-US" sz="1100" dirty="0"/>
          </a:p>
        </p:txBody>
      </p:sp>
      <p:sp>
        <p:nvSpPr>
          <p:cNvPr id="6" name="Shape 4"/>
          <p:cNvSpPr/>
          <p:nvPr/>
        </p:nvSpPr>
        <p:spPr>
          <a:xfrm>
            <a:off x="3154680" y="1005840"/>
            <a:ext cx="2468880" cy="411480"/>
          </a:xfrm>
          <a:prstGeom prst="rect">
            <a:avLst/>
          </a:prstGeom>
          <a:solidFill>
            <a:srgbClr val="1ABC9C"/>
          </a:solidFill>
          <a:ln w="12700">
            <a:solidFill>
              <a:srgbClr val="1ABC9C"/>
            </a:solidFill>
            <a:prstDash val="solid"/>
          </a:ln>
        </p:spPr>
        <p:txBody>
          <a:bodyPr/>
          <a:lstStyle/>
          <a:p>
            <a:endParaRPr lang="en-IN"/>
          </a:p>
        </p:txBody>
      </p:sp>
      <p:sp>
        <p:nvSpPr>
          <p:cNvPr id="7" name="Text 5"/>
          <p:cNvSpPr/>
          <p:nvPr/>
        </p:nvSpPr>
        <p:spPr>
          <a:xfrm>
            <a:off x="3154680" y="1005840"/>
            <a:ext cx="24688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Control: Business logic controllers</a:t>
            </a:r>
            <a:endParaRPr lang="en-US" sz="1100" dirty="0"/>
          </a:p>
        </p:txBody>
      </p:sp>
      <p:sp>
        <p:nvSpPr>
          <p:cNvPr id="8" name="Shape 6"/>
          <p:cNvSpPr/>
          <p:nvPr/>
        </p:nvSpPr>
        <p:spPr>
          <a:xfrm>
            <a:off x="5989320" y="1005840"/>
            <a:ext cx="2468880" cy="411480"/>
          </a:xfrm>
          <a:prstGeom prst="rect">
            <a:avLst/>
          </a:prstGeom>
          <a:solidFill>
            <a:srgbClr val="E67E22"/>
          </a:solidFill>
          <a:ln w="12700">
            <a:solidFill>
              <a:srgbClr val="E67E22"/>
            </a:solidFill>
            <a:prstDash val="solid"/>
          </a:ln>
        </p:spPr>
        <p:txBody>
          <a:bodyPr/>
          <a:lstStyle/>
          <a:p>
            <a:endParaRPr lang="en-IN"/>
          </a:p>
        </p:txBody>
      </p:sp>
      <p:sp>
        <p:nvSpPr>
          <p:cNvPr id="9" name="Text 7"/>
          <p:cNvSpPr/>
          <p:nvPr/>
        </p:nvSpPr>
        <p:spPr>
          <a:xfrm>
            <a:off x="5989320" y="1005840"/>
            <a:ext cx="246888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Entity: Domain model objects</a:t>
            </a:r>
            <a:endParaRPr lang="en-US" sz="1100" dirty="0"/>
          </a:p>
        </p:txBody>
      </p:sp>
      <p:sp>
        <p:nvSpPr>
          <p:cNvPr id="10" name="Text 8"/>
          <p:cNvSpPr/>
          <p:nvPr/>
        </p:nvSpPr>
        <p:spPr>
          <a:xfrm>
            <a:off x="274320" y="1600200"/>
            <a:ext cx="4114800" cy="320040"/>
          </a:xfrm>
          <a:prstGeom prst="rect">
            <a:avLst/>
          </a:prstGeom>
          <a:noFill/>
          <a:ln/>
        </p:spPr>
        <p:txBody>
          <a:bodyPr wrap="square" lIns="0" tIns="0" rIns="0" bIns="0" rtlCol="0" anchor="ctr"/>
          <a:lstStyle/>
          <a:p>
            <a:pPr marL="0" indent="0">
              <a:buNone/>
            </a:pPr>
            <a:r>
              <a:rPr lang="en-US" sz="1300" b="1" dirty="0">
                <a:solidFill>
                  <a:srgbClr val="1B4F72"/>
                </a:solidFill>
                <a:latin typeface="Calibri" pitchFamily="34" charset="0"/>
                <a:ea typeface="Calibri" pitchFamily="34" charset="-122"/>
                <a:cs typeface="Calibri" pitchFamily="34" charset="-120"/>
              </a:rPr>
              <a:t>Room Booking Robustness</a:t>
            </a:r>
            <a:endParaRPr lang="en-US" sz="1300" dirty="0"/>
          </a:p>
        </p:txBody>
      </p:sp>
      <p:sp>
        <p:nvSpPr>
          <p:cNvPr id="11" name="Text 9"/>
          <p:cNvSpPr/>
          <p:nvPr/>
        </p:nvSpPr>
        <p:spPr>
          <a:xfrm>
            <a:off x="274320" y="1965960"/>
            <a:ext cx="1188720" cy="256032"/>
          </a:xfrm>
          <a:prstGeom prst="rect">
            <a:avLst/>
          </a:prstGeom>
          <a:noFill/>
          <a:ln/>
        </p:spPr>
        <p:txBody>
          <a:bodyPr wrap="square" lIns="0" tIns="0" rIns="0" bIns="0" rtlCol="0" anchor="ctr"/>
          <a:lstStyle/>
          <a:p>
            <a:pPr marL="0" indent="0">
              <a:buNone/>
            </a:pPr>
            <a:r>
              <a:rPr lang="en-US" sz="1000" b="1" dirty="0">
                <a:solidFill>
                  <a:srgbClr val="2E86C1"/>
                </a:solidFill>
                <a:latin typeface="Calibri" pitchFamily="34" charset="0"/>
                <a:ea typeface="Calibri" pitchFamily="34" charset="-122"/>
                <a:cs typeface="Calibri" pitchFamily="34" charset="-120"/>
              </a:rPr>
              <a:t>Boundary</a:t>
            </a:r>
            <a:endParaRPr lang="en-US" sz="1000" dirty="0"/>
          </a:p>
        </p:txBody>
      </p:sp>
      <p:sp>
        <p:nvSpPr>
          <p:cNvPr id="12" name="Shape 10"/>
          <p:cNvSpPr/>
          <p:nvPr/>
        </p:nvSpPr>
        <p:spPr>
          <a:xfrm>
            <a:off x="274320" y="2286000"/>
            <a:ext cx="1234440" cy="384048"/>
          </a:xfrm>
          <a:prstGeom prst="ellipse">
            <a:avLst/>
          </a:prstGeom>
          <a:solidFill>
            <a:srgbClr val="2E86C1">
              <a:alpha val="85000"/>
            </a:srgbClr>
          </a:solidFill>
          <a:ln w="12700">
            <a:solidFill>
              <a:srgbClr val="2E86C1"/>
            </a:solidFill>
            <a:prstDash val="solid"/>
          </a:ln>
        </p:spPr>
        <p:txBody>
          <a:bodyPr/>
          <a:lstStyle/>
          <a:p>
            <a:endParaRPr lang="en-IN"/>
          </a:p>
        </p:txBody>
      </p:sp>
      <p:sp>
        <p:nvSpPr>
          <p:cNvPr id="13" name="Text 11"/>
          <p:cNvSpPr/>
          <p:nvPr/>
        </p:nvSpPr>
        <p:spPr>
          <a:xfrm>
            <a:off x="274320" y="2286000"/>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Login UI</a:t>
            </a:r>
            <a:endParaRPr lang="en-US" sz="900" dirty="0"/>
          </a:p>
        </p:txBody>
      </p:sp>
      <p:sp>
        <p:nvSpPr>
          <p:cNvPr id="14" name="Shape 12"/>
          <p:cNvSpPr/>
          <p:nvPr/>
        </p:nvSpPr>
        <p:spPr>
          <a:xfrm>
            <a:off x="274320" y="2944368"/>
            <a:ext cx="1234440" cy="384048"/>
          </a:xfrm>
          <a:prstGeom prst="ellipse">
            <a:avLst/>
          </a:prstGeom>
          <a:solidFill>
            <a:srgbClr val="2E86C1">
              <a:alpha val="85000"/>
            </a:srgbClr>
          </a:solidFill>
          <a:ln w="12700">
            <a:solidFill>
              <a:srgbClr val="2E86C1"/>
            </a:solidFill>
            <a:prstDash val="solid"/>
          </a:ln>
        </p:spPr>
        <p:txBody>
          <a:bodyPr/>
          <a:lstStyle/>
          <a:p>
            <a:endParaRPr lang="en-IN"/>
          </a:p>
        </p:txBody>
      </p:sp>
      <p:sp>
        <p:nvSpPr>
          <p:cNvPr id="15" name="Text 13"/>
          <p:cNvSpPr/>
          <p:nvPr/>
        </p:nvSpPr>
        <p:spPr>
          <a:xfrm>
            <a:off x="274320" y="2944368"/>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Room Search UI</a:t>
            </a:r>
            <a:endParaRPr lang="en-US" sz="900" dirty="0"/>
          </a:p>
        </p:txBody>
      </p:sp>
      <p:sp>
        <p:nvSpPr>
          <p:cNvPr id="16" name="Shape 14"/>
          <p:cNvSpPr/>
          <p:nvPr/>
        </p:nvSpPr>
        <p:spPr>
          <a:xfrm>
            <a:off x="274320" y="3602736"/>
            <a:ext cx="1234440" cy="384048"/>
          </a:xfrm>
          <a:prstGeom prst="ellipse">
            <a:avLst/>
          </a:prstGeom>
          <a:solidFill>
            <a:srgbClr val="2E86C1">
              <a:alpha val="85000"/>
            </a:srgbClr>
          </a:solidFill>
          <a:ln w="12700">
            <a:solidFill>
              <a:srgbClr val="2E86C1"/>
            </a:solidFill>
            <a:prstDash val="solid"/>
          </a:ln>
        </p:spPr>
        <p:txBody>
          <a:bodyPr/>
          <a:lstStyle/>
          <a:p>
            <a:endParaRPr lang="en-IN"/>
          </a:p>
        </p:txBody>
      </p:sp>
      <p:sp>
        <p:nvSpPr>
          <p:cNvPr id="17" name="Text 15"/>
          <p:cNvSpPr/>
          <p:nvPr/>
        </p:nvSpPr>
        <p:spPr>
          <a:xfrm>
            <a:off x="274320" y="3602736"/>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Booking UI</a:t>
            </a:r>
            <a:endParaRPr lang="en-US" sz="900" dirty="0"/>
          </a:p>
        </p:txBody>
      </p:sp>
      <p:sp>
        <p:nvSpPr>
          <p:cNvPr id="18" name="Text 16"/>
          <p:cNvSpPr/>
          <p:nvPr/>
        </p:nvSpPr>
        <p:spPr>
          <a:xfrm>
            <a:off x="1691640" y="1965960"/>
            <a:ext cx="1188720" cy="256032"/>
          </a:xfrm>
          <a:prstGeom prst="rect">
            <a:avLst/>
          </a:prstGeom>
          <a:noFill/>
          <a:ln/>
        </p:spPr>
        <p:txBody>
          <a:bodyPr wrap="square" lIns="0" tIns="0" rIns="0" bIns="0" rtlCol="0" anchor="ctr"/>
          <a:lstStyle/>
          <a:p>
            <a:pPr marL="0" indent="0">
              <a:buNone/>
            </a:pPr>
            <a:r>
              <a:rPr lang="en-US" sz="1000" b="1" dirty="0">
                <a:solidFill>
                  <a:srgbClr val="1ABC9C"/>
                </a:solidFill>
                <a:latin typeface="Calibri" pitchFamily="34" charset="0"/>
                <a:ea typeface="Calibri" pitchFamily="34" charset="-122"/>
                <a:cs typeface="Calibri" pitchFamily="34" charset="-120"/>
              </a:rPr>
              <a:t>Control</a:t>
            </a:r>
            <a:endParaRPr lang="en-US" sz="1000" dirty="0"/>
          </a:p>
        </p:txBody>
      </p:sp>
      <p:sp>
        <p:nvSpPr>
          <p:cNvPr id="19" name="Shape 17"/>
          <p:cNvSpPr/>
          <p:nvPr/>
        </p:nvSpPr>
        <p:spPr>
          <a:xfrm>
            <a:off x="1691640" y="2286000"/>
            <a:ext cx="1234440" cy="384048"/>
          </a:xfrm>
          <a:prstGeom prst="ellipse">
            <a:avLst/>
          </a:prstGeom>
          <a:solidFill>
            <a:srgbClr val="1ABC9C">
              <a:alpha val="85000"/>
            </a:srgbClr>
          </a:solidFill>
          <a:ln w="12700">
            <a:solidFill>
              <a:srgbClr val="1ABC9C"/>
            </a:solidFill>
            <a:prstDash val="solid"/>
          </a:ln>
        </p:spPr>
        <p:txBody>
          <a:bodyPr/>
          <a:lstStyle/>
          <a:p>
            <a:endParaRPr lang="en-IN"/>
          </a:p>
        </p:txBody>
      </p:sp>
      <p:sp>
        <p:nvSpPr>
          <p:cNvPr id="20" name="Text 18"/>
          <p:cNvSpPr/>
          <p:nvPr/>
        </p:nvSpPr>
        <p:spPr>
          <a:xfrm>
            <a:off x="1691640" y="2286000"/>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AuthController</a:t>
            </a:r>
            <a:endParaRPr lang="en-US" sz="900" dirty="0"/>
          </a:p>
        </p:txBody>
      </p:sp>
      <p:sp>
        <p:nvSpPr>
          <p:cNvPr id="21" name="Shape 19"/>
          <p:cNvSpPr/>
          <p:nvPr/>
        </p:nvSpPr>
        <p:spPr>
          <a:xfrm>
            <a:off x="1691640" y="2944368"/>
            <a:ext cx="1234440" cy="384048"/>
          </a:xfrm>
          <a:prstGeom prst="ellipse">
            <a:avLst/>
          </a:prstGeom>
          <a:solidFill>
            <a:srgbClr val="1ABC9C">
              <a:alpha val="85000"/>
            </a:srgbClr>
          </a:solidFill>
          <a:ln w="12700">
            <a:solidFill>
              <a:srgbClr val="1ABC9C"/>
            </a:solidFill>
            <a:prstDash val="solid"/>
          </a:ln>
        </p:spPr>
        <p:txBody>
          <a:bodyPr/>
          <a:lstStyle/>
          <a:p>
            <a:endParaRPr lang="en-IN"/>
          </a:p>
        </p:txBody>
      </p:sp>
      <p:sp>
        <p:nvSpPr>
          <p:cNvPr id="22" name="Text 20"/>
          <p:cNvSpPr/>
          <p:nvPr/>
        </p:nvSpPr>
        <p:spPr>
          <a:xfrm>
            <a:off x="1691640" y="2944368"/>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SearchController</a:t>
            </a:r>
            <a:endParaRPr lang="en-US" sz="900" dirty="0"/>
          </a:p>
        </p:txBody>
      </p:sp>
      <p:sp>
        <p:nvSpPr>
          <p:cNvPr id="23" name="Shape 21"/>
          <p:cNvSpPr/>
          <p:nvPr/>
        </p:nvSpPr>
        <p:spPr>
          <a:xfrm>
            <a:off x="1691640" y="3602736"/>
            <a:ext cx="1234440" cy="384048"/>
          </a:xfrm>
          <a:prstGeom prst="ellipse">
            <a:avLst/>
          </a:prstGeom>
          <a:solidFill>
            <a:srgbClr val="1ABC9C">
              <a:alpha val="85000"/>
            </a:srgbClr>
          </a:solidFill>
          <a:ln w="12700">
            <a:solidFill>
              <a:srgbClr val="1ABC9C"/>
            </a:solidFill>
            <a:prstDash val="solid"/>
          </a:ln>
        </p:spPr>
        <p:txBody>
          <a:bodyPr/>
          <a:lstStyle/>
          <a:p>
            <a:endParaRPr lang="en-IN"/>
          </a:p>
        </p:txBody>
      </p:sp>
      <p:sp>
        <p:nvSpPr>
          <p:cNvPr id="24" name="Text 22"/>
          <p:cNvSpPr/>
          <p:nvPr/>
        </p:nvSpPr>
        <p:spPr>
          <a:xfrm>
            <a:off x="1691640" y="3602736"/>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BookingController</a:t>
            </a:r>
            <a:endParaRPr lang="en-US" sz="900" dirty="0"/>
          </a:p>
        </p:txBody>
      </p:sp>
      <p:sp>
        <p:nvSpPr>
          <p:cNvPr id="25" name="Text 23"/>
          <p:cNvSpPr/>
          <p:nvPr/>
        </p:nvSpPr>
        <p:spPr>
          <a:xfrm>
            <a:off x="3108960" y="1965960"/>
            <a:ext cx="1188720" cy="256032"/>
          </a:xfrm>
          <a:prstGeom prst="rect">
            <a:avLst/>
          </a:prstGeom>
          <a:noFill/>
          <a:ln/>
        </p:spPr>
        <p:txBody>
          <a:bodyPr wrap="square" lIns="0" tIns="0" rIns="0" bIns="0" rtlCol="0" anchor="ctr"/>
          <a:lstStyle/>
          <a:p>
            <a:pPr marL="0" indent="0">
              <a:buNone/>
            </a:pPr>
            <a:r>
              <a:rPr lang="en-US" sz="1000" b="1" dirty="0">
                <a:solidFill>
                  <a:srgbClr val="E67E22"/>
                </a:solidFill>
                <a:latin typeface="Calibri" pitchFamily="34" charset="0"/>
                <a:ea typeface="Calibri" pitchFamily="34" charset="-122"/>
                <a:cs typeface="Calibri" pitchFamily="34" charset="-120"/>
              </a:rPr>
              <a:t>Entity</a:t>
            </a:r>
            <a:endParaRPr lang="en-US" sz="1000" dirty="0"/>
          </a:p>
        </p:txBody>
      </p:sp>
      <p:sp>
        <p:nvSpPr>
          <p:cNvPr id="26" name="Shape 24"/>
          <p:cNvSpPr/>
          <p:nvPr/>
        </p:nvSpPr>
        <p:spPr>
          <a:xfrm>
            <a:off x="3108960" y="2286000"/>
            <a:ext cx="1234440" cy="384048"/>
          </a:xfrm>
          <a:prstGeom prst="rect">
            <a:avLst/>
          </a:prstGeom>
          <a:solidFill>
            <a:srgbClr val="E67E22">
              <a:alpha val="85000"/>
            </a:srgbClr>
          </a:solidFill>
          <a:ln w="12700">
            <a:solidFill>
              <a:srgbClr val="E67E22"/>
            </a:solidFill>
            <a:prstDash val="solid"/>
          </a:ln>
        </p:spPr>
        <p:txBody>
          <a:bodyPr/>
          <a:lstStyle/>
          <a:p>
            <a:endParaRPr lang="en-IN"/>
          </a:p>
        </p:txBody>
      </p:sp>
      <p:sp>
        <p:nvSpPr>
          <p:cNvPr id="27" name="Text 25"/>
          <p:cNvSpPr/>
          <p:nvPr/>
        </p:nvSpPr>
        <p:spPr>
          <a:xfrm>
            <a:off x="3108960" y="2286000"/>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User</a:t>
            </a:r>
            <a:endParaRPr lang="en-US" sz="900" dirty="0"/>
          </a:p>
        </p:txBody>
      </p:sp>
      <p:sp>
        <p:nvSpPr>
          <p:cNvPr id="28" name="Shape 26"/>
          <p:cNvSpPr/>
          <p:nvPr/>
        </p:nvSpPr>
        <p:spPr>
          <a:xfrm>
            <a:off x="3108960" y="2944368"/>
            <a:ext cx="1234440" cy="384048"/>
          </a:xfrm>
          <a:prstGeom prst="rect">
            <a:avLst/>
          </a:prstGeom>
          <a:solidFill>
            <a:srgbClr val="E67E22">
              <a:alpha val="85000"/>
            </a:srgbClr>
          </a:solidFill>
          <a:ln w="12700">
            <a:solidFill>
              <a:srgbClr val="E67E22"/>
            </a:solidFill>
            <a:prstDash val="solid"/>
          </a:ln>
        </p:spPr>
        <p:txBody>
          <a:bodyPr/>
          <a:lstStyle/>
          <a:p>
            <a:endParaRPr lang="en-IN"/>
          </a:p>
        </p:txBody>
      </p:sp>
      <p:sp>
        <p:nvSpPr>
          <p:cNvPr id="29" name="Text 27"/>
          <p:cNvSpPr/>
          <p:nvPr/>
        </p:nvSpPr>
        <p:spPr>
          <a:xfrm>
            <a:off x="3108960" y="2944368"/>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Room</a:t>
            </a:r>
            <a:endParaRPr lang="en-US" sz="900" dirty="0"/>
          </a:p>
        </p:txBody>
      </p:sp>
      <p:sp>
        <p:nvSpPr>
          <p:cNvPr id="30" name="Shape 28"/>
          <p:cNvSpPr/>
          <p:nvPr/>
        </p:nvSpPr>
        <p:spPr>
          <a:xfrm>
            <a:off x="3108960" y="3602736"/>
            <a:ext cx="1234440" cy="384048"/>
          </a:xfrm>
          <a:prstGeom prst="rect">
            <a:avLst/>
          </a:prstGeom>
          <a:solidFill>
            <a:srgbClr val="E67E22">
              <a:alpha val="85000"/>
            </a:srgbClr>
          </a:solidFill>
          <a:ln w="12700">
            <a:solidFill>
              <a:srgbClr val="E67E22"/>
            </a:solidFill>
            <a:prstDash val="solid"/>
          </a:ln>
        </p:spPr>
        <p:txBody>
          <a:bodyPr/>
          <a:lstStyle/>
          <a:p>
            <a:endParaRPr lang="en-IN"/>
          </a:p>
        </p:txBody>
      </p:sp>
      <p:sp>
        <p:nvSpPr>
          <p:cNvPr id="31" name="Text 29"/>
          <p:cNvSpPr/>
          <p:nvPr/>
        </p:nvSpPr>
        <p:spPr>
          <a:xfrm>
            <a:off x="3108960" y="3602736"/>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Booking</a:t>
            </a:r>
            <a:endParaRPr lang="en-US" sz="900" dirty="0"/>
          </a:p>
        </p:txBody>
      </p:sp>
      <p:sp>
        <p:nvSpPr>
          <p:cNvPr id="32" name="Shape 30"/>
          <p:cNvSpPr/>
          <p:nvPr/>
        </p:nvSpPr>
        <p:spPr>
          <a:xfrm>
            <a:off x="1508760" y="2459736"/>
            <a:ext cx="182880" cy="36576"/>
          </a:xfrm>
          <a:prstGeom prst="rect">
            <a:avLst/>
          </a:prstGeom>
          <a:solidFill>
            <a:srgbClr val="7F8C8D"/>
          </a:solidFill>
          <a:ln w="12700">
            <a:solidFill>
              <a:srgbClr val="7F8C8D"/>
            </a:solidFill>
            <a:prstDash val="solid"/>
          </a:ln>
        </p:spPr>
        <p:txBody>
          <a:bodyPr/>
          <a:lstStyle/>
          <a:p>
            <a:endParaRPr lang="en-IN"/>
          </a:p>
        </p:txBody>
      </p:sp>
      <p:sp>
        <p:nvSpPr>
          <p:cNvPr id="33" name="Shape 31"/>
          <p:cNvSpPr/>
          <p:nvPr/>
        </p:nvSpPr>
        <p:spPr>
          <a:xfrm>
            <a:off x="2926080" y="2459736"/>
            <a:ext cx="182880" cy="36576"/>
          </a:xfrm>
          <a:prstGeom prst="rect">
            <a:avLst/>
          </a:prstGeom>
          <a:solidFill>
            <a:srgbClr val="7F8C8D"/>
          </a:solidFill>
          <a:ln w="12700">
            <a:solidFill>
              <a:srgbClr val="7F8C8D"/>
            </a:solidFill>
            <a:prstDash val="solid"/>
          </a:ln>
        </p:spPr>
        <p:txBody>
          <a:bodyPr/>
          <a:lstStyle/>
          <a:p>
            <a:endParaRPr lang="en-IN"/>
          </a:p>
        </p:txBody>
      </p:sp>
      <p:sp>
        <p:nvSpPr>
          <p:cNvPr id="34" name="Shape 32"/>
          <p:cNvSpPr/>
          <p:nvPr/>
        </p:nvSpPr>
        <p:spPr>
          <a:xfrm>
            <a:off x="1508760" y="3118104"/>
            <a:ext cx="182880" cy="36576"/>
          </a:xfrm>
          <a:prstGeom prst="rect">
            <a:avLst/>
          </a:prstGeom>
          <a:solidFill>
            <a:srgbClr val="7F8C8D"/>
          </a:solidFill>
          <a:ln w="12700">
            <a:solidFill>
              <a:srgbClr val="7F8C8D"/>
            </a:solidFill>
            <a:prstDash val="solid"/>
          </a:ln>
        </p:spPr>
        <p:txBody>
          <a:bodyPr/>
          <a:lstStyle/>
          <a:p>
            <a:endParaRPr lang="en-IN"/>
          </a:p>
        </p:txBody>
      </p:sp>
      <p:sp>
        <p:nvSpPr>
          <p:cNvPr id="35" name="Shape 33"/>
          <p:cNvSpPr/>
          <p:nvPr/>
        </p:nvSpPr>
        <p:spPr>
          <a:xfrm>
            <a:off x="2926080" y="3118104"/>
            <a:ext cx="182880" cy="36576"/>
          </a:xfrm>
          <a:prstGeom prst="rect">
            <a:avLst/>
          </a:prstGeom>
          <a:solidFill>
            <a:srgbClr val="7F8C8D"/>
          </a:solidFill>
          <a:ln w="12700">
            <a:solidFill>
              <a:srgbClr val="7F8C8D"/>
            </a:solidFill>
            <a:prstDash val="solid"/>
          </a:ln>
        </p:spPr>
        <p:txBody>
          <a:bodyPr/>
          <a:lstStyle/>
          <a:p>
            <a:endParaRPr lang="en-IN"/>
          </a:p>
        </p:txBody>
      </p:sp>
      <p:sp>
        <p:nvSpPr>
          <p:cNvPr id="36" name="Shape 34"/>
          <p:cNvSpPr/>
          <p:nvPr/>
        </p:nvSpPr>
        <p:spPr>
          <a:xfrm>
            <a:off x="1508760" y="3776472"/>
            <a:ext cx="182880" cy="36576"/>
          </a:xfrm>
          <a:prstGeom prst="rect">
            <a:avLst/>
          </a:prstGeom>
          <a:solidFill>
            <a:srgbClr val="7F8C8D"/>
          </a:solidFill>
          <a:ln w="12700">
            <a:solidFill>
              <a:srgbClr val="7F8C8D"/>
            </a:solidFill>
            <a:prstDash val="solid"/>
          </a:ln>
        </p:spPr>
        <p:txBody>
          <a:bodyPr/>
          <a:lstStyle/>
          <a:p>
            <a:endParaRPr lang="en-IN"/>
          </a:p>
        </p:txBody>
      </p:sp>
      <p:sp>
        <p:nvSpPr>
          <p:cNvPr id="37" name="Shape 35"/>
          <p:cNvSpPr/>
          <p:nvPr/>
        </p:nvSpPr>
        <p:spPr>
          <a:xfrm>
            <a:off x="2926080" y="3776472"/>
            <a:ext cx="182880" cy="36576"/>
          </a:xfrm>
          <a:prstGeom prst="rect">
            <a:avLst/>
          </a:prstGeom>
          <a:solidFill>
            <a:srgbClr val="7F8C8D"/>
          </a:solidFill>
          <a:ln w="12700">
            <a:solidFill>
              <a:srgbClr val="7F8C8D"/>
            </a:solidFill>
            <a:prstDash val="solid"/>
          </a:ln>
        </p:spPr>
        <p:txBody>
          <a:bodyPr/>
          <a:lstStyle/>
          <a:p>
            <a:endParaRPr lang="en-IN"/>
          </a:p>
        </p:txBody>
      </p:sp>
      <p:sp>
        <p:nvSpPr>
          <p:cNvPr id="38" name="Text 36"/>
          <p:cNvSpPr/>
          <p:nvPr/>
        </p:nvSpPr>
        <p:spPr>
          <a:xfrm>
            <a:off x="4846320" y="1600200"/>
            <a:ext cx="4114800" cy="320040"/>
          </a:xfrm>
          <a:prstGeom prst="rect">
            <a:avLst/>
          </a:prstGeom>
          <a:noFill/>
          <a:ln/>
        </p:spPr>
        <p:txBody>
          <a:bodyPr wrap="square" lIns="0" tIns="0" rIns="0" bIns="0" rtlCol="0" anchor="ctr"/>
          <a:lstStyle/>
          <a:p>
            <a:pPr marL="0" indent="0">
              <a:buNone/>
            </a:pPr>
            <a:r>
              <a:rPr lang="en-US" sz="1300" b="1" dirty="0">
                <a:solidFill>
                  <a:srgbClr val="1B4F72"/>
                </a:solidFill>
                <a:latin typeface="Calibri" pitchFamily="34" charset="0"/>
                <a:ea typeface="Calibri" pitchFamily="34" charset="-122"/>
                <a:cs typeface="Calibri" pitchFamily="34" charset="-120"/>
              </a:rPr>
              <a:t>Maintenance Ticket Robustness</a:t>
            </a:r>
            <a:endParaRPr lang="en-US" sz="1300" dirty="0"/>
          </a:p>
        </p:txBody>
      </p:sp>
      <p:sp>
        <p:nvSpPr>
          <p:cNvPr id="39" name="Text 37"/>
          <p:cNvSpPr/>
          <p:nvPr/>
        </p:nvSpPr>
        <p:spPr>
          <a:xfrm>
            <a:off x="4846320" y="1965960"/>
            <a:ext cx="1188720" cy="256032"/>
          </a:xfrm>
          <a:prstGeom prst="rect">
            <a:avLst/>
          </a:prstGeom>
          <a:noFill/>
          <a:ln/>
        </p:spPr>
        <p:txBody>
          <a:bodyPr wrap="square" lIns="0" tIns="0" rIns="0" bIns="0" rtlCol="0" anchor="ctr"/>
          <a:lstStyle/>
          <a:p>
            <a:pPr marL="0" indent="0">
              <a:buNone/>
            </a:pPr>
            <a:r>
              <a:rPr lang="en-US" sz="1000" b="1" dirty="0">
                <a:solidFill>
                  <a:srgbClr val="2E86C1"/>
                </a:solidFill>
                <a:latin typeface="Calibri" pitchFamily="34" charset="0"/>
                <a:ea typeface="Calibri" pitchFamily="34" charset="-122"/>
                <a:cs typeface="Calibri" pitchFamily="34" charset="-120"/>
              </a:rPr>
              <a:t>Boundary</a:t>
            </a:r>
            <a:endParaRPr lang="en-US" sz="1000" dirty="0"/>
          </a:p>
        </p:txBody>
      </p:sp>
      <p:sp>
        <p:nvSpPr>
          <p:cNvPr id="40" name="Shape 38"/>
          <p:cNvSpPr/>
          <p:nvPr/>
        </p:nvSpPr>
        <p:spPr>
          <a:xfrm>
            <a:off x="4846320" y="2286000"/>
            <a:ext cx="1234440" cy="384048"/>
          </a:xfrm>
          <a:prstGeom prst="ellipse">
            <a:avLst/>
          </a:prstGeom>
          <a:solidFill>
            <a:srgbClr val="2E86C1">
              <a:alpha val="85000"/>
            </a:srgbClr>
          </a:solidFill>
          <a:ln w="12700">
            <a:solidFill>
              <a:srgbClr val="2E86C1"/>
            </a:solidFill>
            <a:prstDash val="solid"/>
          </a:ln>
        </p:spPr>
        <p:txBody>
          <a:bodyPr/>
          <a:lstStyle/>
          <a:p>
            <a:endParaRPr lang="en-IN"/>
          </a:p>
        </p:txBody>
      </p:sp>
      <p:sp>
        <p:nvSpPr>
          <p:cNvPr id="41" name="Text 39"/>
          <p:cNvSpPr/>
          <p:nvPr/>
        </p:nvSpPr>
        <p:spPr>
          <a:xfrm>
            <a:off x="4846320" y="2286000"/>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Ticket Form UI</a:t>
            </a:r>
            <a:endParaRPr lang="en-US" sz="900" dirty="0"/>
          </a:p>
        </p:txBody>
      </p:sp>
      <p:sp>
        <p:nvSpPr>
          <p:cNvPr id="42" name="Shape 40"/>
          <p:cNvSpPr/>
          <p:nvPr/>
        </p:nvSpPr>
        <p:spPr>
          <a:xfrm>
            <a:off x="4846320" y="2944368"/>
            <a:ext cx="1234440" cy="384048"/>
          </a:xfrm>
          <a:prstGeom prst="ellipse">
            <a:avLst/>
          </a:prstGeom>
          <a:solidFill>
            <a:srgbClr val="2E86C1">
              <a:alpha val="85000"/>
            </a:srgbClr>
          </a:solidFill>
          <a:ln w="12700">
            <a:solidFill>
              <a:srgbClr val="2E86C1"/>
            </a:solidFill>
            <a:prstDash val="solid"/>
          </a:ln>
        </p:spPr>
        <p:txBody>
          <a:bodyPr/>
          <a:lstStyle/>
          <a:p>
            <a:endParaRPr lang="en-IN"/>
          </a:p>
        </p:txBody>
      </p:sp>
      <p:sp>
        <p:nvSpPr>
          <p:cNvPr id="43" name="Text 41"/>
          <p:cNvSpPr/>
          <p:nvPr/>
        </p:nvSpPr>
        <p:spPr>
          <a:xfrm>
            <a:off x="4846320" y="2944368"/>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Status Dashboard UI</a:t>
            </a:r>
            <a:endParaRPr lang="en-US" sz="900" dirty="0"/>
          </a:p>
        </p:txBody>
      </p:sp>
      <p:sp>
        <p:nvSpPr>
          <p:cNvPr id="44" name="Text 42"/>
          <p:cNvSpPr/>
          <p:nvPr/>
        </p:nvSpPr>
        <p:spPr>
          <a:xfrm>
            <a:off x="6263640" y="1965960"/>
            <a:ext cx="1188720" cy="256032"/>
          </a:xfrm>
          <a:prstGeom prst="rect">
            <a:avLst/>
          </a:prstGeom>
          <a:noFill/>
          <a:ln/>
        </p:spPr>
        <p:txBody>
          <a:bodyPr wrap="square" lIns="0" tIns="0" rIns="0" bIns="0" rtlCol="0" anchor="ctr"/>
          <a:lstStyle/>
          <a:p>
            <a:pPr marL="0" indent="0">
              <a:buNone/>
            </a:pPr>
            <a:r>
              <a:rPr lang="en-US" sz="1000" b="1" dirty="0">
                <a:solidFill>
                  <a:srgbClr val="1ABC9C"/>
                </a:solidFill>
                <a:latin typeface="Calibri" pitchFamily="34" charset="0"/>
                <a:ea typeface="Calibri" pitchFamily="34" charset="-122"/>
                <a:cs typeface="Calibri" pitchFamily="34" charset="-120"/>
              </a:rPr>
              <a:t>Control</a:t>
            </a:r>
            <a:endParaRPr lang="en-US" sz="1000" dirty="0"/>
          </a:p>
        </p:txBody>
      </p:sp>
      <p:sp>
        <p:nvSpPr>
          <p:cNvPr id="45" name="Shape 43"/>
          <p:cNvSpPr/>
          <p:nvPr/>
        </p:nvSpPr>
        <p:spPr>
          <a:xfrm>
            <a:off x="6263640" y="2286000"/>
            <a:ext cx="1234440" cy="384048"/>
          </a:xfrm>
          <a:prstGeom prst="ellipse">
            <a:avLst/>
          </a:prstGeom>
          <a:solidFill>
            <a:srgbClr val="1ABC9C">
              <a:alpha val="85000"/>
            </a:srgbClr>
          </a:solidFill>
          <a:ln w="12700">
            <a:solidFill>
              <a:srgbClr val="1ABC9C"/>
            </a:solidFill>
            <a:prstDash val="solid"/>
          </a:ln>
        </p:spPr>
        <p:txBody>
          <a:bodyPr/>
          <a:lstStyle/>
          <a:p>
            <a:endParaRPr lang="en-IN"/>
          </a:p>
        </p:txBody>
      </p:sp>
      <p:sp>
        <p:nvSpPr>
          <p:cNvPr id="46" name="Text 44"/>
          <p:cNvSpPr/>
          <p:nvPr/>
        </p:nvSpPr>
        <p:spPr>
          <a:xfrm>
            <a:off x="6263640" y="2286000"/>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TicketController</a:t>
            </a:r>
            <a:endParaRPr lang="en-US" sz="900" dirty="0"/>
          </a:p>
        </p:txBody>
      </p:sp>
      <p:sp>
        <p:nvSpPr>
          <p:cNvPr id="47" name="Shape 45"/>
          <p:cNvSpPr/>
          <p:nvPr/>
        </p:nvSpPr>
        <p:spPr>
          <a:xfrm>
            <a:off x="6263640" y="2944368"/>
            <a:ext cx="1234440" cy="384048"/>
          </a:xfrm>
          <a:prstGeom prst="ellipse">
            <a:avLst/>
          </a:prstGeom>
          <a:solidFill>
            <a:srgbClr val="1ABC9C">
              <a:alpha val="85000"/>
            </a:srgbClr>
          </a:solidFill>
          <a:ln w="12700">
            <a:solidFill>
              <a:srgbClr val="1ABC9C"/>
            </a:solidFill>
            <a:prstDash val="solid"/>
          </a:ln>
        </p:spPr>
        <p:txBody>
          <a:bodyPr/>
          <a:lstStyle/>
          <a:p>
            <a:endParaRPr lang="en-IN"/>
          </a:p>
        </p:txBody>
      </p:sp>
      <p:sp>
        <p:nvSpPr>
          <p:cNvPr id="48" name="Text 46"/>
          <p:cNvSpPr/>
          <p:nvPr/>
        </p:nvSpPr>
        <p:spPr>
          <a:xfrm>
            <a:off x="6263640" y="2944368"/>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StatusController</a:t>
            </a:r>
            <a:endParaRPr lang="en-US" sz="900" dirty="0"/>
          </a:p>
        </p:txBody>
      </p:sp>
      <p:sp>
        <p:nvSpPr>
          <p:cNvPr id="49" name="Shape 47"/>
          <p:cNvSpPr/>
          <p:nvPr/>
        </p:nvSpPr>
        <p:spPr>
          <a:xfrm>
            <a:off x="6263640" y="3602736"/>
            <a:ext cx="1234440" cy="384048"/>
          </a:xfrm>
          <a:prstGeom prst="ellipse">
            <a:avLst/>
          </a:prstGeom>
          <a:solidFill>
            <a:srgbClr val="1ABC9C">
              <a:alpha val="85000"/>
            </a:srgbClr>
          </a:solidFill>
          <a:ln w="12700">
            <a:solidFill>
              <a:srgbClr val="1ABC9C"/>
            </a:solidFill>
            <a:prstDash val="solid"/>
          </a:ln>
        </p:spPr>
        <p:txBody>
          <a:bodyPr/>
          <a:lstStyle/>
          <a:p>
            <a:endParaRPr lang="en-IN"/>
          </a:p>
        </p:txBody>
      </p:sp>
      <p:sp>
        <p:nvSpPr>
          <p:cNvPr id="50" name="Text 48"/>
          <p:cNvSpPr/>
          <p:nvPr/>
        </p:nvSpPr>
        <p:spPr>
          <a:xfrm>
            <a:off x="6263640" y="3602736"/>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NotifyController</a:t>
            </a:r>
            <a:endParaRPr lang="en-US" sz="900" dirty="0"/>
          </a:p>
        </p:txBody>
      </p:sp>
      <p:sp>
        <p:nvSpPr>
          <p:cNvPr id="51" name="Text 49"/>
          <p:cNvSpPr/>
          <p:nvPr/>
        </p:nvSpPr>
        <p:spPr>
          <a:xfrm>
            <a:off x="7680960" y="1965960"/>
            <a:ext cx="1188720" cy="256032"/>
          </a:xfrm>
          <a:prstGeom prst="rect">
            <a:avLst/>
          </a:prstGeom>
          <a:noFill/>
          <a:ln/>
        </p:spPr>
        <p:txBody>
          <a:bodyPr wrap="square" lIns="0" tIns="0" rIns="0" bIns="0" rtlCol="0" anchor="ctr"/>
          <a:lstStyle/>
          <a:p>
            <a:pPr marL="0" indent="0">
              <a:buNone/>
            </a:pPr>
            <a:r>
              <a:rPr lang="en-US" sz="1000" b="1" dirty="0">
                <a:solidFill>
                  <a:srgbClr val="E67E22"/>
                </a:solidFill>
                <a:latin typeface="Calibri" pitchFamily="34" charset="0"/>
                <a:ea typeface="Calibri" pitchFamily="34" charset="-122"/>
                <a:cs typeface="Calibri" pitchFamily="34" charset="-120"/>
              </a:rPr>
              <a:t>Entity</a:t>
            </a:r>
            <a:endParaRPr lang="en-US" sz="1000" dirty="0"/>
          </a:p>
        </p:txBody>
      </p:sp>
      <p:sp>
        <p:nvSpPr>
          <p:cNvPr id="52" name="Shape 50"/>
          <p:cNvSpPr/>
          <p:nvPr/>
        </p:nvSpPr>
        <p:spPr>
          <a:xfrm>
            <a:off x="7680960" y="2286000"/>
            <a:ext cx="1234440" cy="384048"/>
          </a:xfrm>
          <a:prstGeom prst="rect">
            <a:avLst/>
          </a:prstGeom>
          <a:solidFill>
            <a:srgbClr val="E67E22">
              <a:alpha val="85000"/>
            </a:srgbClr>
          </a:solidFill>
          <a:ln w="12700">
            <a:solidFill>
              <a:srgbClr val="E67E22"/>
            </a:solidFill>
            <a:prstDash val="solid"/>
          </a:ln>
        </p:spPr>
        <p:txBody>
          <a:bodyPr/>
          <a:lstStyle/>
          <a:p>
            <a:endParaRPr lang="en-IN"/>
          </a:p>
        </p:txBody>
      </p:sp>
      <p:sp>
        <p:nvSpPr>
          <p:cNvPr id="53" name="Text 51"/>
          <p:cNvSpPr/>
          <p:nvPr/>
        </p:nvSpPr>
        <p:spPr>
          <a:xfrm>
            <a:off x="7680960" y="2286000"/>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User</a:t>
            </a:r>
            <a:endParaRPr lang="en-US" sz="900" dirty="0"/>
          </a:p>
        </p:txBody>
      </p:sp>
      <p:sp>
        <p:nvSpPr>
          <p:cNvPr id="54" name="Shape 52"/>
          <p:cNvSpPr/>
          <p:nvPr/>
        </p:nvSpPr>
        <p:spPr>
          <a:xfrm>
            <a:off x="7680960" y="2944368"/>
            <a:ext cx="1234440" cy="384048"/>
          </a:xfrm>
          <a:prstGeom prst="rect">
            <a:avLst/>
          </a:prstGeom>
          <a:solidFill>
            <a:srgbClr val="E67E22">
              <a:alpha val="85000"/>
            </a:srgbClr>
          </a:solidFill>
          <a:ln w="12700">
            <a:solidFill>
              <a:srgbClr val="E67E22"/>
            </a:solidFill>
            <a:prstDash val="solid"/>
          </a:ln>
        </p:spPr>
        <p:txBody>
          <a:bodyPr/>
          <a:lstStyle/>
          <a:p>
            <a:endParaRPr lang="en-IN"/>
          </a:p>
        </p:txBody>
      </p:sp>
      <p:sp>
        <p:nvSpPr>
          <p:cNvPr id="55" name="Text 53"/>
          <p:cNvSpPr/>
          <p:nvPr/>
        </p:nvSpPr>
        <p:spPr>
          <a:xfrm>
            <a:off x="7680960" y="2944368"/>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Ticket</a:t>
            </a:r>
            <a:endParaRPr lang="en-US" sz="900" dirty="0"/>
          </a:p>
        </p:txBody>
      </p:sp>
      <p:sp>
        <p:nvSpPr>
          <p:cNvPr id="56" name="Shape 54"/>
          <p:cNvSpPr/>
          <p:nvPr/>
        </p:nvSpPr>
        <p:spPr>
          <a:xfrm>
            <a:off x="7680960" y="3602736"/>
            <a:ext cx="1234440" cy="384048"/>
          </a:xfrm>
          <a:prstGeom prst="rect">
            <a:avLst/>
          </a:prstGeom>
          <a:solidFill>
            <a:srgbClr val="E67E22">
              <a:alpha val="85000"/>
            </a:srgbClr>
          </a:solidFill>
          <a:ln w="12700">
            <a:solidFill>
              <a:srgbClr val="E67E22"/>
            </a:solidFill>
            <a:prstDash val="solid"/>
          </a:ln>
        </p:spPr>
        <p:txBody>
          <a:bodyPr/>
          <a:lstStyle/>
          <a:p>
            <a:endParaRPr lang="en-IN"/>
          </a:p>
        </p:txBody>
      </p:sp>
      <p:sp>
        <p:nvSpPr>
          <p:cNvPr id="57" name="Text 55"/>
          <p:cNvSpPr/>
          <p:nvPr/>
        </p:nvSpPr>
        <p:spPr>
          <a:xfrm>
            <a:off x="7680960" y="3602736"/>
            <a:ext cx="1234440" cy="384048"/>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MaintenanceStaff</a:t>
            </a:r>
            <a:endParaRPr lang="en-US" sz="900" dirty="0"/>
          </a:p>
        </p:txBody>
      </p:sp>
      <p:sp>
        <p:nvSpPr>
          <p:cNvPr id="58" name="Shape 56"/>
          <p:cNvSpPr/>
          <p:nvPr/>
        </p:nvSpPr>
        <p:spPr>
          <a:xfrm>
            <a:off x="6080760" y="2459736"/>
            <a:ext cx="182880" cy="36576"/>
          </a:xfrm>
          <a:prstGeom prst="rect">
            <a:avLst/>
          </a:prstGeom>
          <a:solidFill>
            <a:srgbClr val="7F8C8D"/>
          </a:solidFill>
          <a:ln w="12700">
            <a:solidFill>
              <a:srgbClr val="7F8C8D"/>
            </a:solidFill>
            <a:prstDash val="solid"/>
          </a:ln>
        </p:spPr>
        <p:txBody>
          <a:bodyPr/>
          <a:lstStyle/>
          <a:p>
            <a:endParaRPr lang="en-IN"/>
          </a:p>
        </p:txBody>
      </p:sp>
      <p:sp>
        <p:nvSpPr>
          <p:cNvPr id="59" name="Shape 57"/>
          <p:cNvSpPr/>
          <p:nvPr/>
        </p:nvSpPr>
        <p:spPr>
          <a:xfrm>
            <a:off x="7498080" y="2459736"/>
            <a:ext cx="182880" cy="36576"/>
          </a:xfrm>
          <a:prstGeom prst="rect">
            <a:avLst/>
          </a:prstGeom>
          <a:solidFill>
            <a:srgbClr val="7F8C8D"/>
          </a:solidFill>
          <a:ln w="12700">
            <a:solidFill>
              <a:srgbClr val="7F8C8D"/>
            </a:solidFill>
            <a:prstDash val="solid"/>
          </a:ln>
        </p:spPr>
        <p:txBody>
          <a:bodyPr/>
          <a:lstStyle/>
          <a:p>
            <a:endParaRPr lang="en-IN"/>
          </a:p>
        </p:txBody>
      </p:sp>
      <p:sp>
        <p:nvSpPr>
          <p:cNvPr id="60" name="Shape 58"/>
          <p:cNvSpPr/>
          <p:nvPr/>
        </p:nvSpPr>
        <p:spPr>
          <a:xfrm>
            <a:off x="6080760" y="3118104"/>
            <a:ext cx="182880" cy="36576"/>
          </a:xfrm>
          <a:prstGeom prst="rect">
            <a:avLst/>
          </a:prstGeom>
          <a:solidFill>
            <a:srgbClr val="7F8C8D"/>
          </a:solidFill>
          <a:ln w="12700">
            <a:solidFill>
              <a:srgbClr val="7F8C8D"/>
            </a:solidFill>
            <a:prstDash val="solid"/>
          </a:ln>
        </p:spPr>
        <p:txBody>
          <a:bodyPr/>
          <a:lstStyle/>
          <a:p>
            <a:endParaRPr lang="en-IN"/>
          </a:p>
        </p:txBody>
      </p:sp>
      <p:sp>
        <p:nvSpPr>
          <p:cNvPr id="61" name="Shape 59"/>
          <p:cNvSpPr/>
          <p:nvPr/>
        </p:nvSpPr>
        <p:spPr>
          <a:xfrm>
            <a:off x="7498080" y="3118104"/>
            <a:ext cx="182880" cy="36576"/>
          </a:xfrm>
          <a:prstGeom prst="rect">
            <a:avLst/>
          </a:prstGeom>
          <a:solidFill>
            <a:srgbClr val="7F8C8D"/>
          </a:solidFill>
          <a:ln w="12700">
            <a:solidFill>
              <a:srgbClr val="7F8C8D"/>
            </a:solidFill>
            <a:prstDash val="solid"/>
          </a:ln>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F72"/>
          </a:solidFill>
          <a:ln w="12700">
            <a:solidFill>
              <a:srgbClr val="1B4F72"/>
            </a:solidFill>
            <a:prstDash val="solid"/>
          </a:ln>
        </p:spPr>
        <p:txBody>
          <a:bodyPr/>
          <a:lstStyle/>
          <a:p>
            <a:endParaRPr lang="en-IN"/>
          </a:p>
        </p:txBody>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Analysis Model — Collaboration Diagrams</a:t>
            </a:r>
            <a:endParaRPr lang="en-US" sz="2600" dirty="0"/>
          </a:p>
        </p:txBody>
      </p:sp>
      <p:sp>
        <p:nvSpPr>
          <p:cNvPr id="4" name="Text 2"/>
          <p:cNvSpPr/>
          <p:nvPr/>
        </p:nvSpPr>
        <p:spPr>
          <a:xfrm>
            <a:off x="365760" y="1005840"/>
            <a:ext cx="4114800" cy="347472"/>
          </a:xfrm>
          <a:prstGeom prst="rect">
            <a:avLst/>
          </a:prstGeom>
          <a:noFill/>
          <a:ln/>
        </p:spPr>
        <p:txBody>
          <a:bodyPr wrap="square" lIns="0" tIns="0" rIns="0" bIns="0" rtlCol="0" anchor="ctr"/>
          <a:lstStyle/>
          <a:p>
            <a:pPr marL="0" indent="0">
              <a:buNone/>
            </a:pPr>
            <a:r>
              <a:rPr lang="en-US" sz="1500" b="1" dirty="0">
                <a:solidFill>
                  <a:srgbClr val="1B4F72"/>
                </a:solidFill>
                <a:latin typeface="Calibri" pitchFamily="34" charset="0"/>
                <a:ea typeface="Calibri" pitchFamily="34" charset="-122"/>
                <a:cs typeface="Calibri" pitchFamily="34" charset="-120"/>
              </a:rPr>
              <a:t>Room Booking Collaboration</a:t>
            </a:r>
            <a:endParaRPr lang="en-US" sz="1500" dirty="0"/>
          </a:p>
        </p:txBody>
      </p:sp>
      <p:sp>
        <p:nvSpPr>
          <p:cNvPr id="5" name="Shape 3"/>
          <p:cNvSpPr/>
          <p:nvPr/>
        </p:nvSpPr>
        <p:spPr>
          <a:xfrm>
            <a:off x="365760" y="1463040"/>
            <a:ext cx="1645920" cy="384048"/>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6" name="Text 4"/>
          <p:cNvSpPr/>
          <p:nvPr/>
        </p:nvSpPr>
        <p:spPr>
          <a:xfrm>
            <a:off x="365760" y="1463040"/>
            <a:ext cx="1645920" cy="384048"/>
          </a:xfrm>
          <a:prstGeom prst="rect">
            <a:avLst/>
          </a:prstGeom>
          <a:noFill/>
          <a:ln/>
        </p:spPr>
        <p:txBody>
          <a:bodyPr wrap="square" lIns="0" tIns="0" rIns="0" bIns="0" rtlCol="0" anchor="ctr"/>
          <a:lstStyle/>
          <a:p>
            <a:pPr marL="0" indent="0" algn="ctr">
              <a:buNone/>
            </a:pPr>
            <a:r>
              <a:rPr lang="en-US" sz="1000" b="1" dirty="0">
                <a:solidFill>
                  <a:srgbClr val="1B4F72"/>
                </a:solidFill>
                <a:latin typeface="Calibri" pitchFamily="34" charset="0"/>
                <a:ea typeface="Calibri" pitchFamily="34" charset="-122"/>
                <a:cs typeface="Calibri" pitchFamily="34" charset="-120"/>
              </a:rPr>
              <a:t>:User</a:t>
            </a:r>
            <a:endParaRPr lang="en-US" sz="1000" dirty="0"/>
          </a:p>
        </p:txBody>
      </p:sp>
      <p:sp>
        <p:nvSpPr>
          <p:cNvPr id="7" name="Shape 5"/>
          <p:cNvSpPr/>
          <p:nvPr/>
        </p:nvSpPr>
        <p:spPr>
          <a:xfrm>
            <a:off x="2377440" y="1463040"/>
            <a:ext cx="1645920" cy="384048"/>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8" name="Text 6"/>
          <p:cNvSpPr/>
          <p:nvPr/>
        </p:nvSpPr>
        <p:spPr>
          <a:xfrm>
            <a:off x="2377440" y="1463040"/>
            <a:ext cx="1645920" cy="384048"/>
          </a:xfrm>
          <a:prstGeom prst="rect">
            <a:avLst/>
          </a:prstGeom>
          <a:noFill/>
          <a:ln/>
        </p:spPr>
        <p:txBody>
          <a:bodyPr wrap="square" lIns="0" tIns="0" rIns="0" bIns="0" rtlCol="0" anchor="ctr"/>
          <a:lstStyle/>
          <a:p>
            <a:pPr marL="0" indent="0" algn="ctr">
              <a:buNone/>
            </a:pPr>
            <a:r>
              <a:rPr lang="en-US" sz="1000" b="1" dirty="0">
                <a:solidFill>
                  <a:srgbClr val="1B4F72"/>
                </a:solidFill>
                <a:latin typeface="Calibri" pitchFamily="34" charset="0"/>
                <a:ea typeface="Calibri" pitchFamily="34" charset="-122"/>
                <a:cs typeface="Calibri" pitchFamily="34" charset="-120"/>
              </a:rPr>
              <a:t>:BookingUI</a:t>
            </a:r>
            <a:endParaRPr lang="en-US" sz="1000" dirty="0"/>
          </a:p>
        </p:txBody>
      </p:sp>
      <p:sp>
        <p:nvSpPr>
          <p:cNvPr id="9" name="Shape 7"/>
          <p:cNvSpPr/>
          <p:nvPr/>
        </p:nvSpPr>
        <p:spPr>
          <a:xfrm>
            <a:off x="4389120" y="1463040"/>
            <a:ext cx="1645920" cy="384048"/>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10" name="Text 8"/>
          <p:cNvSpPr/>
          <p:nvPr/>
        </p:nvSpPr>
        <p:spPr>
          <a:xfrm>
            <a:off x="4389120" y="1463040"/>
            <a:ext cx="1645920" cy="384048"/>
          </a:xfrm>
          <a:prstGeom prst="rect">
            <a:avLst/>
          </a:prstGeom>
          <a:noFill/>
          <a:ln/>
        </p:spPr>
        <p:txBody>
          <a:bodyPr wrap="square" lIns="0" tIns="0" rIns="0" bIns="0" rtlCol="0" anchor="ctr"/>
          <a:lstStyle/>
          <a:p>
            <a:pPr marL="0" indent="0" algn="ctr">
              <a:buNone/>
            </a:pPr>
            <a:r>
              <a:rPr lang="en-US" sz="1000" b="1" dirty="0">
                <a:solidFill>
                  <a:srgbClr val="1B4F72"/>
                </a:solidFill>
                <a:latin typeface="Calibri" pitchFamily="34" charset="0"/>
                <a:ea typeface="Calibri" pitchFamily="34" charset="-122"/>
                <a:cs typeface="Calibri" pitchFamily="34" charset="-120"/>
              </a:rPr>
              <a:t>:BookingController</a:t>
            </a:r>
            <a:endParaRPr lang="en-US" sz="1000" dirty="0"/>
          </a:p>
        </p:txBody>
      </p:sp>
      <p:sp>
        <p:nvSpPr>
          <p:cNvPr id="11" name="Shape 9"/>
          <p:cNvSpPr/>
          <p:nvPr/>
        </p:nvSpPr>
        <p:spPr>
          <a:xfrm>
            <a:off x="4389120" y="2651760"/>
            <a:ext cx="1645920" cy="384048"/>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12" name="Text 10"/>
          <p:cNvSpPr/>
          <p:nvPr/>
        </p:nvSpPr>
        <p:spPr>
          <a:xfrm>
            <a:off x="4389120" y="2651760"/>
            <a:ext cx="1645920" cy="384048"/>
          </a:xfrm>
          <a:prstGeom prst="rect">
            <a:avLst/>
          </a:prstGeom>
          <a:noFill/>
          <a:ln/>
        </p:spPr>
        <p:txBody>
          <a:bodyPr wrap="square" lIns="0" tIns="0" rIns="0" bIns="0" rtlCol="0" anchor="ctr"/>
          <a:lstStyle/>
          <a:p>
            <a:pPr marL="0" indent="0" algn="ctr">
              <a:buNone/>
            </a:pPr>
            <a:r>
              <a:rPr lang="en-US" sz="1000" b="1" dirty="0">
                <a:solidFill>
                  <a:srgbClr val="1B4F72"/>
                </a:solidFill>
                <a:latin typeface="Calibri" pitchFamily="34" charset="0"/>
                <a:ea typeface="Calibri" pitchFamily="34" charset="-122"/>
                <a:cs typeface="Calibri" pitchFamily="34" charset="-120"/>
              </a:rPr>
              <a:t>:Room</a:t>
            </a:r>
            <a:endParaRPr lang="en-US" sz="1000" dirty="0"/>
          </a:p>
        </p:txBody>
      </p:sp>
      <p:sp>
        <p:nvSpPr>
          <p:cNvPr id="13" name="Shape 11"/>
          <p:cNvSpPr/>
          <p:nvPr/>
        </p:nvSpPr>
        <p:spPr>
          <a:xfrm>
            <a:off x="2377440" y="2651760"/>
            <a:ext cx="1645920" cy="384048"/>
          </a:xfrm>
          <a:prstGeom prst="rect">
            <a:avLst/>
          </a:prstGeom>
          <a:solidFill>
            <a:srgbClr val="FFFFFF"/>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14" name="Text 12"/>
          <p:cNvSpPr/>
          <p:nvPr/>
        </p:nvSpPr>
        <p:spPr>
          <a:xfrm>
            <a:off x="2377440" y="2651760"/>
            <a:ext cx="1645920" cy="384048"/>
          </a:xfrm>
          <a:prstGeom prst="rect">
            <a:avLst/>
          </a:prstGeom>
          <a:noFill/>
          <a:ln/>
        </p:spPr>
        <p:txBody>
          <a:bodyPr wrap="square" lIns="0" tIns="0" rIns="0" bIns="0" rtlCol="0" anchor="ctr"/>
          <a:lstStyle/>
          <a:p>
            <a:pPr marL="0" indent="0" algn="ctr">
              <a:buNone/>
            </a:pPr>
            <a:r>
              <a:rPr lang="en-US" sz="1000" b="1" dirty="0">
                <a:solidFill>
                  <a:srgbClr val="1B4F72"/>
                </a:solidFill>
                <a:latin typeface="Calibri" pitchFamily="34" charset="0"/>
                <a:ea typeface="Calibri" pitchFamily="34" charset="-122"/>
                <a:cs typeface="Calibri" pitchFamily="34" charset="-120"/>
              </a:rPr>
              <a:t>:Booking</a:t>
            </a:r>
            <a:endParaRPr lang="en-US" sz="1000" dirty="0"/>
          </a:p>
        </p:txBody>
      </p:sp>
      <p:sp>
        <p:nvSpPr>
          <p:cNvPr id="15" name="Shape 13"/>
          <p:cNvSpPr/>
          <p:nvPr/>
        </p:nvSpPr>
        <p:spPr>
          <a:xfrm>
            <a:off x="2011680" y="1655064"/>
            <a:ext cx="365760" cy="0"/>
          </a:xfrm>
          <a:prstGeom prst="line">
            <a:avLst/>
          </a:prstGeom>
          <a:noFill/>
          <a:ln w="12700">
            <a:solidFill>
              <a:srgbClr val="7F8C8D"/>
            </a:solidFill>
            <a:prstDash val="solid"/>
          </a:ln>
        </p:spPr>
        <p:txBody>
          <a:bodyPr/>
          <a:lstStyle/>
          <a:p>
            <a:endParaRPr lang="en-IN"/>
          </a:p>
        </p:txBody>
      </p:sp>
      <p:sp>
        <p:nvSpPr>
          <p:cNvPr id="16" name="Text 14"/>
          <p:cNvSpPr/>
          <p:nvPr/>
        </p:nvSpPr>
        <p:spPr>
          <a:xfrm>
            <a:off x="1188720" y="1536192"/>
            <a:ext cx="2011680" cy="256032"/>
          </a:xfrm>
          <a:prstGeom prst="rect">
            <a:avLst/>
          </a:prstGeom>
          <a:noFill/>
          <a:ln/>
        </p:spPr>
        <p:txBody>
          <a:bodyPr wrap="square" lIns="0" tIns="0" rIns="0" bIns="0" rtlCol="0" anchor="ctr"/>
          <a:lstStyle/>
          <a:p>
            <a:pPr marL="0" indent="0">
              <a:buNone/>
            </a:pPr>
            <a:r>
              <a:rPr lang="en-US" sz="800" dirty="0">
                <a:solidFill>
                  <a:srgbClr val="7F8C8D"/>
                </a:solidFill>
                <a:latin typeface="Calibri" pitchFamily="34" charset="0"/>
                <a:ea typeface="Calibri" pitchFamily="34" charset="-122"/>
                <a:cs typeface="Calibri" pitchFamily="34" charset="-120"/>
              </a:rPr>
              <a:t>1: login()</a:t>
            </a:r>
            <a:endParaRPr lang="en-US" sz="800" dirty="0"/>
          </a:p>
        </p:txBody>
      </p:sp>
      <p:sp>
        <p:nvSpPr>
          <p:cNvPr id="17" name="Shape 15"/>
          <p:cNvSpPr/>
          <p:nvPr/>
        </p:nvSpPr>
        <p:spPr>
          <a:xfrm>
            <a:off x="4023360" y="1655064"/>
            <a:ext cx="365760" cy="0"/>
          </a:xfrm>
          <a:prstGeom prst="line">
            <a:avLst/>
          </a:prstGeom>
          <a:noFill/>
          <a:ln w="12700">
            <a:solidFill>
              <a:srgbClr val="7F8C8D"/>
            </a:solidFill>
            <a:prstDash val="solid"/>
          </a:ln>
        </p:spPr>
        <p:txBody>
          <a:bodyPr/>
          <a:lstStyle/>
          <a:p>
            <a:endParaRPr lang="en-IN"/>
          </a:p>
        </p:txBody>
      </p:sp>
      <p:sp>
        <p:nvSpPr>
          <p:cNvPr id="18" name="Text 16"/>
          <p:cNvSpPr/>
          <p:nvPr/>
        </p:nvSpPr>
        <p:spPr>
          <a:xfrm>
            <a:off x="3017520" y="1536192"/>
            <a:ext cx="2011680" cy="256032"/>
          </a:xfrm>
          <a:prstGeom prst="rect">
            <a:avLst/>
          </a:prstGeom>
          <a:noFill/>
          <a:ln/>
        </p:spPr>
        <p:txBody>
          <a:bodyPr wrap="square" lIns="0" tIns="0" rIns="0" bIns="0" rtlCol="0" anchor="ctr"/>
          <a:lstStyle/>
          <a:p>
            <a:pPr marL="0" indent="0">
              <a:buNone/>
            </a:pPr>
            <a:r>
              <a:rPr lang="en-US" sz="800" dirty="0">
                <a:solidFill>
                  <a:srgbClr val="7F8C8D"/>
                </a:solidFill>
                <a:latin typeface="Calibri" pitchFamily="34" charset="0"/>
                <a:ea typeface="Calibri" pitchFamily="34" charset="-122"/>
                <a:cs typeface="Calibri" pitchFamily="34" charset="-120"/>
              </a:rPr>
              <a:t>2: searchRoom()</a:t>
            </a:r>
            <a:endParaRPr lang="en-US" sz="800" dirty="0"/>
          </a:p>
        </p:txBody>
      </p:sp>
      <p:sp>
        <p:nvSpPr>
          <p:cNvPr id="19" name="Shape 17"/>
          <p:cNvSpPr/>
          <p:nvPr/>
        </p:nvSpPr>
        <p:spPr>
          <a:xfrm>
            <a:off x="5212080" y="1847088"/>
            <a:ext cx="0" cy="804672"/>
          </a:xfrm>
          <a:prstGeom prst="line">
            <a:avLst/>
          </a:prstGeom>
          <a:noFill/>
          <a:ln w="12700">
            <a:solidFill>
              <a:srgbClr val="7F8C8D"/>
            </a:solidFill>
            <a:prstDash val="solid"/>
          </a:ln>
        </p:spPr>
        <p:txBody>
          <a:bodyPr/>
          <a:lstStyle/>
          <a:p>
            <a:endParaRPr lang="en-IN"/>
          </a:p>
        </p:txBody>
      </p:sp>
      <p:sp>
        <p:nvSpPr>
          <p:cNvPr id="20" name="Text 18"/>
          <p:cNvSpPr/>
          <p:nvPr/>
        </p:nvSpPr>
        <p:spPr>
          <a:xfrm>
            <a:off x="5257800" y="2148840"/>
            <a:ext cx="2011680" cy="256032"/>
          </a:xfrm>
          <a:prstGeom prst="rect">
            <a:avLst/>
          </a:prstGeom>
          <a:noFill/>
          <a:ln/>
        </p:spPr>
        <p:txBody>
          <a:bodyPr wrap="square" lIns="0" tIns="0" rIns="0" bIns="0" rtlCol="0" anchor="ctr"/>
          <a:lstStyle/>
          <a:p>
            <a:pPr marL="0" indent="0">
              <a:buNone/>
            </a:pPr>
            <a:r>
              <a:rPr lang="en-US" sz="800" dirty="0">
                <a:solidFill>
                  <a:srgbClr val="7F8C8D"/>
                </a:solidFill>
                <a:latin typeface="Calibri" pitchFamily="34" charset="0"/>
                <a:ea typeface="Calibri" pitchFamily="34" charset="-122"/>
                <a:cs typeface="Calibri" pitchFamily="34" charset="-120"/>
              </a:rPr>
              <a:t>3: checkAvailability()</a:t>
            </a:r>
            <a:endParaRPr lang="en-US" sz="800" dirty="0"/>
          </a:p>
        </p:txBody>
      </p:sp>
      <p:sp>
        <p:nvSpPr>
          <p:cNvPr id="21" name="Shape 19"/>
          <p:cNvSpPr/>
          <p:nvPr/>
        </p:nvSpPr>
        <p:spPr>
          <a:xfrm>
            <a:off x="4389120" y="2843784"/>
            <a:ext cx="365760" cy="0"/>
          </a:xfrm>
          <a:prstGeom prst="line">
            <a:avLst/>
          </a:prstGeom>
          <a:noFill/>
          <a:ln w="12700">
            <a:solidFill>
              <a:srgbClr val="7F8C8D"/>
            </a:solidFill>
            <a:prstDash val="solid"/>
          </a:ln>
        </p:spPr>
        <p:txBody>
          <a:bodyPr/>
          <a:lstStyle/>
          <a:p>
            <a:endParaRPr lang="en-IN"/>
          </a:p>
        </p:txBody>
      </p:sp>
      <p:sp>
        <p:nvSpPr>
          <p:cNvPr id="22" name="Text 20"/>
          <p:cNvSpPr/>
          <p:nvPr/>
        </p:nvSpPr>
        <p:spPr>
          <a:xfrm>
            <a:off x="3017520" y="2724912"/>
            <a:ext cx="2011680" cy="256032"/>
          </a:xfrm>
          <a:prstGeom prst="rect">
            <a:avLst/>
          </a:prstGeom>
          <a:noFill/>
          <a:ln/>
        </p:spPr>
        <p:txBody>
          <a:bodyPr wrap="square" lIns="0" tIns="0" rIns="0" bIns="0" rtlCol="0" anchor="ctr"/>
          <a:lstStyle/>
          <a:p>
            <a:pPr marL="0" indent="0">
              <a:buNone/>
            </a:pPr>
            <a:r>
              <a:rPr lang="en-US" sz="800" dirty="0">
                <a:solidFill>
                  <a:srgbClr val="7F8C8D"/>
                </a:solidFill>
                <a:latin typeface="Calibri" pitchFamily="34" charset="0"/>
                <a:ea typeface="Calibri" pitchFamily="34" charset="-122"/>
                <a:cs typeface="Calibri" pitchFamily="34" charset="-120"/>
              </a:rPr>
              <a:t>4: confirmBooking()</a:t>
            </a:r>
            <a:endParaRPr lang="en-US" sz="800" dirty="0"/>
          </a:p>
        </p:txBody>
      </p:sp>
      <p:sp>
        <p:nvSpPr>
          <p:cNvPr id="23" name="Shape 21"/>
          <p:cNvSpPr/>
          <p:nvPr/>
        </p:nvSpPr>
        <p:spPr>
          <a:xfrm>
            <a:off x="2377440" y="2843784"/>
            <a:ext cx="365760" cy="0"/>
          </a:xfrm>
          <a:prstGeom prst="line">
            <a:avLst/>
          </a:prstGeom>
          <a:noFill/>
          <a:ln w="12700">
            <a:solidFill>
              <a:srgbClr val="7F8C8D"/>
            </a:solidFill>
            <a:prstDash val="solid"/>
          </a:ln>
        </p:spPr>
        <p:txBody>
          <a:bodyPr/>
          <a:lstStyle/>
          <a:p>
            <a:endParaRPr lang="en-IN"/>
          </a:p>
        </p:txBody>
      </p:sp>
      <p:sp>
        <p:nvSpPr>
          <p:cNvPr id="24" name="Text 22"/>
          <p:cNvSpPr/>
          <p:nvPr/>
        </p:nvSpPr>
        <p:spPr>
          <a:xfrm>
            <a:off x="914400" y="2724912"/>
            <a:ext cx="2011680" cy="256032"/>
          </a:xfrm>
          <a:prstGeom prst="rect">
            <a:avLst/>
          </a:prstGeom>
          <a:noFill/>
          <a:ln/>
        </p:spPr>
        <p:txBody>
          <a:bodyPr wrap="square" lIns="0" tIns="0" rIns="0" bIns="0" rtlCol="0" anchor="ctr"/>
          <a:lstStyle/>
          <a:p>
            <a:pPr marL="0" indent="0">
              <a:buNone/>
            </a:pPr>
            <a:r>
              <a:rPr lang="en-US" sz="800" dirty="0">
                <a:solidFill>
                  <a:srgbClr val="7F8C8D"/>
                </a:solidFill>
                <a:latin typeface="Calibri" pitchFamily="34" charset="0"/>
                <a:ea typeface="Calibri" pitchFamily="34" charset="-122"/>
                <a:cs typeface="Calibri" pitchFamily="34" charset="-120"/>
              </a:rPr>
              <a:t>5: createBooking()</a:t>
            </a:r>
            <a:endParaRPr lang="en-US" sz="800" dirty="0"/>
          </a:p>
        </p:txBody>
      </p:sp>
      <p:sp>
        <p:nvSpPr>
          <p:cNvPr id="25" name="Text 23"/>
          <p:cNvSpPr/>
          <p:nvPr/>
        </p:nvSpPr>
        <p:spPr>
          <a:xfrm>
            <a:off x="365760" y="3383280"/>
            <a:ext cx="4572000" cy="347472"/>
          </a:xfrm>
          <a:prstGeom prst="rect">
            <a:avLst/>
          </a:prstGeom>
          <a:noFill/>
          <a:ln/>
        </p:spPr>
        <p:txBody>
          <a:bodyPr wrap="square" lIns="0" tIns="0" rIns="0" bIns="0" rtlCol="0" anchor="ctr"/>
          <a:lstStyle/>
          <a:p>
            <a:pPr marL="0" indent="0">
              <a:buNone/>
            </a:pPr>
            <a:r>
              <a:rPr lang="en-US" sz="1500" b="1" dirty="0">
                <a:solidFill>
                  <a:srgbClr val="1B4F72"/>
                </a:solidFill>
                <a:latin typeface="Calibri" pitchFamily="34" charset="0"/>
                <a:ea typeface="Calibri" pitchFamily="34" charset="-122"/>
                <a:cs typeface="Calibri" pitchFamily="34" charset="-120"/>
              </a:rPr>
              <a:t>Maintenance Ticket Collaboration</a:t>
            </a:r>
            <a:endParaRPr lang="en-US" sz="1500" dirty="0"/>
          </a:p>
        </p:txBody>
      </p:sp>
      <p:sp>
        <p:nvSpPr>
          <p:cNvPr id="26" name="Shape 24"/>
          <p:cNvSpPr/>
          <p:nvPr/>
        </p:nvSpPr>
        <p:spPr>
          <a:xfrm>
            <a:off x="365760" y="3840480"/>
            <a:ext cx="1645920" cy="384048"/>
          </a:xfrm>
          <a:prstGeom prst="rect">
            <a:avLst/>
          </a:prstGeom>
          <a:solidFill>
            <a:srgbClr val="FFFFFF"/>
          </a:solidFill>
          <a:ln w="12700">
            <a:solidFill>
              <a:srgbClr val="1ABC9C"/>
            </a:solidFill>
            <a:prstDash val="solid"/>
          </a:ln>
          <a:effectLst>
            <a:outerShdw blurRad="101600" dist="38100" dir="8100000" algn="bl" rotWithShape="0">
              <a:srgbClr val="000000">
                <a:alpha val="20000"/>
              </a:srgbClr>
            </a:outerShdw>
          </a:effectLst>
        </p:spPr>
        <p:txBody>
          <a:bodyPr/>
          <a:lstStyle/>
          <a:p>
            <a:endParaRPr lang="en-IN"/>
          </a:p>
        </p:txBody>
      </p:sp>
      <p:sp>
        <p:nvSpPr>
          <p:cNvPr id="27" name="Text 25"/>
          <p:cNvSpPr/>
          <p:nvPr/>
        </p:nvSpPr>
        <p:spPr>
          <a:xfrm>
            <a:off x="365760" y="3840480"/>
            <a:ext cx="1645920" cy="384048"/>
          </a:xfrm>
          <a:prstGeom prst="rect">
            <a:avLst/>
          </a:prstGeom>
          <a:noFill/>
          <a:ln/>
        </p:spPr>
        <p:txBody>
          <a:bodyPr wrap="square" lIns="0" tIns="0" rIns="0" bIns="0" rtlCol="0" anchor="ctr"/>
          <a:lstStyle/>
          <a:p>
            <a:pPr marL="0" indent="0" algn="ctr">
              <a:buNone/>
            </a:pPr>
            <a:r>
              <a:rPr lang="en-US" sz="1000" b="1" dirty="0">
                <a:solidFill>
                  <a:srgbClr val="1B4F72"/>
                </a:solidFill>
                <a:latin typeface="Calibri" pitchFamily="34" charset="0"/>
                <a:ea typeface="Calibri" pitchFamily="34" charset="-122"/>
                <a:cs typeface="Calibri" pitchFamily="34" charset="-120"/>
              </a:rPr>
              <a:t>:User</a:t>
            </a:r>
            <a:endParaRPr lang="en-US" sz="1000" dirty="0"/>
          </a:p>
        </p:txBody>
      </p:sp>
      <p:sp>
        <p:nvSpPr>
          <p:cNvPr id="28" name="Shape 26"/>
          <p:cNvSpPr/>
          <p:nvPr/>
        </p:nvSpPr>
        <p:spPr>
          <a:xfrm>
            <a:off x="2377440" y="3840480"/>
            <a:ext cx="1645920" cy="384048"/>
          </a:xfrm>
          <a:prstGeom prst="rect">
            <a:avLst/>
          </a:prstGeom>
          <a:solidFill>
            <a:srgbClr val="FFFFFF"/>
          </a:solidFill>
          <a:ln w="12700">
            <a:solidFill>
              <a:srgbClr val="1ABC9C"/>
            </a:solidFill>
            <a:prstDash val="solid"/>
          </a:ln>
          <a:effectLst>
            <a:outerShdw blurRad="101600" dist="38100" dir="8100000" algn="bl" rotWithShape="0">
              <a:srgbClr val="000000">
                <a:alpha val="20000"/>
              </a:srgbClr>
            </a:outerShdw>
          </a:effectLst>
        </p:spPr>
        <p:txBody>
          <a:bodyPr/>
          <a:lstStyle/>
          <a:p>
            <a:endParaRPr lang="en-IN"/>
          </a:p>
        </p:txBody>
      </p:sp>
      <p:sp>
        <p:nvSpPr>
          <p:cNvPr id="29" name="Text 27"/>
          <p:cNvSpPr/>
          <p:nvPr/>
        </p:nvSpPr>
        <p:spPr>
          <a:xfrm>
            <a:off x="2377440" y="3840480"/>
            <a:ext cx="1645920" cy="384048"/>
          </a:xfrm>
          <a:prstGeom prst="rect">
            <a:avLst/>
          </a:prstGeom>
          <a:noFill/>
          <a:ln/>
        </p:spPr>
        <p:txBody>
          <a:bodyPr wrap="square" lIns="0" tIns="0" rIns="0" bIns="0" rtlCol="0" anchor="ctr"/>
          <a:lstStyle/>
          <a:p>
            <a:pPr marL="0" indent="0" algn="ctr">
              <a:buNone/>
            </a:pPr>
            <a:r>
              <a:rPr lang="en-US" sz="1000" b="1" dirty="0">
                <a:solidFill>
                  <a:srgbClr val="1B4F72"/>
                </a:solidFill>
                <a:latin typeface="Calibri" pitchFamily="34" charset="0"/>
                <a:ea typeface="Calibri" pitchFamily="34" charset="-122"/>
                <a:cs typeface="Calibri" pitchFamily="34" charset="-120"/>
              </a:rPr>
              <a:t>:TicketUI</a:t>
            </a:r>
            <a:endParaRPr lang="en-US" sz="1000" dirty="0"/>
          </a:p>
        </p:txBody>
      </p:sp>
      <p:sp>
        <p:nvSpPr>
          <p:cNvPr id="30" name="Shape 28"/>
          <p:cNvSpPr/>
          <p:nvPr/>
        </p:nvSpPr>
        <p:spPr>
          <a:xfrm>
            <a:off x="4572000" y="3840480"/>
            <a:ext cx="1645920" cy="384048"/>
          </a:xfrm>
          <a:prstGeom prst="rect">
            <a:avLst/>
          </a:prstGeom>
          <a:solidFill>
            <a:srgbClr val="FFFFFF"/>
          </a:solidFill>
          <a:ln w="12700">
            <a:solidFill>
              <a:srgbClr val="1ABC9C"/>
            </a:solidFill>
            <a:prstDash val="solid"/>
          </a:ln>
          <a:effectLst>
            <a:outerShdw blurRad="101600" dist="38100" dir="8100000" algn="bl" rotWithShape="0">
              <a:srgbClr val="000000">
                <a:alpha val="20000"/>
              </a:srgbClr>
            </a:outerShdw>
          </a:effectLst>
        </p:spPr>
        <p:txBody>
          <a:bodyPr/>
          <a:lstStyle/>
          <a:p>
            <a:endParaRPr lang="en-IN"/>
          </a:p>
        </p:txBody>
      </p:sp>
      <p:sp>
        <p:nvSpPr>
          <p:cNvPr id="31" name="Text 29"/>
          <p:cNvSpPr/>
          <p:nvPr/>
        </p:nvSpPr>
        <p:spPr>
          <a:xfrm>
            <a:off x="4572000" y="3840480"/>
            <a:ext cx="1645920" cy="384048"/>
          </a:xfrm>
          <a:prstGeom prst="rect">
            <a:avLst/>
          </a:prstGeom>
          <a:noFill/>
          <a:ln/>
        </p:spPr>
        <p:txBody>
          <a:bodyPr wrap="square" lIns="0" tIns="0" rIns="0" bIns="0" rtlCol="0" anchor="ctr"/>
          <a:lstStyle/>
          <a:p>
            <a:pPr marL="0" indent="0" algn="ctr">
              <a:buNone/>
            </a:pPr>
            <a:r>
              <a:rPr lang="en-US" sz="1000" b="1" dirty="0">
                <a:solidFill>
                  <a:srgbClr val="1B4F72"/>
                </a:solidFill>
                <a:latin typeface="Calibri" pitchFamily="34" charset="0"/>
                <a:ea typeface="Calibri" pitchFamily="34" charset="-122"/>
                <a:cs typeface="Calibri" pitchFamily="34" charset="-120"/>
              </a:rPr>
              <a:t>:TicketController</a:t>
            </a:r>
            <a:endParaRPr lang="en-US" sz="1000" dirty="0"/>
          </a:p>
        </p:txBody>
      </p:sp>
      <p:sp>
        <p:nvSpPr>
          <p:cNvPr id="32" name="Shape 30"/>
          <p:cNvSpPr/>
          <p:nvPr/>
        </p:nvSpPr>
        <p:spPr>
          <a:xfrm>
            <a:off x="6766560" y="3840480"/>
            <a:ext cx="1645920" cy="384048"/>
          </a:xfrm>
          <a:prstGeom prst="rect">
            <a:avLst/>
          </a:prstGeom>
          <a:solidFill>
            <a:srgbClr val="FFFFFF"/>
          </a:solidFill>
          <a:ln w="12700">
            <a:solidFill>
              <a:srgbClr val="1ABC9C"/>
            </a:solidFill>
            <a:prstDash val="solid"/>
          </a:ln>
          <a:effectLst>
            <a:outerShdw blurRad="101600" dist="38100" dir="8100000" algn="bl" rotWithShape="0">
              <a:srgbClr val="000000">
                <a:alpha val="20000"/>
              </a:srgbClr>
            </a:outerShdw>
          </a:effectLst>
        </p:spPr>
        <p:txBody>
          <a:bodyPr/>
          <a:lstStyle/>
          <a:p>
            <a:endParaRPr lang="en-IN"/>
          </a:p>
        </p:txBody>
      </p:sp>
      <p:sp>
        <p:nvSpPr>
          <p:cNvPr id="33" name="Text 31"/>
          <p:cNvSpPr/>
          <p:nvPr/>
        </p:nvSpPr>
        <p:spPr>
          <a:xfrm>
            <a:off x="6766560" y="3840480"/>
            <a:ext cx="1645920" cy="384048"/>
          </a:xfrm>
          <a:prstGeom prst="rect">
            <a:avLst/>
          </a:prstGeom>
          <a:noFill/>
          <a:ln/>
        </p:spPr>
        <p:txBody>
          <a:bodyPr wrap="square" lIns="0" tIns="0" rIns="0" bIns="0" rtlCol="0" anchor="ctr"/>
          <a:lstStyle/>
          <a:p>
            <a:pPr marL="0" indent="0" algn="ctr">
              <a:buNone/>
            </a:pPr>
            <a:r>
              <a:rPr lang="en-US" sz="1000" b="1" dirty="0">
                <a:solidFill>
                  <a:srgbClr val="1B4F72"/>
                </a:solidFill>
                <a:latin typeface="Calibri" pitchFamily="34" charset="0"/>
                <a:ea typeface="Calibri" pitchFamily="34" charset="-122"/>
                <a:cs typeface="Calibri" pitchFamily="34" charset="-120"/>
              </a:rPr>
              <a:t>:Ticket</a:t>
            </a:r>
            <a:endParaRPr lang="en-US" sz="1000" dirty="0"/>
          </a:p>
        </p:txBody>
      </p:sp>
      <p:sp>
        <p:nvSpPr>
          <p:cNvPr id="34" name="Shape 32"/>
          <p:cNvSpPr/>
          <p:nvPr/>
        </p:nvSpPr>
        <p:spPr>
          <a:xfrm>
            <a:off x="2011680" y="4032504"/>
            <a:ext cx="731520" cy="0"/>
          </a:xfrm>
          <a:prstGeom prst="line">
            <a:avLst/>
          </a:prstGeom>
          <a:noFill/>
          <a:ln w="12700">
            <a:solidFill>
              <a:srgbClr val="7F8C8D"/>
            </a:solidFill>
            <a:prstDash val="solid"/>
          </a:ln>
        </p:spPr>
        <p:txBody>
          <a:bodyPr/>
          <a:lstStyle/>
          <a:p>
            <a:endParaRPr lang="en-IN"/>
          </a:p>
        </p:txBody>
      </p:sp>
      <p:sp>
        <p:nvSpPr>
          <p:cNvPr id="35" name="Text 33"/>
          <p:cNvSpPr/>
          <p:nvPr/>
        </p:nvSpPr>
        <p:spPr>
          <a:xfrm>
            <a:off x="1828800" y="3749040"/>
            <a:ext cx="1371600" cy="228600"/>
          </a:xfrm>
          <a:prstGeom prst="rect">
            <a:avLst/>
          </a:prstGeom>
          <a:noFill/>
          <a:ln/>
        </p:spPr>
        <p:txBody>
          <a:bodyPr wrap="square" lIns="0" tIns="0" rIns="0" bIns="0" rtlCol="0" anchor="ctr"/>
          <a:lstStyle/>
          <a:p>
            <a:pPr marL="0" indent="0" algn="ctr">
              <a:buNone/>
            </a:pPr>
            <a:r>
              <a:rPr lang="en-US" sz="900" dirty="0">
                <a:solidFill>
                  <a:srgbClr val="7F8C8D"/>
                </a:solidFill>
                <a:latin typeface="Calibri" pitchFamily="34" charset="0"/>
                <a:ea typeface="Calibri" pitchFamily="34" charset="-122"/>
                <a:cs typeface="Calibri" pitchFamily="34" charset="-120"/>
              </a:rPr>
              <a:t>1: createTicket()</a:t>
            </a:r>
            <a:endParaRPr lang="en-US" sz="900" dirty="0"/>
          </a:p>
        </p:txBody>
      </p:sp>
      <p:sp>
        <p:nvSpPr>
          <p:cNvPr id="36" name="Shape 34"/>
          <p:cNvSpPr/>
          <p:nvPr/>
        </p:nvSpPr>
        <p:spPr>
          <a:xfrm>
            <a:off x="4114800" y="4032504"/>
            <a:ext cx="731520" cy="0"/>
          </a:xfrm>
          <a:prstGeom prst="line">
            <a:avLst/>
          </a:prstGeom>
          <a:noFill/>
          <a:ln w="12700">
            <a:solidFill>
              <a:srgbClr val="7F8C8D"/>
            </a:solidFill>
            <a:prstDash val="solid"/>
          </a:ln>
        </p:spPr>
        <p:txBody>
          <a:bodyPr/>
          <a:lstStyle/>
          <a:p>
            <a:endParaRPr lang="en-IN"/>
          </a:p>
        </p:txBody>
      </p:sp>
      <p:sp>
        <p:nvSpPr>
          <p:cNvPr id="37" name="Text 35"/>
          <p:cNvSpPr/>
          <p:nvPr/>
        </p:nvSpPr>
        <p:spPr>
          <a:xfrm>
            <a:off x="3931920" y="3749040"/>
            <a:ext cx="1371600" cy="228600"/>
          </a:xfrm>
          <a:prstGeom prst="rect">
            <a:avLst/>
          </a:prstGeom>
          <a:noFill/>
          <a:ln/>
        </p:spPr>
        <p:txBody>
          <a:bodyPr wrap="square" lIns="0" tIns="0" rIns="0" bIns="0" rtlCol="0" anchor="ctr"/>
          <a:lstStyle/>
          <a:p>
            <a:pPr marL="0" indent="0" algn="ctr">
              <a:buNone/>
            </a:pPr>
            <a:r>
              <a:rPr lang="en-US" sz="900" dirty="0">
                <a:solidFill>
                  <a:srgbClr val="7F8C8D"/>
                </a:solidFill>
                <a:latin typeface="Calibri" pitchFamily="34" charset="0"/>
                <a:ea typeface="Calibri" pitchFamily="34" charset="-122"/>
                <a:cs typeface="Calibri" pitchFamily="34" charset="-120"/>
              </a:rPr>
              <a:t>2: validate()</a:t>
            </a:r>
            <a:endParaRPr lang="en-US" sz="900" dirty="0"/>
          </a:p>
        </p:txBody>
      </p:sp>
      <p:sp>
        <p:nvSpPr>
          <p:cNvPr id="38" name="Shape 36"/>
          <p:cNvSpPr/>
          <p:nvPr/>
        </p:nvSpPr>
        <p:spPr>
          <a:xfrm>
            <a:off x="6309360" y="4032504"/>
            <a:ext cx="731520" cy="0"/>
          </a:xfrm>
          <a:prstGeom prst="line">
            <a:avLst/>
          </a:prstGeom>
          <a:noFill/>
          <a:ln w="12700">
            <a:solidFill>
              <a:srgbClr val="7F8C8D"/>
            </a:solidFill>
            <a:prstDash val="solid"/>
          </a:ln>
        </p:spPr>
        <p:txBody>
          <a:bodyPr/>
          <a:lstStyle/>
          <a:p>
            <a:endParaRPr lang="en-IN"/>
          </a:p>
        </p:txBody>
      </p:sp>
      <p:sp>
        <p:nvSpPr>
          <p:cNvPr id="39" name="Text 37"/>
          <p:cNvSpPr/>
          <p:nvPr/>
        </p:nvSpPr>
        <p:spPr>
          <a:xfrm>
            <a:off x="6126480" y="3749040"/>
            <a:ext cx="1371600" cy="228600"/>
          </a:xfrm>
          <a:prstGeom prst="rect">
            <a:avLst/>
          </a:prstGeom>
          <a:noFill/>
          <a:ln/>
        </p:spPr>
        <p:txBody>
          <a:bodyPr wrap="square" lIns="0" tIns="0" rIns="0" bIns="0" rtlCol="0" anchor="ctr"/>
          <a:lstStyle/>
          <a:p>
            <a:pPr marL="0" indent="0" algn="ctr">
              <a:buNone/>
            </a:pPr>
            <a:r>
              <a:rPr lang="en-US" sz="900" dirty="0">
                <a:solidFill>
                  <a:srgbClr val="7F8C8D"/>
                </a:solidFill>
                <a:latin typeface="Calibri" pitchFamily="34" charset="0"/>
                <a:ea typeface="Calibri" pitchFamily="34" charset="-122"/>
                <a:cs typeface="Calibri" pitchFamily="34" charset="-120"/>
              </a:rPr>
              <a:t>3: save()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BC9C"/>
          </a:solidFill>
          <a:ln w="12700">
            <a:solidFill>
              <a:srgbClr val="1ABC9C"/>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1ABC9C"/>
          </a:solidFill>
          <a:ln w="12700">
            <a:solidFill>
              <a:srgbClr val="1ABC9C"/>
            </a:solidFill>
            <a:prstDash val="solid"/>
          </a:ln>
        </p:spPr>
        <p:txBody>
          <a:bodyPr/>
          <a:lstStyle/>
          <a:p>
            <a:endParaRPr lang="en-IN"/>
          </a:p>
        </p:txBody>
      </p:sp>
      <p:sp>
        <p:nvSpPr>
          <p:cNvPr id="4" name="Text 2"/>
          <p:cNvSpPr/>
          <p:nvPr/>
        </p:nvSpPr>
        <p:spPr>
          <a:xfrm>
            <a:off x="457200" y="731520"/>
            <a:ext cx="1828800" cy="1828800"/>
          </a:xfrm>
          <a:prstGeom prst="rect">
            <a:avLst/>
          </a:prstGeom>
          <a:noFill/>
          <a:ln/>
        </p:spPr>
        <p:txBody>
          <a:bodyPr wrap="square" lIns="0" tIns="0" rIns="0" bIns="0" rtlCol="0" anchor="ctr"/>
          <a:lstStyle/>
          <a:p>
            <a:pPr marL="0" indent="0" algn="l">
              <a:buNone/>
            </a:pPr>
            <a:r>
              <a:rPr lang="en-US" sz="12000" b="1" dirty="0">
                <a:solidFill>
                  <a:srgbClr val="1ABC9C">
                    <a:alpha val="70000"/>
                  </a:srgbClr>
                </a:solidFill>
                <a:latin typeface="Calibri" pitchFamily="34" charset="0"/>
                <a:ea typeface="Calibri" pitchFamily="34" charset="-122"/>
                <a:cs typeface="Calibri" pitchFamily="34" charset="-120"/>
              </a:rPr>
              <a:t>04</a:t>
            </a:r>
            <a:endParaRPr lang="en-US" sz="12000" dirty="0"/>
          </a:p>
        </p:txBody>
      </p:sp>
      <p:sp>
        <p:nvSpPr>
          <p:cNvPr id="5" name="Text 3"/>
          <p:cNvSpPr/>
          <p:nvPr/>
        </p:nvSpPr>
        <p:spPr>
          <a:xfrm>
            <a:off x="457200" y="2011680"/>
            <a:ext cx="8229600" cy="822960"/>
          </a:xfrm>
          <a:prstGeom prst="rect">
            <a:avLst/>
          </a:prstGeom>
          <a:noFill/>
          <a:ln/>
        </p:spPr>
        <p:txBody>
          <a:bodyPr wrap="square" lIns="0" tIns="0" rIns="0" bIns="0" rtlCol="0" anchor="ctr"/>
          <a:lstStyle/>
          <a:p>
            <a:pPr marL="0" indent="0" algn="l">
              <a:buNone/>
            </a:pPr>
            <a:r>
              <a:rPr lang="en-US" sz="4400" b="1" dirty="0">
                <a:solidFill>
                  <a:srgbClr val="FFFFFF"/>
                </a:solidFill>
                <a:latin typeface="Calibri" pitchFamily="34" charset="0"/>
                <a:ea typeface="Calibri" pitchFamily="34" charset="-122"/>
                <a:cs typeface="Calibri" pitchFamily="34" charset="-120"/>
              </a:rPr>
              <a:t>Design Model</a:t>
            </a:r>
            <a:endParaRPr lang="en-US" sz="4400" dirty="0"/>
          </a:p>
        </p:txBody>
      </p:sp>
      <p:sp>
        <p:nvSpPr>
          <p:cNvPr id="6" name="Text 4"/>
          <p:cNvSpPr/>
          <p:nvPr/>
        </p:nvSpPr>
        <p:spPr>
          <a:xfrm>
            <a:off x="457200" y="2834640"/>
            <a:ext cx="8229600" cy="457200"/>
          </a:xfrm>
          <a:prstGeom prst="rect">
            <a:avLst/>
          </a:prstGeom>
          <a:noFill/>
          <a:ln/>
        </p:spPr>
        <p:txBody>
          <a:bodyPr wrap="square" lIns="0" tIns="0" rIns="0" bIns="0" rtlCol="0" anchor="ctr"/>
          <a:lstStyle/>
          <a:p>
            <a:pPr marL="0" indent="0" algn="l">
              <a:buNone/>
            </a:pPr>
            <a:r>
              <a:rPr lang="en-US" sz="1600" i="1" dirty="0">
                <a:solidFill>
                  <a:srgbClr val="AED6F1"/>
                </a:solidFill>
                <a:latin typeface="Calibri" pitchFamily="34" charset="0"/>
                <a:ea typeface="Calibri" pitchFamily="34" charset="-122"/>
                <a:cs typeface="Calibri" pitchFamily="34" charset="-120"/>
              </a:rPr>
              <a:t>Class · Component · Sequence · State Diagrams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F72"/>
          </a:solidFill>
          <a:ln w="12700">
            <a:solidFill>
              <a:srgbClr val="1B4F72"/>
            </a:solidFill>
            <a:prstDash val="solid"/>
          </a:ln>
        </p:spPr>
        <p:txBody>
          <a:bodyPr/>
          <a:lstStyle/>
          <a:p>
            <a:endParaRPr lang="en-IN"/>
          </a:p>
        </p:txBody>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Design Model — Class Diagram</a:t>
            </a:r>
            <a:endParaRPr lang="en-US" sz="2600" dirty="0"/>
          </a:p>
        </p:txBody>
      </p:sp>
      <p:sp>
        <p:nvSpPr>
          <p:cNvPr id="4" name="Shape 2"/>
          <p:cNvSpPr/>
          <p:nvPr/>
        </p:nvSpPr>
        <p:spPr>
          <a:xfrm>
            <a:off x="320040" y="1005840"/>
            <a:ext cx="2606040" cy="347472"/>
          </a:xfrm>
          <a:prstGeom prst="rect">
            <a:avLst/>
          </a:prstGeom>
          <a:solidFill>
            <a:srgbClr val="1B4F72"/>
          </a:solidFill>
          <a:ln w="12700">
            <a:solidFill>
              <a:srgbClr val="1B4F72"/>
            </a:solidFill>
            <a:prstDash val="solid"/>
          </a:ln>
        </p:spPr>
        <p:txBody>
          <a:bodyPr/>
          <a:lstStyle/>
          <a:p>
            <a:endParaRPr lang="en-IN"/>
          </a:p>
        </p:txBody>
      </p:sp>
      <p:sp>
        <p:nvSpPr>
          <p:cNvPr id="5" name="Text 3"/>
          <p:cNvSpPr/>
          <p:nvPr/>
        </p:nvSpPr>
        <p:spPr>
          <a:xfrm>
            <a:off x="320040" y="1005840"/>
            <a:ext cx="26060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User</a:t>
            </a:r>
            <a:endParaRPr lang="en-US" sz="1200" dirty="0"/>
          </a:p>
        </p:txBody>
      </p:sp>
      <p:sp>
        <p:nvSpPr>
          <p:cNvPr id="6" name="Shape 4"/>
          <p:cNvSpPr/>
          <p:nvPr/>
        </p:nvSpPr>
        <p:spPr>
          <a:xfrm>
            <a:off x="320040" y="1353312"/>
            <a:ext cx="2606040" cy="1024128"/>
          </a:xfrm>
          <a:prstGeom prst="rect">
            <a:avLst/>
          </a:prstGeom>
          <a:solidFill>
            <a:srgbClr val="FFFFFF"/>
          </a:solidFill>
          <a:ln w="12700">
            <a:solidFill>
              <a:srgbClr val="2E86C1"/>
            </a:solidFill>
            <a:prstDash val="solid"/>
          </a:ln>
        </p:spPr>
        <p:txBody>
          <a:bodyPr/>
          <a:lstStyle/>
          <a:p>
            <a:endParaRPr lang="en-IN"/>
          </a:p>
        </p:txBody>
      </p:sp>
      <p:sp>
        <p:nvSpPr>
          <p:cNvPr id="7" name="Text 5"/>
          <p:cNvSpPr/>
          <p:nvPr/>
        </p:nvSpPr>
        <p:spPr>
          <a:xfrm>
            <a:off x="411480" y="1353312"/>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userId: String</a:t>
            </a:r>
            <a:endParaRPr lang="en-US" sz="900" dirty="0"/>
          </a:p>
        </p:txBody>
      </p:sp>
      <p:sp>
        <p:nvSpPr>
          <p:cNvPr id="8" name="Text 6"/>
          <p:cNvSpPr/>
          <p:nvPr/>
        </p:nvSpPr>
        <p:spPr>
          <a:xfrm>
            <a:off x="411480" y="1609344"/>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name: String</a:t>
            </a:r>
            <a:endParaRPr lang="en-US" sz="900" dirty="0"/>
          </a:p>
        </p:txBody>
      </p:sp>
      <p:sp>
        <p:nvSpPr>
          <p:cNvPr id="9" name="Text 7"/>
          <p:cNvSpPr/>
          <p:nvPr/>
        </p:nvSpPr>
        <p:spPr>
          <a:xfrm>
            <a:off x="411480" y="1865376"/>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email: String</a:t>
            </a:r>
            <a:endParaRPr lang="en-US" sz="900" dirty="0"/>
          </a:p>
        </p:txBody>
      </p:sp>
      <p:sp>
        <p:nvSpPr>
          <p:cNvPr id="10" name="Text 8"/>
          <p:cNvSpPr/>
          <p:nvPr/>
        </p:nvSpPr>
        <p:spPr>
          <a:xfrm>
            <a:off x="411480" y="2121408"/>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role: Role</a:t>
            </a:r>
            <a:endParaRPr lang="en-US" sz="900" dirty="0"/>
          </a:p>
        </p:txBody>
      </p:sp>
      <p:sp>
        <p:nvSpPr>
          <p:cNvPr id="11" name="Shape 9"/>
          <p:cNvSpPr/>
          <p:nvPr/>
        </p:nvSpPr>
        <p:spPr>
          <a:xfrm>
            <a:off x="320040" y="2377440"/>
            <a:ext cx="2606040" cy="768096"/>
          </a:xfrm>
          <a:prstGeom prst="rect">
            <a:avLst/>
          </a:prstGeom>
          <a:solidFill>
            <a:srgbClr val="ECF0F1"/>
          </a:solidFill>
          <a:ln w="12700">
            <a:solidFill>
              <a:srgbClr val="2E86C1"/>
            </a:solidFill>
            <a:prstDash val="solid"/>
          </a:ln>
        </p:spPr>
        <p:txBody>
          <a:bodyPr/>
          <a:lstStyle/>
          <a:p>
            <a:endParaRPr lang="en-IN"/>
          </a:p>
        </p:txBody>
      </p:sp>
      <p:sp>
        <p:nvSpPr>
          <p:cNvPr id="12" name="Text 10"/>
          <p:cNvSpPr/>
          <p:nvPr/>
        </p:nvSpPr>
        <p:spPr>
          <a:xfrm>
            <a:off x="411480" y="2377440"/>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login()</a:t>
            </a:r>
            <a:endParaRPr lang="en-US" sz="900" dirty="0"/>
          </a:p>
        </p:txBody>
      </p:sp>
      <p:sp>
        <p:nvSpPr>
          <p:cNvPr id="13" name="Text 11"/>
          <p:cNvSpPr/>
          <p:nvPr/>
        </p:nvSpPr>
        <p:spPr>
          <a:xfrm>
            <a:off x="411480" y="2633472"/>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logout()</a:t>
            </a:r>
            <a:endParaRPr lang="en-US" sz="900" dirty="0"/>
          </a:p>
        </p:txBody>
      </p:sp>
      <p:sp>
        <p:nvSpPr>
          <p:cNvPr id="14" name="Text 12"/>
          <p:cNvSpPr/>
          <p:nvPr/>
        </p:nvSpPr>
        <p:spPr>
          <a:xfrm>
            <a:off x="411480" y="2889504"/>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getProfile()</a:t>
            </a:r>
            <a:endParaRPr lang="en-US" sz="900" dirty="0"/>
          </a:p>
        </p:txBody>
      </p:sp>
      <p:sp>
        <p:nvSpPr>
          <p:cNvPr id="15" name="Shape 13"/>
          <p:cNvSpPr/>
          <p:nvPr/>
        </p:nvSpPr>
        <p:spPr>
          <a:xfrm>
            <a:off x="3291840" y="1005840"/>
            <a:ext cx="2606040" cy="347472"/>
          </a:xfrm>
          <a:prstGeom prst="rect">
            <a:avLst/>
          </a:prstGeom>
          <a:solidFill>
            <a:srgbClr val="1B4F72"/>
          </a:solidFill>
          <a:ln w="12700">
            <a:solidFill>
              <a:srgbClr val="1B4F72"/>
            </a:solidFill>
            <a:prstDash val="solid"/>
          </a:ln>
        </p:spPr>
        <p:txBody>
          <a:bodyPr/>
          <a:lstStyle/>
          <a:p>
            <a:endParaRPr lang="en-IN"/>
          </a:p>
        </p:txBody>
      </p:sp>
      <p:sp>
        <p:nvSpPr>
          <p:cNvPr id="16" name="Text 14"/>
          <p:cNvSpPr/>
          <p:nvPr/>
        </p:nvSpPr>
        <p:spPr>
          <a:xfrm>
            <a:off x="3291840" y="1005840"/>
            <a:ext cx="26060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Room</a:t>
            </a:r>
            <a:endParaRPr lang="en-US" sz="1200" dirty="0"/>
          </a:p>
        </p:txBody>
      </p:sp>
      <p:sp>
        <p:nvSpPr>
          <p:cNvPr id="17" name="Shape 15"/>
          <p:cNvSpPr/>
          <p:nvPr/>
        </p:nvSpPr>
        <p:spPr>
          <a:xfrm>
            <a:off x="3291840" y="1353312"/>
            <a:ext cx="2606040" cy="1024128"/>
          </a:xfrm>
          <a:prstGeom prst="rect">
            <a:avLst/>
          </a:prstGeom>
          <a:solidFill>
            <a:srgbClr val="FFFFFF"/>
          </a:solidFill>
          <a:ln w="12700">
            <a:solidFill>
              <a:srgbClr val="2E86C1"/>
            </a:solidFill>
            <a:prstDash val="solid"/>
          </a:ln>
        </p:spPr>
        <p:txBody>
          <a:bodyPr/>
          <a:lstStyle/>
          <a:p>
            <a:endParaRPr lang="en-IN"/>
          </a:p>
        </p:txBody>
      </p:sp>
      <p:sp>
        <p:nvSpPr>
          <p:cNvPr id="18" name="Text 16"/>
          <p:cNvSpPr/>
          <p:nvPr/>
        </p:nvSpPr>
        <p:spPr>
          <a:xfrm>
            <a:off x="3383280" y="1353312"/>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roomId: String</a:t>
            </a:r>
            <a:endParaRPr lang="en-US" sz="900" dirty="0"/>
          </a:p>
        </p:txBody>
      </p:sp>
      <p:sp>
        <p:nvSpPr>
          <p:cNvPr id="19" name="Text 17"/>
          <p:cNvSpPr/>
          <p:nvPr/>
        </p:nvSpPr>
        <p:spPr>
          <a:xfrm>
            <a:off x="3383280" y="1609344"/>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building: String</a:t>
            </a:r>
            <a:endParaRPr lang="en-US" sz="900" dirty="0"/>
          </a:p>
        </p:txBody>
      </p:sp>
      <p:sp>
        <p:nvSpPr>
          <p:cNvPr id="20" name="Text 18"/>
          <p:cNvSpPr/>
          <p:nvPr/>
        </p:nvSpPr>
        <p:spPr>
          <a:xfrm>
            <a:off x="3383280" y="1865376"/>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capacity: int</a:t>
            </a:r>
            <a:endParaRPr lang="en-US" sz="900" dirty="0"/>
          </a:p>
        </p:txBody>
      </p:sp>
      <p:sp>
        <p:nvSpPr>
          <p:cNvPr id="21" name="Text 19"/>
          <p:cNvSpPr/>
          <p:nvPr/>
        </p:nvSpPr>
        <p:spPr>
          <a:xfrm>
            <a:off x="3383280" y="2121408"/>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status: Status</a:t>
            </a:r>
            <a:endParaRPr lang="en-US" sz="900" dirty="0"/>
          </a:p>
        </p:txBody>
      </p:sp>
      <p:sp>
        <p:nvSpPr>
          <p:cNvPr id="22" name="Shape 20"/>
          <p:cNvSpPr/>
          <p:nvPr/>
        </p:nvSpPr>
        <p:spPr>
          <a:xfrm>
            <a:off x="3291840" y="2377440"/>
            <a:ext cx="2606040" cy="512064"/>
          </a:xfrm>
          <a:prstGeom prst="rect">
            <a:avLst/>
          </a:prstGeom>
          <a:solidFill>
            <a:srgbClr val="ECF0F1"/>
          </a:solidFill>
          <a:ln w="12700">
            <a:solidFill>
              <a:srgbClr val="2E86C1"/>
            </a:solidFill>
            <a:prstDash val="solid"/>
          </a:ln>
        </p:spPr>
        <p:txBody>
          <a:bodyPr/>
          <a:lstStyle/>
          <a:p>
            <a:endParaRPr lang="en-IN"/>
          </a:p>
        </p:txBody>
      </p:sp>
      <p:sp>
        <p:nvSpPr>
          <p:cNvPr id="23" name="Text 21"/>
          <p:cNvSpPr/>
          <p:nvPr/>
        </p:nvSpPr>
        <p:spPr>
          <a:xfrm>
            <a:off x="3383280" y="2377440"/>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checkAvailability()</a:t>
            </a:r>
            <a:endParaRPr lang="en-US" sz="900" dirty="0"/>
          </a:p>
        </p:txBody>
      </p:sp>
      <p:sp>
        <p:nvSpPr>
          <p:cNvPr id="24" name="Text 22"/>
          <p:cNvSpPr/>
          <p:nvPr/>
        </p:nvSpPr>
        <p:spPr>
          <a:xfrm>
            <a:off x="3383280" y="2633472"/>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updateStatus()</a:t>
            </a:r>
            <a:endParaRPr lang="en-US" sz="900" dirty="0"/>
          </a:p>
        </p:txBody>
      </p:sp>
      <p:sp>
        <p:nvSpPr>
          <p:cNvPr id="25" name="Shape 23"/>
          <p:cNvSpPr/>
          <p:nvPr/>
        </p:nvSpPr>
        <p:spPr>
          <a:xfrm>
            <a:off x="6263640" y="1005840"/>
            <a:ext cx="2606040" cy="347472"/>
          </a:xfrm>
          <a:prstGeom prst="rect">
            <a:avLst/>
          </a:prstGeom>
          <a:solidFill>
            <a:srgbClr val="1B4F72"/>
          </a:solidFill>
          <a:ln w="12700">
            <a:solidFill>
              <a:srgbClr val="1B4F72"/>
            </a:solidFill>
            <a:prstDash val="solid"/>
          </a:ln>
        </p:spPr>
        <p:txBody>
          <a:bodyPr/>
          <a:lstStyle/>
          <a:p>
            <a:endParaRPr lang="en-IN"/>
          </a:p>
        </p:txBody>
      </p:sp>
      <p:sp>
        <p:nvSpPr>
          <p:cNvPr id="26" name="Text 24"/>
          <p:cNvSpPr/>
          <p:nvPr/>
        </p:nvSpPr>
        <p:spPr>
          <a:xfrm>
            <a:off x="6263640" y="1005840"/>
            <a:ext cx="26060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Booking</a:t>
            </a:r>
            <a:endParaRPr lang="en-US" sz="1200" dirty="0"/>
          </a:p>
        </p:txBody>
      </p:sp>
      <p:sp>
        <p:nvSpPr>
          <p:cNvPr id="27" name="Shape 25"/>
          <p:cNvSpPr/>
          <p:nvPr/>
        </p:nvSpPr>
        <p:spPr>
          <a:xfrm>
            <a:off x="6263640" y="1353312"/>
            <a:ext cx="2606040" cy="1024128"/>
          </a:xfrm>
          <a:prstGeom prst="rect">
            <a:avLst/>
          </a:prstGeom>
          <a:solidFill>
            <a:srgbClr val="FFFFFF"/>
          </a:solidFill>
          <a:ln w="12700">
            <a:solidFill>
              <a:srgbClr val="2E86C1"/>
            </a:solidFill>
            <a:prstDash val="solid"/>
          </a:ln>
        </p:spPr>
        <p:txBody>
          <a:bodyPr/>
          <a:lstStyle/>
          <a:p>
            <a:endParaRPr lang="en-IN"/>
          </a:p>
        </p:txBody>
      </p:sp>
      <p:sp>
        <p:nvSpPr>
          <p:cNvPr id="28" name="Text 26"/>
          <p:cNvSpPr/>
          <p:nvPr/>
        </p:nvSpPr>
        <p:spPr>
          <a:xfrm>
            <a:off x="6355080" y="1353312"/>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bookingId: String</a:t>
            </a:r>
            <a:endParaRPr lang="en-US" sz="900" dirty="0"/>
          </a:p>
        </p:txBody>
      </p:sp>
      <p:sp>
        <p:nvSpPr>
          <p:cNvPr id="29" name="Text 27"/>
          <p:cNvSpPr/>
          <p:nvPr/>
        </p:nvSpPr>
        <p:spPr>
          <a:xfrm>
            <a:off x="6355080" y="1609344"/>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startTime: DateTime</a:t>
            </a:r>
            <a:endParaRPr lang="en-US" sz="900" dirty="0"/>
          </a:p>
        </p:txBody>
      </p:sp>
      <p:sp>
        <p:nvSpPr>
          <p:cNvPr id="30" name="Text 28"/>
          <p:cNvSpPr/>
          <p:nvPr/>
        </p:nvSpPr>
        <p:spPr>
          <a:xfrm>
            <a:off x="6355080" y="1865376"/>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endTime: DateTime</a:t>
            </a:r>
            <a:endParaRPr lang="en-US" sz="900" dirty="0"/>
          </a:p>
        </p:txBody>
      </p:sp>
      <p:sp>
        <p:nvSpPr>
          <p:cNvPr id="31" name="Text 29"/>
          <p:cNvSpPr/>
          <p:nvPr/>
        </p:nvSpPr>
        <p:spPr>
          <a:xfrm>
            <a:off x="6355080" y="2121408"/>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status: BookingStatus</a:t>
            </a:r>
            <a:endParaRPr lang="en-US" sz="900" dirty="0"/>
          </a:p>
        </p:txBody>
      </p:sp>
      <p:sp>
        <p:nvSpPr>
          <p:cNvPr id="32" name="Shape 30"/>
          <p:cNvSpPr/>
          <p:nvPr/>
        </p:nvSpPr>
        <p:spPr>
          <a:xfrm>
            <a:off x="6263640" y="2377440"/>
            <a:ext cx="2606040" cy="768096"/>
          </a:xfrm>
          <a:prstGeom prst="rect">
            <a:avLst/>
          </a:prstGeom>
          <a:solidFill>
            <a:srgbClr val="ECF0F1"/>
          </a:solidFill>
          <a:ln w="12700">
            <a:solidFill>
              <a:srgbClr val="2E86C1"/>
            </a:solidFill>
            <a:prstDash val="solid"/>
          </a:ln>
        </p:spPr>
        <p:txBody>
          <a:bodyPr/>
          <a:lstStyle/>
          <a:p>
            <a:endParaRPr lang="en-IN"/>
          </a:p>
        </p:txBody>
      </p:sp>
      <p:sp>
        <p:nvSpPr>
          <p:cNvPr id="33" name="Text 31"/>
          <p:cNvSpPr/>
          <p:nvPr/>
        </p:nvSpPr>
        <p:spPr>
          <a:xfrm>
            <a:off x="6355080" y="2377440"/>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confirm()</a:t>
            </a:r>
            <a:endParaRPr lang="en-US" sz="900" dirty="0"/>
          </a:p>
        </p:txBody>
      </p:sp>
      <p:sp>
        <p:nvSpPr>
          <p:cNvPr id="34" name="Text 32"/>
          <p:cNvSpPr/>
          <p:nvPr/>
        </p:nvSpPr>
        <p:spPr>
          <a:xfrm>
            <a:off x="6355080" y="2633472"/>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cancel()</a:t>
            </a:r>
            <a:endParaRPr lang="en-US" sz="900" dirty="0"/>
          </a:p>
        </p:txBody>
      </p:sp>
      <p:sp>
        <p:nvSpPr>
          <p:cNvPr id="35" name="Text 33"/>
          <p:cNvSpPr/>
          <p:nvPr/>
        </p:nvSpPr>
        <p:spPr>
          <a:xfrm>
            <a:off x="6355080" y="2889504"/>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checkIn()</a:t>
            </a:r>
            <a:endParaRPr lang="en-US" sz="900" dirty="0"/>
          </a:p>
        </p:txBody>
      </p:sp>
      <p:sp>
        <p:nvSpPr>
          <p:cNvPr id="36" name="Shape 34"/>
          <p:cNvSpPr/>
          <p:nvPr/>
        </p:nvSpPr>
        <p:spPr>
          <a:xfrm>
            <a:off x="320040" y="3337560"/>
            <a:ext cx="2606040" cy="347472"/>
          </a:xfrm>
          <a:prstGeom prst="rect">
            <a:avLst/>
          </a:prstGeom>
          <a:solidFill>
            <a:srgbClr val="1B4F72"/>
          </a:solidFill>
          <a:ln w="12700">
            <a:solidFill>
              <a:srgbClr val="1B4F72"/>
            </a:solidFill>
            <a:prstDash val="solid"/>
          </a:ln>
        </p:spPr>
        <p:txBody>
          <a:bodyPr/>
          <a:lstStyle/>
          <a:p>
            <a:endParaRPr lang="en-IN"/>
          </a:p>
        </p:txBody>
      </p:sp>
      <p:sp>
        <p:nvSpPr>
          <p:cNvPr id="37" name="Text 35"/>
          <p:cNvSpPr/>
          <p:nvPr/>
        </p:nvSpPr>
        <p:spPr>
          <a:xfrm>
            <a:off x="320040" y="3337560"/>
            <a:ext cx="26060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MaintenanceTicket</a:t>
            </a:r>
            <a:endParaRPr lang="en-US" sz="1200" dirty="0"/>
          </a:p>
        </p:txBody>
      </p:sp>
      <p:sp>
        <p:nvSpPr>
          <p:cNvPr id="38" name="Shape 36"/>
          <p:cNvSpPr/>
          <p:nvPr/>
        </p:nvSpPr>
        <p:spPr>
          <a:xfrm>
            <a:off x="320040" y="3685032"/>
            <a:ext cx="2606040" cy="1024128"/>
          </a:xfrm>
          <a:prstGeom prst="rect">
            <a:avLst/>
          </a:prstGeom>
          <a:solidFill>
            <a:srgbClr val="FFFFFF"/>
          </a:solidFill>
          <a:ln w="12700">
            <a:solidFill>
              <a:srgbClr val="2E86C1"/>
            </a:solidFill>
            <a:prstDash val="solid"/>
          </a:ln>
        </p:spPr>
        <p:txBody>
          <a:bodyPr/>
          <a:lstStyle/>
          <a:p>
            <a:endParaRPr lang="en-IN"/>
          </a:p>
        </p:txBody>
      </p:sp>
      <p:sp>
        <p:nvSpPr>
          <p:cNvPr id="39" name="Text 37"/>
          <p:cNvSpPr/>
          <p:nvPr/>
        </p:nvSpPr>
        <p:spPr>
          <a:xfrm>
            <a:off x="411480" y="3685032"/>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ticketId: String</a:t>
            </a:r>
            <a:endParaRPr lang="en-US" sz="900" dirty="0"/>
          </a:p>
        </p:txBody>
      </p:sp>
      <p:sp>
        <p:nvSpPr>
          <p:cNvPr id="40" name="Text 38"/>
          <p:cNvSpPr/>
          <p:nvPr/>
        </p:nvSpPr>
        <p:spPr>
          <a:xfrm>
            <a:off x="411480" y="3941064"/>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description: String</a:t>
            </a:r>
            <a:endParaRPr lang="en-US" sz="900" dirty="0"/>
          </a:p>
        </p:txBody>
      </p:sp>
      <p:sp>
        <p:nvSpPr>
          <p:cNvPr id="41" name="Text 39"/>
          <p:cNvSpPr/>
          <p:nvPr/>
        </p:nvSpPr>
        <p:spPr>
          <a:xfrm>
            <a:off x="411480" y="4197096"/>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priority: Priority</a:t>
            </a:r>
            <a:endParaRPr lang="en-US" sz="900" dirty="0"/>
          </a:p>
        </p:txBody>
      </p:sp>
      <p:sp>
        <p:nvSpPr>
          <p:cNvPr id="42" name="Text 40"/>
          <p:cNvSpPr/>
          <p:nvPr/>
        </p:nvSpPr>
        <p:spPr>
          <a:xfrm>
            <a:off x="411480" y="4453128"/>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createdAt: DateTime</a:t>
            </a:r>
            <a:endParaRPr lang="en-US" sz="900" dirty="0"/>
          </a:p>
        </p:txBody>
      </p:sp>
      <p:sp>
        <p:nvSpPr>
          <p:cNvPr id="43" name="Shape 41"/>
          <p:cNvSpPr/>
          <p:nvPr/>
        </p:nvSpPr>
        <p:spPr>
          <a:xfrm>
            <a:off x="320040" y="4709160"/>
            <a:ext cx="2606040" cy="768096"/>
          </a:xfrm>
          <a:prstGeom prst="rect">
            <a:avLst/>
          </a:prstGeom>
          <a:solidFill>
            <a:srgbClr val="ECF0F1"/>
          </a:solidFill>
          <a:ln w="12700">
            <a:solidFill>
              <a:srgbClr val="2E86C1"/>
            </a:solidFill>
            <a:prstDash val="solid"/>
          </a:ln>
        </p:spPr>
        <p:txBody>
          <a:bodyPr/>
          <a:lstStyle/>
          <a:p>
            <a:endParaRPr lang="en-IN"/>
          </a:p>
        </p:txBody>
      </p:sp>
      <p:sp>
        <p:nvSpPr>
          <p:cNvPr id="44" name="Text 42"/>
          <p:cNvSpPr/>
          <p:nvPr/>
        </p:nvSpPr>
        <p:spPr>
          <a:xfrm>
            <a:off x="411480" y="4709160"/>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submit()</a:t>
            </a:r>
            <a:endParaRPr lang="en-US" sz="900" dirty="0"/>
          </a:p>
        </p:txBody>
      </p:sp>
      <p:sp>
        <p:nvSpPr>
          <p:cNvPr id="45" name="Text 43"/>
          <p:cNvSpPr/>
          <p:nvPr/>
        </p:nvSpPr>
        <p:spPr>
          <a:xfrm>
            <a:off x="411480" y="4965192"/>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updateStatus()</a:t>
            </a:r>
            <a:endParaRPr lang="en-US" sz="900" dirty="0"/>
          </a:p>
        </p:txBody>
      </p:sp>
      <p:sp>
        <p:nvSpPr>
          <p:cNvPr id="46" name="Text 44"/>
          <p:cNvSpPr/>
          <p:nvPr/>
        </p:nvSpPr>
        <p:spPr>
          <a:xfrm>
            <a:off x="411480" y="5221224"/>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close()</a:t>
            </a:r>
            <a:endParaRPr lang="en-US" sz="900" dirty="0"/>
          </a:p>
        </p:txBody>
      </p:sp>
      <p:sp>
        <p:nvSpPr>
          <p:cNvPr id="47" name="Shape 45"/>
          <p:cNvSpPr/>
          <p:nvPr/>
        </p:nvSpPr>
        <p:spPr>
          <a:xfrm>
            <a:off x="3291840" y="3337560"/>
            <a:ext cx="2606040" cy="347472"/>
          </a:xfrm>
          <a:prstGeom prst="rect">
            <a:avLst/>
          </a:prstGeom>
          <a:solidFill>
            <a:srgbClr val="1B4F72"/>
          </a:solidFill>
          <a:ln w="12700">
            <a:solidFill>
              <a:srgbClr val="1B4F72"/>
            </a:solidFill>
            <a:prstDash val="solid"/>
          </a:ln>
        </p:spPr>
        <p:txBody>
          <a:bodyPr/>
          <a:lstStyle/>
          <a:p>
            <a:endParaRPr lang="en-IN"/>
          </a:p>
        </p:txBody>
      </p:sp>
      <p:sp>
        <p:nvSpPr>
          <p:cNvPr id="48" name="Text 46"/>
          <p:cNvSpPr/>
          <p:nvPr/>
        </p:nvSpPr>
        <p:spPr>
          <a:xfrm>
            <a:off x="3291840" y="3337560"/>
            <a:ext cx="26060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FacilityManager</a:t>
            </a:r>
            <a:endParaRPr lang="en-US" sz="1200" dirty="0"/>
          </a:p>
        </p:txBody>
      </p:sp>
      <p:sp>
        <p:nvSpPr>
          <p:cNvPr id="49" name="Shape 47"/>
          <p:cNvSpPr/>
          <p:nvPr/>
        </p:nvSpPr>
        <p:spPr>
          <a:xfrm>
            <a:off x="3291840" y="3685032"/>
            <a:ext cx="2606040" cy="512064"/>
          </a:xfrm>
          <a:prstGeom prst="rect">
            <a:avLst/>
          </a:prstGeom>
          <a:solidFill>
            <a:srgbClr val="FFFFFF"/>
          </a:solidFill>
          <a:ln w="12700">
            <a:solidFill>
              <a:srgbClr val="2E86C1"/>
            </a:solidFill>
            <a:prstDash val="solid"/>
          </a:ln>
        </p:spPr>
        <p:txBody>
          <a:bodyPr/>
          <a:lstStyle/>
          <a:p>
            <a:endParaRPr lang="en-IN"/>
          </a:p>
        </p:txBody>
      </p:sp>
      <p:sp>
        <p:nvSpPr>
          <p:cNvPr id="50" name="Text 48"/>
          <p:cNvSpPr/>
          <p:nvPr/>
        </p:nvSpPr>
        <p:spPr>
          <a:xfrm>
            <a:off x="3383280" y="3685032"/>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managerId: String</a:t>
            </a:r>
            <a:endParaRPr lang="en-US" sz="900" dirty="0"/>
          </a:p>
        </p:txBody>
      </p:sp>
      <p:sp>
        <p:nvSpPr>
          <p:cNvPr id="51" name="Text 49"/>
          <p:cNvSpPr/>
          <p:nvPr/>
        </p:nvSpPr>
        <p:spPr>
          <a:xfrm>
            <a:off x="3383280" y="3941064"/>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department: String</a:t>
            </a:r>
            <a:endParaRPr lang="en-US" sz="900" dirty="0"/>
          </a:p>
        </p:txBody>
      </p:sp>
      <p:sp>
        <p:nvSpPr>
          <p:cNvPr id="52" name="Shape 50"/>
          <p:cNvSpPr/>
          <p:nvPr/>
        </p:nvSpPr>
        <p:spPr>
          <a:xfrm>
            <a:off x="3291840" y="4197096"/>
            <a:ext cx="2606040" cy="512064"/>
          </a:xfrm>
          <a:prstGeom prst="rect">
            <a:avLst/>
          </a:prstGeom>
          <a:solidFill>
            <a:srgbClr val="ECF0F1"/>
          </a:solidFill>
          <a:ln w="12700">
            <a:solidFill>
              <a:srgbClr val="2E86C1"/>
            </a:solidFill>
            <a:prstDash val="solid"/>
          </a:ln>
        </p:spPr>
        <p:txBody>
          <a:bodyPr/>
          <a:lstStyle/>
          <a:p>
            <a:endParaRPr lang="en-IN"/>
          </a:p>
        </p:txBody>
      </p:sp>
      <p:sp>
        <p:nvSpPr>
          <p:cNvPr id="53" name="Text 51"/>
          <p:cNvSpPr/>
          <p:nvPr/>
        </p:nvSpPr>
        <p:spPr>
          <a:xfrm>
            <a:off x="3383280" y="4197096"/>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assignTicket()</a:t>
            </a:r>
            <a:endParaRPr lang="en-US" sz="900" dirty="0"/>
          </a:p>
        </p:txBody>
      </p:sp>
      <p:sp>
        <p:nvSpPr>
          <p:cNvPr id="54" name="Text 52"/>
          <p:cNvSpPr/>
          <p:nvPr/>
        </p:nvSpPr>
        <p:spPr>
          <a:xfrm>
            <a:off x="3383280" y="4453128"/>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viewDashboard()</a:t>
            </a:r>
            <a:endParaRPr lang="en-US" sz="900" dirty="0"/>
          </a:p>
        </p:txBody>
      </p:sp>
      <p:sp>
        <p:nvSpPr>
          <p:cNvPr id="55" name="Shape 53"/>
          <p:cNvSpPr/>
          <p:nvPr/>
        </p:nvSpPr>
        <p:spPr>
          <a:xfrm>
            <a:off x="6263640" y="3337560"/>
            <a:ext cx="2606040" cy="347472"/>
          </a:xfrm>
          <a:prstGeom prst="rect">
            <a:avLst/>
          </a:prstGeom>
          <a:solidFill>
            <a:srgbClr val="1B4F72"/>
          </a:solidFill>
          <a:ln w="12700">
            <a:solidFill>
              <a:srgbClr val="1B4F72"/>
            </a:solidFill>
            <a:prstDash val="solid"/>
          </a:ln>
        </p:spPr>
        <p:txBody>
          <a:bodyPr/>
          <a:lstStyle/>
          <a:p>
            <a:endParaRPr lang="en-IN"/>
          </a:p>
        </p:txBody>
      </p:sp>
      <p:sp>
        <p:nvSpPr>
          <p:cNvPr id="56" name="Text 54"/>
          <p:cNvSpPr/>
          <p:nvPr/>
        </p:nvSpPr>
        <p:spPr>
          <a:xfrm>
            <a:off x="6263640" y="3337560"/>
            <a:ext cx="26060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Sensor</a:t>
            </a:r>
            <a:endParaRPr lang="en-US" sz="1200" dirty="0"/>
          </a:p>
        </p:txBody>
      </p:sp>
      <p:sp>
        <p:nvSpPr>
          <p:cNvPr id="57" name="Shape 55"/>
          <p:cNvSpPr/>
          <p:nvPr/>
        </p:nvSpPr>
        <p:spPr>
          <a:xfrm>
            <a:off x="6263640" y="3685032"/>
            <a:ext cx="2606040" cy="768096"/>
          </a:xfrm>
          <a:prstGeom prst="rect">
            <a:avLst/>
          </a:prstGeom>
          <a:solidFill>
            <a:srgbClr val="FFFFFF"/>
          </a:solidFill>
          <a:ln w="12700">
            <a:solidFill>
              <a:srgbClr val="2E86C1"/>
            </a:solidFill>
            <a:prstDash val="solid"/>
          </a:ln>
        </p:spPr>
        <p:txBody>
          <a:bodyPr/>
          <a:lstStyle/>
          <a:p>
            <a:endParaRPr lang="en-IN"/>
          </a:p>
        </p:txBody>
      </p:sp>
      <p:sp>
        <p:nvSpPr>
          <p:cNvPr id="58" name="Text 56"/>
          <p:cNvSpPr/>
          <p:nvPr/>
        </p:nvSpPr>
        <p:spPr>
          <a:xfrm>
            <a:off x="6355080" y="3685032"/>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sensorId: String</a:t>
            </a:r>
            <a:endParaRPr lang="en-US" sz="900" dirty="0"/>
          </a:p>
        </p:txBody>
      </p:sp>
      <p:sp>
        <p:nvSpPr>
          <p:cNvPr id="59" name="Text 57"/>
          <p:cNvSpPr/>
          <p:nvPr/>
        </p:nvSpPr>
        <p:spPr>
          <a:xfrm>
            <a:off x="6355080" y="3941064"/>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type: SensorType</a:t>
            </a:r>
            <a:endParaRPr lang="en-US" sz="900" dirty="0"/>
          </a:p>
        </p:txBody>
      </p:sp>
      <p:sp>
        <p:nvSpPr>
          <p:cNvPr id="60" name="Text 58"/>
          <p:cNvSpPr/>
          <p:nvPr/>
        </p:nvSpPr>
        <p:spPr>
          <a:xfrm>
            <a:off x="6355080" y="4197096"/>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location: String</a:t>
            </a:r>
            <a:endParaRPr lang="en-US" sz="900" dirty="0"/>
          </a:p>
        </p:txBody>
      </p:sp>
      <p:sp>
        <p:nvSpPr>
          <p:cNvPr id="61" name="Shape 59"/>
          <p:cNvSpPr/>
          <p:nvPr/>
        </p:nvSpPr>
        <p:spPr>
          <a:xfrm>
            <a:off x="6263640" y="4453128"/>
            <a:ext cx="2606040" cy="512064"/>
          </a:xfrm>
          <a:prstGeom prst="rect">
            <a:avLst/>
          </a:prstGeom>
          <a:solidFill>
            <a:srgbClr val="ECF0F1"/>
          </a:solidFill>
          <a:ln w="12700">
            <a:solidFill>
              <a:srgbClr val="2E86C1"/>
            </a:solidFill>
            <a:prstDash val="solid"/>
          </a:ln>
        </p:spPr>
        <p:txBody>
          <a:bodyPr/>
          <a:lstStyle/>
          <a:p>
            <a:endParaRPr lang="en-IN"/>
          </a:p>
        </p:txBody>
      </p:sp>
      <p:sp>
        <p:nvSpPr>
          <p:cNvPr id="62" name="Text 60"/>
          <p:cNvSpPr/>
          <p:nvPr/>
        </p:nvSpPr>
        <p:spPr>
          <a:xfrm>
            <a:off x="6355080" y="4453128"/>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readData()</a:t>
            </a:r>
            <a:endParaRPr lang="en-US" sz="900" dirty="0"/>
          </a:p>
        </p:txBody>
      </p:sp>
      <p:sp>
        <p:nvSpPr>
          <p:cNvPr id="63" name="Text 61"/>
          <p:cNvSpPr/>
          <p:nvPr/>
        </p:nvSpPr>
        <p:spPr>
          <a:xfrm>
            <a:off x="6355080" y="4709160"/>
            <a:ext cx="2514600" cy="256032"/>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 triggerAlert()</a:t>
            </a:r>
            <a:endParaRPr lang="en-US" sz="900" dirty="0"/>
          </a:p>
        </p:txBody>
      </p:sp>
      <p:sp>
        <p:nvSpPr>
          <p:cNvPr id="64" name="Shape 62"/>
          <p:cNvSpPr/>
          <p:nvPr/>
        </p:nvSpPr>
        <p:spPr>
          <a:xfrm>
            <a:off x="2926080" y="1417320"/>
            <a:ext cx="365760" cy="0"/>
          </a:xfrm>
          <a:prstGeom prst="line">
            <a:avLst/>
          </a:prstGeom>
          <a:noFill/>
          <a:ln w="12700">
            <a:solidFill>
              <a:srgbClr val="2E86C1"/>
            </a:solidFill>
            <a:prstDash val="solid"/>
          </a:ln>
        </p:spPr>
        <p:txBody>
          <a:bodyPr/>
          <a:lstStyle/>
          <a:p>
            <a:endParaRPr lang="en-IN"/>
          </a:p>
        </p:txBody>
      </p:sp>
      <p:sp>
        <p:nvSpPr>
          <p:cNvPr id="65" name="Text 63"/>
          <p:cNvSpPr/>
          <p:nvPr/>
        </p:nvSpPr>
        <p:spPr>
          <a:xfrm>
            <a:off x="2651760" y="1307592"/>
            <a:ext cx="457200" cy="201168"/>
          </a:xfrm>
          <a:prstGeom prst="rect">
            <a:avLst/>
          </a:prstGeom>
          <a:noFill/>
          <a:ln/>
        </p:spPr>
        <p:txBody>
          <a:bodyPr wrap="square" lIns="0" tIns="0" rIns="0" bIns="0" rtlCol="0" anchor="ctr"/>
          <a:lstStyle/>
          <a:p>
            <a:pPr marL="0" indent="0">
              <a:buNone/>
            </a:pPr>
            <a:r>
              <a:rPr lang="en-US" sz="800" dirty="0">
                <a:solidFill>
                  <a:srgbClr val="7F8C8D"/>
                </a:solidFill>
              </a:rPr>
              <a:t>1..*</a:t>
            </a:r>
            <a:endParaRPr lang="en-US" sz="800" dirty="0"/>
          </a:p>
        </p:txBody>
      </p:sp>
      <p:sp>
        <p:nvSpPr>
          <p:cNvPr id="66" name="Shape 64"/>
          <p:cNvSpPr/>
          <p:nvPr/>
        </p:nvSpPr>
        <p:spPr>
          <a:xfrm>
            <a:off x="5897880" y="1417320"/>
            <a:ext cx="365760" cy="0"/>
          </a:xfrm>
          <a:prstGeom prst="line">
            <a:avLst/>
          </a:prstGeom>
          <a:noFill/>
          <a:ln w="12700">
            <a:solidFill>
              <a:srgbClr val="2E86C1"/>
            </a:solidFill>
            <a:prstDash val="solid"/>
          </a:ln>
        </p:spPr>
        <p:txBody>
          <a:bodyPr/>
          <a:lstStyle/>
          <a:p>
            <a:endParaRPr lang="en-IN"/>
          </a:p>
        </p:txBody>
      </p:sp>
      <p:sp>
        <p:nvSpPr>
          <p:cNvPr id="67" name="Shape 65"/>
          <p:cNvSpPr/>
          <p:nvPr/>
        </p:nvSpPr>
        <p:spPr>
          <a:xfrm>
            <a:off x="1618488" y="2560320"/>
            <a:ext cx="0" cy="777240"/>
          </a:xfrm>
          <a:prstGeom prst="line">
            <a:avLst/>
          </a:prstGeom>
          <a:noFill/>
          <a:ln w="12700">
            <a:solidFill>
              <a:srgbClr val="1ABC9C"/>
            </a:solidFill>
            <a:prstDash val="solid"/>
          </a:ln>
        </p:spPr>
        <p:txBody>
          <a:bodyPr/>
          <a:lstStyle/>
          <a:p>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F72"/>
          </a:solidFill>
          <a:ln w="12700">
            <a:solidFill>
              <a:srgbClr val="1B4F72"/>
            </a:solidFill>
            <a:prstDash val="solid"/>
          </a:ln>
        </p:spPr>
        <p:txBody>
          <a:bodyPr/>
          <a:lstStyle/>
          <a:p>
            <a:endParaRPr lang="en-IN"/>
          </a:p>
        </p:txBody>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Design Model — Component Diagram</a:t>
            </a:r>
            <a:endParaRPr lang="en-US" sz="2600" dirty="0"/>
          </a:p>
        </p:txBody>
      </p:sp>
      <p:sp>
        <p:nvSpPr>
          <p:cNvPr id="4" name="Shape 2"/>
          <p:cNvSpPr/>
          <p:nvPr/>
        </p:nvSpPr>
        <p:spPr>
          <a:xfrm>
            <a:off x="274320" y="1005840"/>
            <a:ext cx="8595360" cy="1051560"/>
          </a:xfrm>
          <a:prstGeom prst="rect">
            <a:avLst/>
          </a:prstGeom>
          <a:solidFill>
            <a:srgbClr val="2980B9">
              <a:alpha val="15000"/>
            </a:srgbClr>
          </a:solidFill>
          <a:ln w="12700">
            <a:solidFill>
              <a:srgbClr val="2980B9"/>
            </a:solidFill>
            <a:prstDash val="solid"/>
          </a:ln>
        </p:spPr>
        <p:txBody>
          <a:bodyPr/>
          <a:lstStyle/>
          <a:p>
            <a:endParaRPr lang="en-IN"/>
          </a:p>
        </p:txBody>
      </p:sp>
      <p:sp>
        <p:nvSpPr>
          <p:cNvPr id="5" name="Text 3"/>
          <p:cNvSpPr/>
          <p:nvPr/>
        </p:nvSpPr>
        <p:spPr>
          <a:xfrm>
            <a:off x="365760" y="1051560"/>
            <a:ext cx="2286000" cy="274320"/>
          </a:xfrm>
          <a:prstGeom prst="rect">
            <a:avLst/>
          </a:prstGeom>
          <a:noFill/>
          <a:ln/>
        </p:spPr>
        <p:txBody>
          <a:bodyPr wrap="square" lIns="0" tIns="0" rIns="0" bIns="0" rtlCol="0" anchor="ctr"/>
          <a:lstStyle/>
          <a:p>
            <a:pPr marL="0" indent="0">
              <a:buNone/>
            </a:pPr>
            <a:r>
              <a:rPr lang="en-US" sz="1100" b="1" dirty="0">
                <a:solidFill>
                  <a:srgbClr val="2980B9"/>
                </a:solidFill>
                <a:latin typeface="Calibri" pitchFamily="34" charset="0"/>
                <a:ea typeface="Calibri" pitchFamily="34" charset="-122"/>
                <a:cs typeface="Calibri" pitchFamily="34" charset="-120"/>
              </a:rPr>
              <a:t>Presentation Layer</a:t>
            </a:r>
            <a:endParaRPr lang="en-US" sz="1100" dirty="0"/>
          </a:p>
        </p:txBody>
      </p:sp>
      <p:sp>
        <p:nvSpPr>
          <p:cNvPr id="6" name="Shape 4"/>
          <p:cNvSpPr/>
          <p:nvPr/>
        </p:nvSpPr>
        <p:spPr>
          <a:xfrm>
            <a:off x="457200" y="1417320"/>
            <a:ext cx="3749040" cy="502920"/>
          </a:xfrm>
          <a:prstGeom prst="rect">
            <a:avLst/>
          </a:prstGeom>
          <a:solidFill>
            <a:srgbClr val="2980B9"/>
          </a:solidFill>
          <a:ln w="12700">
            <a:solidFill>
              <a:srgbClr val="2980B9"/>
            </a:solidFill>
            <a:prstDash val="solid"/>
          </a:ln>
          <a:effectLst>
            <a:outerShdw blurRad="101600" dist="38100" dir="8100000" algn="bl" rotWithShape="0">
              <a:srgbClr val="000000">
                <a:alpha val="20000"/>
              </a:srgbClr>
            </a:outerShdw>
          </a:effectLst>
        </p:spPr>
        <p:txBody>
          <a:bodyPr/>
          <a:lstStyle/>
          <a:p>
            <a:endParaRPr lang="en-IN"/>
          </a:p>
        </p:txBody>
      </p:sp>
      <p:sp>
        <p:nvSpPr>
          <p:cNvPr id="7" name="Text 5"/>
          <p:cNvSpPr/>
          <p:nvPr/>
        </p:nvSpPr>
        <p:spPr>
          <a:xfrm>
            <a:off x="457200" y="1417320"/>
            <a:ext cx="374904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Web Client (Browser/Mobile)</a:t>
            </a:r>
            <a:endParaRPr lang="en-US" sz="1000" dirty="0"/>
          </a:p>
        </p:txBody>
      </p:sp>
      <p:sp>
        <p:nvSpPr>
          <p:cNvPr id="8" name="Shape 6"/>
          <p:cNvSpPr/>
          <p:nvPr/>
        </p:nvSpPr>
        <p:spPr>
          <a:xfrm>
            <a:off x="4389120" y="1417320"/>
            <a:ext cx="3749040" cy="502920"/>
          </a:xfrm>
          <a:prstGeom prst="rect">
            <a:avLst/>
          </a:prstGeom>
          <a:solidFill>
            <a:srgbClr val="2980B9"/>
          </a:solidFill>
          <a:ln w="12700">
            <a:solidFill>
              <a:srgbClr val="2980B9"/>
            </a:solidFill>
            <a:prstDash val="solid"/>
          </a:ln>
          <a:effectLst>
            <a:outerShdw blurRad="101600" dist="38100" dir="8100000" algn="bl" rotWithShape="0">
              <a:srgbClr val="000000">
                <a:alpha val="20000"/>
              </a:srgbClr>
            </a:outerShdw>
          </a:effectLst>
        </p:spPr>
        <p:txBody>
          <a:bodyPr/>
          <a:lstStyle/>
          <a:p>
            <a:endParaRPr lang="en-IN"/>
          </a:p>
        </p:txBody>
      </p:sp>
      <p:sp>
        <p:nvSpPr>
          <p:cNvPr id="9" name="Text 7"/>
          <p:cNvSpPr/>
          <p:nvPr/>
        </p:nvSpPr>
        <p:spPr>
          <a:xfrm>
            <a:off x="4389120" y="1417320"/>
            <a:ext cx="374904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Admin Dashboard</a:t>
            </a:r>
            <a:endParaRPr lang="en-US" sz="1000" dirty="0"/>
          </a:p>
        </p:txBody>
      </p:sp>
      <p:sp>
        <p:nvSpPr>
          <p:cNvPr id="10" name="Shape 8"/>
          <p:cNvSpPr/>
          <p:nvPr/>
        </p:nvSpPr>
        <p:spPr>
          <a:xfrm>
            <a:off x="274320" y="2240280"/>
            <a:ext cx="8595360" cy="1051560"/>
          </a:xfrm>
          <a:prstGeom prst="rect">
            <a:avLst/>
          </a:prstGeom>
          <a:solidFill>
            <a:srgbClr val="1ABC9C">
              <a:alpha val="15000"/>
            </a:srgbClr>
          </a:solidFill>
          <a:ln w="12700">
            <a:solidFill>
              <a:srgbClr val="1ABC9C"/>
            </a:solidFill>
            <a:prstDash val="solid"/>
          </a:ln>
        </p:spPr>
        <p:txBody>
          <a:bodyPr/>
          <a:lstStyle/>
          <a:p>
            <a:endParaRPr lang="en-IN"/>
          </a:p>
        </p:txBody>
      </p:sp>
      <p:sp>
        <p:nvSpPr>
          <p:cNvPr id="11" name="Text 9"/>
          <p:cNvSpPr/>
          <p:nvPr/>
        </p:nvSpPr>
        <p:spPr>
          <a:xfrm>
            <a:off x="365760" y="2286000"/>
            <a:ext cx="2286000" cy="274320"/>
          </a:xfrm>
          <a:prstGeom prst="rect">
            <a:avLst/>
          </a:prstGeom>
          <a:noFill/>
          <a:ln/>
        </p:spPr>
        <p:txBody>
          <a:bodyPr wrap="square" lIns="0" tIns="0" rIns="0" bIns="0" rtlCol="0" anchor="ctr"/>
          <a:lstStyle/>
          <a:p>
            <a:pPr marL="0" indent="0">
              <a:buNone/>
            </a:pPr>
            <a:r>
              <a:rPr lang="en-US" sz="1100" b="1" dirty="0">
                <a:solidFill>
                  <a:srgbClr val="1ABC9C"/>
                </a:solidFill>
                <a:latin typeface="Calibri" pitchFamily="34" charset="0"/>
                <a:ea typeface="Calibri" pitchFamily="34" charset="-122"/>
                <a:cs typeface="Calibri" pitchFamily="34" charset="-120"/>
              </a:rPr>
              <a:t>Application Layer</a:t>
            </a:r>
            <a:endParaRPr lang="en-US" sz="1100" dirty="0"/>
          </a:p>
        </p:txBody>
      </p:sp>
      <p:sp>
        <p:nvSpPr>
          <p:cNvPr id="12" name="Shape 10"/>
          <p:cNvSpPr/>
          <p:nvPr/>
        </p:nvSpPr>
        <p:spPr>
          <a:xfrm>
            <a:off x="457200" y="2651760"/>
            <a:ext cx="1783080" cy="502920"/>
          </a:xfrm>
          <a:prstGeom prst="rect">
            <a:avLst/>
          </a:prstGeom>
          <a:solidFill>
            <a:srgbClr val="1ABC9C"/>
          </a:solidFill>
          <a:ln w="12700">
            <a:solidFill>
              <a:srgbClr val="1ABC9C"/>
            </a:solidFill>
            <a:prstDash val="solid"/>
          </a:ln>
          <a:effectLst>
            <a:outerShdw blurRad="101600" dist="38100" dir="8100000" algn="bl" rotWithShape="0">
              <a:srgbClr val="000000">
                <a:alpha val="20000"/>
              </a:srgbClr>
            </a:outerShdw>
          </a:effectLst>
        </p:spPr>
        <p:txBody>
          <a:bodyPr/>
          <a:lstStyle/>
          <a:p>
            <a:endParaRPr lang="en-IN"/>
          </a:p>
        </p:txBody>
      </p:sp>
      <p:sp>
        <p:nvSpPr>
          <p:cNvPr id="13" name="Text 11"/>
          <p:cNvSpPr/>
          <p:nvPr/>
        </p:nvSpPr>
        <p:spPr>
          <a:xfrm>
            <a:off x="457200" y="2651760"/>
            <a:ext cx="178308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Auth Service</a:t>
            </a:r>
            <a:endParaRPr lang="en-US" sz="1000" dirty="0"/>
          </a:p>
        </p:txBody>
      </p:sp>
      <p:sp>
        <p:nvSpPr>
          <p:cNvPr id="14" name="Shape 12"/>
          <p:cNvSpPr/>
          <p:nvPr/>
        </p:nvSpPr>
        <p:spPr>
          <a:xfrm>
            <a:off x="2423160" y="2651760"/>
            <a:ext cx="1783080" cy="502920"/>
          </a:xfrm>
          <a:prstGeom prst="rect">
            <a:avLst/>
          </a:prstGeom>
          <a:solidFill>
            <a:srgbClr val="1ABC9C"/>
          </a:solidFill>
          <a:ln w="12700">
            <a:solidFill>
              <a:srgbClr val="1ABC9C"/>
            </a:solidFill>
            <a:prstDash val="solid"/>
          </a:ln>
          <a:effectLst>
            <a:outerShdw blurRad="101600" dist="38100" dir="8100000" algn="bl" rotWithShape="0">
              <a:srgbClr val="000000">
                <a:alpha val="20000"/>
              </a:srgbClr>
            </a:outerShdw>
          </a:effectLst>
        </p:spPr>
        <p:txBody>
          <a:bodyPr/>
          <a:lstStyle/>
          <a:p>
            <a:endParaRPr lang="en-IN"/>
          </a:p>
        </p:txBody>
      </p:sp>
      <p:sp>
        <p:nvSpPr>
          <p:cNvPr id="15" name="Text 13"/>
          <p:cNvSpPr/>
          <p:nvPr/>
        </p:nvSpPr>
        <p:spPr>
          <a:xfrm>
            <a:off x="2423160" y="2651760"/>
            <a:ext cx="178308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Booking Service</a:t>
            </a:r>
            <a:endParaRPr lang="en-US" sz="1000" dirty="0"/>
          </a:p>
        </p:txBody>
      </p:sp>
      <p:sp>
        <p:nvSpPr>
          <p:cNvPr id="16" name="Shape 14"/>
          <p:cNvSpPr/>
          <p:nvPr/>
        </p:nvSpPr>
        <p:spPr>
          <a:xfrm>
            <a:off x="4389120" y="2651760"/>
            <a:ext cx="1783080" cy="502920"/>
          </a:xfrm>
          <a:prstGeom prst="rect">
            <a:avLst/>
          </a:prstGeom>
          <a:solidFill>
            <a:srgbClr val="1ABC9C"/>
          </a:solidFill>
          <a:ln w="12700">
            <a:solidFill>
              <a:srgbClr val="1ABC9C"/>
            </a:solidFill>
            <a:prstDash val="solid"/>
          </a:ln>
          <a:effectLst>
            <a:outerShdw blurRad="101600" dist="38100" dir="8100000" algn="bl" rotWithShape="0">
              <a:srgbClr val="000000">
                <a:alpha val="20000"/>
              </a:srgbClr>
            </a:outerShdw>
          </a:effectLst>
        </p:spPr>
        <p:txBody>
          <a:bodyPr/>
          <a:lstStyle/>
          <a:p>
            <a:endParaRPr lang="en-IN"/>
          </a:p>
        </p:txBody>
      </p:sp>
      <p:sp>
        <p:nvSpPr>
          <p:cNvPr id="17" name="Text 15"/>
          <p:cNvSpPr/>
          <p:nvPr/>
        </p:nvSpPr>
        <p:spPr>
          <a:xfrm>
            <a:off x="4389120" y="2651760"/>
            <a:ext cx="178308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Maintenance Service</a:t>
            </a:r>
            <a:endParaRPr lang="en-US" sz="1000" dirty="0"/>
          </a:p>
        </p:txBody>
      </p:sp>
      <p:sp>
        <p:nvSpPr>
          <p:cNvPr id="18" name="Shape 16"/>
          <p:cNvSpPr/>
          <p:nvPr/>
        </p:nvSpPr>
        <p:spPr>
          <a:xfrm>
            <a:off x="6355080" y="2651760"/>
            <a:ext cx="1783080" cy="502920"/>
          </a:xfrm>
          <a:prstGeom prst="rect">
            <a:avLst/>
          </a:prstGeom>
          <a:solidFill>
            <a:srgbClr val="1ABC9C"/>
          </a:solidFill>
          <a:ln w="12700">
            <a:solidFill>
              <a:srgbClr val="1ABC9C"/>
            </a:solidFill>
            <a:prstDash val="solid"/>
          </a:ln>
          <a:effectLst>
            <a:outerShdw blurRad="101600" dist="38100" dir="8100000" algn="bl" rotWithShape="0">
              <a:srgbClr val="000000">
                <a:alpha val="20000"/>
              </a:srgbClr>
            </a:outerShdw>
          </a:effectLst>
        </p:spPr>
        <p:txBody>
          <a:bodyPr/>
          <a:lstStyle/>
          <a:p>
            <a:endParaRPr lang="en-IN"/>
          </a:p>
        </p:txBody>
      </p:sp>
      <p:sp>
        <p:nvSpPr>
          <p:cNvPr id="19" name="Text 17"/>
          <p:cNvSpPr/>
          <p:nvPr/>
        </p:nvSpPr>
        <p:spPr>
          <a:xfrm>
            <a:off x="6355080" y="2651760"/>
            <a:ext cx="178308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Monitoring Service</a:t>
            </a:r>
            <a:endParaRPr lang="en-US" sz="1000" dirty="0"/>
          </a:p>
        </p:txBody>
      </p:sp>
      <p:sp>
        <p:nvSpPr>
          <p:cNvPr id="20" name="Shape 18"/>
          <p:cNvSpPr/>
          <p:nvPr/>
        </p:nvSpPr>
        <p:spPr>
          <a:xfrm>
            <a:off x="274320" y="3474720"/>
            <a:ext cx="8595360" cy="1051560"/>
          </a:xfrm>
          <a:prstGeom prst="rect">
            <a:avLst/>
          </a:prstGeom>
          <a:solidFill>
            <a:srgbClr val="8E44AD">
              <a:alpha val="15000"/>
            </a:srgbClr>
          </a:solidFill>
          <a:ln w="12700">
            <a:solidFill>
              <a:srgbClr val="8E44AD"/>
            </a:solidFill>
            <a:prstDash val="solid"/>
          </a:ln>
        </p:spPr>
        <p:txBody>
          <a:bodyPr/>
          <a:lstStyle/>
          <a:p>
            <a:endParaRPr lang="en-IN"/>
          </a:p>
        </p:txBody>
      </p:sp>
      <p:sp>
        <p:nvSpPr>
          <p:cNvPr id="21" name="Text 19"/>
          <p:cNvSpPr/>
          <p:nvPr/>
        </p:nvSpPr>
        <p:spPr>
          <a:xfrm>
            <a:off x="365760" y="3520440"/>
            <a:ext cx="2286000" cy="274320"/>
          </a:xfrm>
          <a:prstGeom prst="rect">
            <a:avLst/>
          </a:prstGeom>
          <a:noFill/>
          <a:ln/>
        </p:spPr>
        <p:txBody>
          <a:bodyPr wrap="square" lIns="0" tIns="0" rIns="0" bIns="0" rtlCol="0" anchor="ctr"/>
          <a:lstStyle/>
          <a:p>
            <a:pPr marL="0" indent="0">
              <a:buNone/>
            </a:pPr>
            <a:r>
              <a:rPr lang="en-US" sz="1100" b="1" dirty="0">
                <a:solidFill>
                  <a:srgbClr val="8E44AD"/>
                </a:solidFill>
                <a:latin typeface="Calibri" pitchFamily="34" charset="0"/>
                <a:ea typeface="Calibri" pitchFamily="34" charset="-122"/>
                <a:cs typeface="Calibri" pitchFamily="34" charset="-120"/>
              </a:rPr>
              <a:t>Data Layer</a:t>
            </a:r>
            <a:endParaRPr lang="en-US" sz="1100" dirty="0"/>
          </a:p>
        </p:txBody>
      </p:sp>
      <p:sp>
        <p:nvSpPr>
          <p:cNvPr id="22" name="Shape 20"/>
          <p:cNvSpPr/>
          <p:nvPr/>
        </p:nvSpPr>
        <p:spPr>
          <a:xfrm>
            <a:off x="457200" y="3886200"/>
            <a:ext cx="1783080" cy="502920"/>
          </a:xfrm>
          <a:prstGeom prst="rect">
            <a:avLst/>
          </a:prstGeom>
          <a:solidFill>
            <a:srgbClr val="8E44AD"/>
          </a:solidFill>
          <a:ln w="12700">
            <a:solidFill>
              <a:srgbClr val="8E44AD"/>
            </a:solidFill>
            <a:prstDash val="solid"/>
          </a:ln>
          <a:effectLst>
            <a:outerShdw blurRad="101600" dist="38100" dir="8100000" algn="bl" rotWithShape="0">
              <a:srgbClr val="000000">
                <a:alpha val="20000"/>
              </a:srgbClr>
            </a:outerShdw>
          </a:effectLst>
        </p:spPr>
        <p:txBody>
          <a:bodyPr/>
          <a:lstStyle/>
          <a:p>
            <a:endParaRPr lang="en-IN"/>
          </a:p>
        </p:txBody>
      </p:sp>
      <p:sp>
        <p:nvSpPr>
          <p:cNvPr id="23" name="Text 21"/>
          <p:cNvSpPr/>
          <p:nvPr/>
        </p:nvSpPr>
        <p:spPr>
          <a:xfrm>
            <a:off x="457200" y="3886200"/>
            <a:ext cx="178308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Room DB</a:t>
            </a:r>
            <a:endParaRPr lang="en-US" sz="1000" dirty="0"/>
          </a:p>
        </p:txBody>
      </p:sp>
      <p:sp>
        <p:nvSpPr>
          <p:cNvPr id="24" name="Shape 22"/>
          <p:cNvSpPr/>
          <p:nvPr/>
        </p:nvSpPr>
        <p:spPr>
          <a:xfrm>
            <a:off x="2423160" y="3886200"/>
            <a:ext cx="1783080" cy="502920"/>
          </a:xfrm>
          <a:prstGeom prst="rect">
            <a:avLst/>
          </a:prstGeom>
          <a:solidFill>
            <a:srgbClr val="8E44AD"/>
          </a:solidFill>
          <a:ln w="12700">
            <a:solidFill>
              <a:srgbClr val="8E44AD"/>
            </a:solidFill>
            <a:prstDash val="solid"/>
          </a:ln>
          <a:effectLst>
            <a:outerShdw blurRad="101600" dist="38100" dir="8100000" algn="bl" rotWithShape="0">
              <a:srgbClr val="000000">
                <a:alpha val="20000"/>
              </a:srgbClr>
            </a:outerShdw>
          </a:effectLst>
        </p:spPr>
        <p:txBody>
          <a:bodyPr/>
          <a:lstStyle/>
          <a:p>
            <a:endParaRPr lang="en-IN"/>
          </a:p>
        </p:txBody>
      </p:sp>
      <p:sp>
        <p:nvSpPr>
          <p:cNvPr id="25" name="Text 23"/>
          <p:cNvSpPr/>
          <p:nvPr/>
        </p:nvSpPr>
        <p:spPr>
          <a:xfrm>
            <a:off x="2423160" y="3886200"/>
            <a:ext cx="178308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User DB</a:t>
            </a:r>
            <a:endParaRPr lang="en-US" sz="1000" dirty="0"/>
          </a:p>
        </p:txBody>
      </p:sp>
      <p:sp>
        <p:nvSpPr>
          <p:cNvPr id="26" name="Shape 24"/>
          <p:cNvSpPr/>
          <p:nvPr/>
        </p:nvSpPr>
        <p:spPr>
          <a:xfrm>
            <a:off x="4389120" y="3886200"/>
            <a:ext cx="1783080" cy="502920"/>
          </a:xfrm>
          <a:prstGeom prst="rect">
            <a:avLst/>
          </a:prstGeom>
          <a:solidFill>
            <a:srgbClr val="8E44AD"/>
          </a:solidFill>
          <a:ln w="12700">
            <a:solidFill>
              <a:srgbClr val="8E44AD"/>
            </a:solidFill>
            <a:prstDash val="solid"/>
          </a:ln>
          <a:effectLst>
            <a:outerShdw blurRad="101600" dist="38100" dir="8100000" algn="bl" rotWithShape="0">
              <a:srgbClr val="000000">
                <a:alpha val="20000"/>
              </a:srgbClr>
            </a:outerShdw>
          </a:effectLst>
        </p:spPr>
        <p:txBody>
          <a:bodyPr/>
          <a:lstStyle/>
          <a:p>
            <a:endParaRPr lang="en-IN"/>
          </a:p>
        </p:txBody>
      </p:sp>
      <p:sp>
        <p:nvSpPr>
          <p:cNvPr id="27" name="Text 25"/>
          <p:cNvSpPr/>
          <p:nvPr/>
        </p:nvSpPr>
        <p:spPr>
          <a:xfrm>
            <a:off x="4389120" y="3886200"/>
            <a:ext cx="178308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Ticket DB</a:t>
            </a:r>
            <a:endParaRPr lang="en-US" sz="1000" dirty="0"/>
          </a:p>
        </p:txBody>
      </p:sp>
      <p:sp>
        <p:nvSpPr>
          <p:cNvPr id="28" name="Shape 26"/>
          <p:cNvSpPr/>
          <p:nvPr/>
        </p:nvSpPr>
        <p:spPr>
          <a:xfrm>
            <a:off x="6355080" y="3886200"/>
            <a:ext cx="1783080" cy="502920"/>
          </a:xfrm>
          <a:prstGeom prst="rect">
            <a:avLst/>
          </a:prstGeom>
          <a:solidFill>
            <a:srgbClr val="8E44AD"/>
          </a:solidFill>
          <a:ln w="12700">
            <a:solidFill>
              <a:srgbClr val="8E44AD"/>
            </a:solidFill>
            <a:prstDash val="solid"/>
          </a:ln>
          <a:effectLst>
            <a:outerShdw blurRad="101600" dist="38100" dir="8100000" algn="bl" rotWithShape="0">
              <a:srgbClr val="000000">
                <a:alpha val="20000"/>
              </a:srgbClr>
            </a:outerShdw>
          </a:effectLst>
        </p:spPr>
        <p:txBody>
          <a:bodyPr/>
          <a:lstStyle/>
          <a:p>
            <a:endParaRPr lang="en-IN"/>
          </a:p>
        </p:txBody>
      </p:sp>
      <p:sp>
        <p:nvSpPr>
          <p:cNvPr id="29" name="Text 27"/>
          <p:cNvSpPr/>
          <p:nvPr/>
        </p:nvSpPr>
        <p:spPr>
          <a:xfrm>
            <a:off x="6355080" y="3886200"/>
            <a:ext cx="178308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Sensor DB</a:t>
            </a:r>
            <a:endParaRPr lang="en-US" sz="1000" dirty="0"/>
          </a:p>
        </p:txBody>
      </p:sp>
      <p:sp>
        <p:nvSpPr>
          <p:cNvPr id="30" name="Shape 28"/>
          <p:cNvSpPr/>
          <p:nvPr/>
        </p:nvSpPr>
        <p:spPr>
          <a:xfrm>
            <a:off x="4572000" y="2057400"/>
            <a:ext cx="0" cy="182880"/>
          </a:xfrm>
          <a:prstGeom prst="line">
            <a:avLst/>
          </a:prstGeom>
          <a:noFill/>
          <a:ln w="12700">
            <a:solidFill>
              <a:srgbClr val="7F8C8D"/>
            </a:solidFill>
            <a:prstDash val="solid"/>
          </a:ln>
        </p:spPr>
        <p:txBody>
          <a:bodyPr/>
          <a:lstStyle/>
          <a:p>
            <a:endParaRPr lang="en-IN"/>
          </a:p>
        </p:txBody>
      </p:sp>
      <p:sp>
        <p:nvSpPr>
          <p:cNvPr id="31" name="Shape 29"/>
          <p:cNvSpPr/>
          <p:nvPr/>
        </p:nvSpPr>
        <p:spPr>
          <a:xfrm>
            <a:off x="4572000" y="3291840"/>
            <a:ext cx="0" cy="182880"/>
          </a:xfrm>
          <a:prstGeom prst="line">
            <a:avLst/>
          </a:prstGeom>
          <a:noFill/>
          <a:ln w="12700">
            <a:solidFill>
              <a:srgbClr val="7F8C8D"/>
            </a:solidFill>
            <a:prstDash val="solid"/>
          </a:ln>
        </p:spPr>
        <p:txBody>
          <a:bodyPr/>
          <a:lstStyle/>
          <a:p>
            <a:endParaRPr lang="en-IN"/>
          </a:p>
        </p:txBody>
      </p:sp>
      <p:sp>
        <p:nvSpPr>
          <p:cNvPr id="32" name="Shape 30"/>
          <p:cNvSpPr/>
          <p:nvPr/>
        </p:nvSpPr>
        <p:spPr>
          <a:xfrm>
            <a:off x="274320" y="4572000"/>
            <a:ext cx="3931920" cy="411480"/>
          </a:xfrm>
          <a:prstGeom prst="rect">
            <a:avLst/>
          </a:prstGeom>
          <a:solidFill>
            <a:srgbClr val="E74C3C"/>
          </a:solidFill>
          <a:ln w="12700">
            <a:solidFill>
              <a:srgbClr val="E74C3C"/>
            </a:solidFill>
            <a:prstDash val="solid"/>
          </a:ln>
        </p:spPr>
        <p:txBody>
          <a:bodyPr/>
          <a:lstStyle/>
          <a:p>
            <a:endParaRPr lang="en-IN"/>
          </a:p>
        </p:txBody>
      </p:sp>
      <p:sp>
        <p:nvSpPr>
          <p:cNvPr id="33" name="Text 31"/>
          <p:cNvSpPr/>
          <p:nvPr/>
        </p:nvSpPr>
        <p:spPr>
          <a:xfrm>
            <a:off x="274320" y="4572000"/>
            <a:ext cx="393192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External: Email / Notification Service</a:t>
            </a:r>
            <a:endParaRPr lang="en-US" sz="1100" dirty="0"/>
          </a:p>
        </p:txBody>
      </p:sp>
      <p:sp>
        <p:nvSpPr>
          <p:cNvPr id="34" name="Shape 32"/>
          <p:cNvSpPr/>
          <p:nvPr/>
        </p:nvSpPr>
        <p:spPr>
          <a:xfrm>
            <a:off x="4663440" y="4572000"/>
            <a:ext cx="4206240" cy="411480"/>
          </a:xfrm>
          <a:prstGeom prst="rect">
            <a:avLst/>
          </a:prstGeom>
          <a:solidFill>
            <a:srgbClr val="E67E22"/>
          </a:solidFill>
          <a:ln w="12700">
            <a:solidFill>
              <a:srgbClr val="E67E22"/>
            </a:solidFill>
            <a:prstDash val="solid"/>
          </a:ln>
        </p:spPr>
        <p:txBody>
          <a:bodyPr/>
          <a:lstStyle/>
          <a:p>
            <a:endParaRPr lang="en-IN"/>
          </a:p>
        </p:txBody>
      </p:sp>
      <p:sp>
        <p:nvSpPr>
          <p:cNvPr id="35" name="Text 33"/>
          <p:cNvSpPr/>
          <p:nvPr/>
        </p:nvSpPr>
        <p:spPr>
          <a:xfrm>
            <a:off x="4663440" y="4572000"/>
            <a:ext cx="42062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External: IoT Sensor Network / AI Engine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F72"/>
          </a:solidFill>
          <a:ln w="12700">
            <a:solidFill>
              <a:srgbClr val="1B4F72"/>
            </a:solidFill>
            <a:prstDash val="solid"/>
          </a:ln>
        </p:spPr>
        <p:txBody>
          <a:bodyPr/>
          <a:lstStyle/>
          <a:p>
            <a:endParaRPr lang="en-IN"/>
          </a:p>
        </p:txBody>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Design Model — Sequence Diagrams</a:t>
            </a:r>
            <a:endParaRPr lang="en-US" sz="2600" dirty="0"/>
          </a:p>
        </p:txBody>
      </p:sp>
      <p:sp>
        <p:nvSpPr>
          <p:cNvPr id="4" name="Text 2"/>
          <p:cNvSpPr/>
          <p:nvPr/>
        </p:nvSpPr>
        <p:spPr>
          <a:xfrm>
            <a:off x="274320" y="1005840"/>
            <a:ext cx="4114800" cy="320040"/>
          </a:xfrm>
          <a:prstGeom prst="rect">
            <a:avLst/>
          </a:prstGeom>
          <a:noFill/>
          <a:ln/>
        </p:spPr>
        <p:txBody>
          <a:bodyPr wrap="square" lIns="0" tIns="0" rIns="0" bIns="0" rtlCol="0" anchor="ctr"/>
          <a:lstStyle/>
          <a:p>
            <a:pPr marL="0" indent="0">
              <a:buNone/>
            </a:pPr>
            <a:r>
              <a:rPr lang="en-US" sz="1300" b="1" dirty="0">
                <a:solidFill>
                  <a:srgbClr val="1B4F72"/>
                </a:solidFill>
                <a:latin typeface="Calibri" pitchFamily="34" charset="0"/>
                <a:ea typeface="Calibri" pitchFamily="34" charset="-122"/>
                <a:cs typeface="Calibri" pitchFamily="34" charset="-120"/>
              </a:rPr>
              <a:t>Room Booking Sequence</a:t>
            </a:r>
            <a:endParaRPr lang="en-US" sz="1300" dirty="0"/>
          </a:p>
        </p:txBody>
      </p:sp>
      <p:sp>
        <p:nvSpPr>
          <p:cNvPr id="5" name="Shape 3"/>
          <p:cNvSpPr/>
          <p:nvPr/>
        </p:nvSpPr>
        <p:spPr>
          <a:xfrm>
            <a:off x="365760" y="1389888"/>
            <a:ext cx="868680" cy="347472"/>
          </a:xfrm>
          <a:prstGeom prst="rect">
            <a:avLst/>
          </a:prstGeom>
          <a:solidFill>
            <a:srgbClr val="2E86C1"/>
          </a:solidFill>
          <a:ln w="12700">
            <a:solidFill>
              <a:srgbClr val="2E86C1"/>
            </a:solidFill>
            <a:prstDash val="solid"/>
          </a:ln>
        </p:spPr>
        <p:txBody>
          <a:bodyPr/>
          <a:lstStyle/>
          <a:p>
            <a:endParaRPr lang="en-IN"/>
          </a:p>
        </p:txBody>
      </p:sp>
      <p:sp>
        <p:nvSpPr>
          <p:cNvPr id="6" name="Text 4"/>
          <p:cNvSpPr/>
          <p:nvPr/>
        </p:nvSpPr>
        <p:spPr>
          <a:xfrm>
            <a:off x="365760" y="1389888"/>
            <a:ext cx="86868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:User</a:t>
            </a:r>
            <a:endParaRPr lang="en-US" sz="800" dirty="0"/>
          </a:p>
        </p:txBody>
      </p:sp>
      <p:sp>
        <p:nvSpPr>
          <p:cNvPr id="7" name="Shape 5"/>
          <p:cNvSpPr/>
          <p:nvPr/>
        </p:nvSpPr>
        <p:spPr>
          <a:xfrm>
            <a:off x="800100" y="1737360"/>
            <a:ext cx="0" cy="3017520"/>
          </a:xfrm>
          <a:prstGeom prst="line">
            <a:avLst/>
          </a:prstGeom>
          <a:noFill/>
          <a:ln w="12700">
            <a:solidFill>
              <a:srgbClr val="7F8C8D"/>
            </a:solidFill>
            <a:prstDash val="dash"/>
          </a:ln>
        </p:spPr>
        <p:txBody>
          <a:bodyPr/>
          <a:lstStyle/>
          <a:p>
            <a:endParaRPr lang="en-IN"/>
          </a:p>
        </p:txBody>
      </p:sp>
      <p:sp>
        <p:nvSpPr>
          <p:cNvPr id="8" name="Shape 6"/>
          <p:cNvSpPr/>
          <p:nvPr/>
        </p:nvSpPr>
        <p:spPr>
          <a:xfrm>
            <a:off x="1463040" y="1389888"/>
            <a:ext cx="868680" cy="347472"/>
          </a:xfrm>
          <a:prstGeom prst="rect">
            <a:avLst/>
          </a:prstGeom>
          <a:solidFill>
            <a:srgbClr val="2E86C1"/>
          </a:solidFill>
          <a:ln w="12700">
            <a:solidFill>
              <a:srgbClr val="2E86C1"/>
            </a:solidFill>
            <a:prstDash val="solid"/>
          </a:ln>
        </p:spPr>
        <p:txBody>
          <a:bodyPr/>
          <a:lstStyle/>
          <a:p>
            <a:endParaRPr lang="en-IN"/>
          </a:p>
        </p:txBody>
      </p:sp>
      <p:sp>
        <p:nvSpPr>
          <p:cNvPr id="9" name="Text 7"/>
          <p:cNvSpPr/>
          <p:nvPr/>
        </p:nvSpPr>
        <p:spPr>
          <a:xfrm>
            <a:off x="1463040" y="1389888"/>
            <a:ext cx="86868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:BookingUI</a:t>
            </a:r>
            <a:endParaRPr lang="en-US" sz="800" dirty="0"/>
          </a:p>
        </p:txBody>
      </p:sp>
      <p:sp>
        <p:nvSpPr>
          <p:cNvPr id="10" name="Shape 8"/>
          <p:cNvSpPr/>
          <p:nvPr/>
        </p:nvSpPr>
        <p:spPr>
          <a:xfrm>
            <a:off x="1897380" y="1737360"/>
            <a:ext cx="0" cy="3017520"/>
          </a:xfrm>
          <a:prstGeom prst="line">
            <a:avLst/>
          </a:prstGeom>
          <a:noFill/>
          <a:ln w="12700">
            <a:solidFill>
              <a:srgbClr val="7F8C8D"/>
            </a:solidFill>
            <a:prstDash val="dash"/>
          </a:ln>
        </p:spPr>
        <p:txBody>
          <a:bodyPr/>
          <a:lstStyle/>
          <a:p>
            <a:endParaRPr lang="en-IN"/>
          </a:p>
        </p:txBody>
      </p:sp>
      <p:sp>
        <p:nvSpPr>
          <p:cNvPr id="11" name="Shape 9"/>
          <p:cNvSpPr/>
          <p:nvPr/>
        </p:nvSpPr>
        <p:spPr>
          <a:xfrm>
            <a:off x="2651760" y="1389888"/>
            <a:ext cx="868680" cy="347472"/>
          </a:xfrm>
          <a:prstGeom prst="rect">
            <a:avLst/>
          </a:prstGeom>
          <a:solidFill>
            <a:srgbClr val="2E86C1"/>
          </a:solidFill>
          <a:ln w="12700">
            <a:solidFill>
              <a:srgbClr val="2E86C1"/>
            </a:solidFill>
            <a:prstDash val="solid"/>
          </a:ln>
        </p:spPr>
        <p:txBody>
          <a:bodyPr/>
          <a:lstStyle/>
          <a:p>
            <a:endParaRPr lang="en-IN"/>
          </a:p>
        </p:txBody>
      </p:sp>
      <p:sp>
        <p:nvSpPr>
          <p:cNvPr id="12" name="Text 10"/>
          <p:cNvSpPr/>
          <p:nvPr/>
        </p:nvSpPr>
        <p:spPr>
          <a:xfrm>
            <a:off x="2651760" y="1389888"/>
            <a:ext cx="86868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:BookingCtrl</a:t>
            </a:r>
            <a:endParaRPr lang="en-US" sz="800" dirty="0"/>
          </a:p>
        </p:txBody>
      </p:sp>
      <p:sp>
        <p:nvSpPr>
          <p:cNvPr id="13" name="Shape 11"/>
          <p:cNvSpPr/>
          <p:nvPr/>
        </p:nvSpPr>
        <p:spPr>
          <a:xfrm>
            <a:off x="3086100" y="1737360"/>
            <a:ext cx="0" cy="3017520"/>
          </a:xfrm>
          <a:prstGeom prst="line">
            <a:avLst/>
          </a:prstGeom>
          <a:noFill/>
          <a:ln w="12700">
            <a:solidFill>
              <a:srgbClr val="7F8C8D"/>
            </a:solidFill>
            <a:prstDash val="dash"/>
          </a:ln>
        </p:spPr>
        <p:txBody>
          <a:bodyPr/>
          <a:lstStyle/>
          <a:p>
            <a:endParaRPr lang="en-IN"/>
          </a:p>
        </p:txBody>
      </p:sp>
      <p:sp>
        <p:nvSpPr>
          <p:cNvPr id="14" name="Shape 12"/>
          <p:cNvSpPr/>
          <p:nvPr/>
        </p:nvSpPr>
        <p:spPr>
          <a:xfrm>
            <a:off x="3749040" y="1389888"/>
            <a:ext cx="868680" cy="347472"/>
          </a:xfrm>
          <a:prstGeom prst="rect">
            <a:avLst/>
          </a:prstGeom>
          <a:solidFill>
            <a:srgbClr val="2E86C1"/>
          </a:solidFill>
          <a:ln w="12700">
            <a:solidFill>
              <a:srgbClr val="2E86C1"/>
            </a:solidFill>
            <a:prstDash val="solid"/>
          </a:ln>
        </p:spPr>
        <p:txBody>
          <a:bodyPr/>
          <a:lstStyle/>
          <a:p>
            <a:endParaRPr lang="en-IN"/>
          </a:p>
        </p:txBody>
      </p:sp>
      <p:sp>
        <p:nvSpPr>
          <p:cNvPr id="15" name="Text 13"/>
          <p:cNvSpPr/>
          <p:nvPr/>
        </p:nvSpPr>
        <p:spPr>
          <a:xfrm>
            <a:off x="3749040" y="1389888"/>
            <a:ext cx="86868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:RoomDB</a:t>
            </a:r>
            <a:endParaRPr lang="en-US" sz="800" dirty="0"/>
          </a:p>
        </p:txBody>
      </p:sp>
      <p:sp>
        <p:nvSpPr>
          <p:cNvPr id="16" name="Shape 14"/>
          <p:cNvSpPr/>
          <p:nvPr/>
        </p:nvSpPr>
        <p:spPr>
          <a:xfrm>
            <a:off x="4183380" y="1737360"/>
            <a:ext cx="0" cy="3017520"/>
          </a:xfrm>
          <a:prstGeom prst="line">
            <a:avLst/>
          </a:prstGeom>
          <a:noFill/>
          <a:ln w="12700">
            <a:solidFill>
              <a:srgbClr val="7F8C8D"/>
            </a:solidFill>
            <a:prstDash val="dash"/>
          </a:ln>
        </p:spPr>
        <p:txBody>
          <a:bodyPr/>
          <a:lstStyle/>
          <a:p>
            <a:endParaRPr lang="en-IN"/>
          </a:p>
        </p:txBody>
      </p:sp>
      <p:sp>
        <p:nvSpPr>
          <p:cNvPr id="17" name="Shape 15"/>
          <p:cNvSpPr/>
          <p:nvPr/>
        </p:nvSpPr>
        <p:spPr>
          <a:xfrm>
            <a:off x="800100" y="1920240"/>
            <a:ext cx="1097280" cy="0"/>
          </a:xfrm>
          <a:prstGeom prst="line">
            <a:avLst/>
          </a:prstGeom>
          <a:noFill/>
          <a:ln w="12700">
            <a:solidFill>
              <a:srgbClr val="1B4F72"/>
            </a:solidFill>
            <a:prstDash val="solid"/>
          </a:ln>
        </p:spPr>
        <p:txBody>
          <a:bodyPr/>
          <a:lstStyle/>
          <a:p>
            <a:endParaRPr lang="en-IN"/>
          </a:p>
        </p:txBody>
      </p:sp>
      <p:sp>
        <p:nvSpPr>
          <p:cNvPr id="18" name="Text 16"/>
          <p:cNvSpPr/>
          <p:nvPr/>
        </p:nvSpPr>
        <p:spPr>
          <a:xfrm>
            <a:off x="845820" y="1719072"/>
            <a:ext cx="105156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1. searchRooms()</a:t>
            </a:r>
            <a:endParaRPr lang="en-US" sz="750" dirty="0"/>
          </a:p>
        </p:txBody>
      </p:sp>
      <p:sp>
        <p:nvSpPr>
          <p:cNvPr id="19" name="Shape 17"/>
          <p:cNvSpPr/>
          <p:nvPr/>
        </p:nvSpPr>
        <p:spPr>
          <a:xfrm>
            <a:off x="1897380" y="2194560"/>
            <a:ext cx="1188720" cy="0"/>
          </a:xfrm>
          <a:prstGeom prst="line">
            <a:avLst/>
          </a:prstGeom>
          <a:noFill/>
          <a:ln w="12700">
            <a:solidFill>
              <a:srgbClr val="1B4F72"/>
            </a:solidFill>
            <a:prstDash val="solid"/>
          </a:ln>
        </p:spPr>
        <p:txBody>
          <a:bodyPr/>
          <a:lstStyle/>
          <a:p>
            <a:endParaRPr lang="en-IN"/>
          </a:p>
        </p:txBody>
      </p:sp>
      <p:sp>
        <p:nvSpPr>
          <p:cNvPr id="20" name="Text 18"/>
          <p:cNvSpPr/>
          <p:nvPr/>
        </p:nvSpPr>
        <p:spPr>
          <a:xfrm>
            <a:off x="1943100" y="1993392"/>
            <a:ext cx="114300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2. queryAvailable()</a:t>
            </a:r>
            <a:endParaRPr lang="en-US" sz="750" dirty="0"/>
          </a:p>
        </p:txBody>
      </p:sp>
      <p:sp>
        <p:nvSpPr>
          <p:cNvPr id="21" name="Shape 19"/>
          <p:cNvSpPr/>
          <p:nvPr/>
        </p:nvSpPr>
        <p:spPr>
          <a:xfrm>
            <a:off x="3086100" y="2468880"/>
            <a:ext cx="1097280" cy="0"/>
          </a:xfrm>
          <a:prstGeom prst="line">
            <a:avLst/>
          </a:prstGeom>
          <a:noFill/>
          <a:ln w="12700">
            <a:solidFill>
              <a:srgbClr val="1B4F72"/>
            </a:solidFill>
            <a:prstDash val="solid"/>
          </a:ln>
        </p:spPr>
        <p:txBody>
          <a:bodyPr/>
          <a:lstStyle/>
          <a:p>
            <a:endParaRPr lang="en-IN"/>
          </a:p>
        </p:txBody>
      </p:sp>
      <p:sp>
        <p:nvSpPr>
          <p:cNvPr id="22" name="Text 20"/>
          <p:cNvSpPr/>
          <p:nvPr/>
        </p:nvSpPr>
        <p:spPr>
          <a:xfrm>
            <a:off x="3131820" y="2267712"/>
            <a:ext cx="105156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3. fetchRooms()</a:t>
            </a:r>
            <a:endParaRPr lang="en-US" sz="750" dirty="0"/>
          </a:p>
        </p:txBody>
      </p:sp>
      <p:sp>
        <p:nvSpPr>
          <p:cNvPr id="23" name="Shape 21"/>
          <p:cNvSpPr/>
          <p:nvPr/>
        </p:nvSpPr>
        <p:spPr>
          <a:xfrm>
            <a:off x="4183380" y="2743200"/>
            <a:ext cx="1097280" cy="0"/>
          </a:xfrm>
          <a:prstGeom prst="line">
            <a:avLst/>
          </a:prstGeom>
          <a:noFill/>
          <a:ln w="12700">
            <a:solidFill>
              <a:srgbClr val="1B4F72"/>
            </a:solidFill>
            <a:prstDash val="solid"/>
          </a:ln>
        </p:spPr>
        <p:txBody>
          <a:bodyPr/>
          <a:lstStyle/>
          <a:p>
            <a:endParaRPr lang="en-IN"/>
          </a:p>
        </p:txBody>
      </p:sp>
      <p:sp>
        <p:nvSpPr>
          <p:cNvPr id="24" name="Text 22"/>
          <p:cNvSpPr/>
          <p:nvPr/>
        </p:nvSpPr>
        <p:spPr>
          <a:xfrm>
            <a:off x="3131820" y="2542032"/>
            <a:ext cx="105156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4. roomList</a:t>
            </a:r>
            <a:endParaRPr lang="en-US" sz="750" dirty="0"/>
          </a:p>
        </p:txBody>
      </p:sp>
      <p:sp>
        <p:nvSpPr>
          <p:cNvPr id="25" name="Shape 23"/>
          <p:cNvSpPr/>
          <p:nvPr/>
        </p:nvSpPr>
        <p:spPr>
          <a:xfrm>
            <a:off x="3086100" y="3017520"/>
            <a:ext cx="1188720" cy="0"/>
          </a:xfrm>
          <a:prstGeom prst="line">
            <a:avLst/>
          </a:prstGeom>
          <a:noFill/>
          <a:ln w="12700">
            <a:solidFill>
              <a:srgbClr val="1B4F72"/>
            </a:solidFill>
            <a:prstDash val="solid"/>
          </a:ln>
        </p:spPr>
        <p:txBody>
          <a:bodyPr/>
          <a:lstStyle/>
          <a:p>
            <a:endParaRPr lang="en-IN"/>
          </a:p>
        </p:txBody>
      </p:sp>
      <p:sp>
        <p:nvSpPr>
          <p:cNvPr id="26" name="Text 24"/>
          <p:cNvSpPr/>
          <p:nvPr/>
        </p:nvSpPr>
        <p:spPr>
          <a:xfrm>
            <a:off x="1943100" y="2816352"/>
            <a:ext cx="114300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5. displayRooms()</a:t>
            </a:r>
            <a:endParaRPr lang="en-US" sz="750" dirty="0"/>
          </a:p>
        </p:txBody>
      </p:sp>
      <p:sp>
        <p:nvSpPr>
          <p:cNvPr id="27" name="Shape 25"/>
          <p:cNvSpPr/>
          <p:nvPr/>
        </p:nvSpPr>
        <p:spPr>
          <a:xfrm>
            <a:off x="800100" y="3291840"/>
            <a:ext cx="1097280" cy="0"/>
          </a:xfrm>
          <a:prstGeom prst="line">
            <a:avLst/>
          </a:prstGeom>
          <a:noFill/>
          <a:ln w="12700">
            <a:solidFill>
              <a:srgbClr val="1B4F72"/>
            </a:solidFill>
            <a:prstDash val="solid"/>
          </a:ln>
        </p:spPr>
        <p:txBody>
          <a:bodyPr/>
          <a:lstStyle/>
          <a:p>
            <a:endParaRPr lang="en-IN"/>
          </a:p>
        </p:txBody>
      </p:sp>
      <p:sp>
        <p:nvSpPr>
          <p:cNvPr id="28" name="Text 26"/>
          <p:cNvSpPr/>
          <p:nvPr/>
        </p:nvSpPr>
        <p:spPr>
          <a:xfrm>
            <a:off x="845820" y="3090672"/>
            <a:ext cx="105156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6. confirmBooking()</a:t>
            </a:r>
            <a:endParaRPr lang="en-US" sz="750" dirty="0"/>
          </a:p>
        </p:txBody>
      </p:sp>
      <p:sp>
        <p:nvSpPr>
          <p:cNvPr id="29" name="Shape 27"/>
          <p:cNvSpPr/>
          <p:nvPr/>
        </p:nvSpPr>
        <p:spPr>
          <a:xfrm>
            <a:off x="1897380" y="3566160"/>
            <a:ext cx="1188720" cy="0"/>
          </a:xfrm>
          <a:prstGeom prst="line">
            <a:avLst/>
          </a:prstGeom>
          <a:noFill/>
          <a:ln w="12700">
            <a:solidFill>
              <a:srgbClr val="1B4F72"/>
            </a:solidFill>
            <a:prstDash val="solid"/>
          </a:ln>
        </p:spPr>
        <p:txBody>
          <a:bodyPr/>
          <a:lstStyle/>
          <a:p>
            <a:endParaRPr lang="en-IN"/>
          </a:p>
        </p:txBody>
      </p:sp>
      <p:sp>
        <p:nvSpPr>
          <p:cNvPr id="30" name="Text 28"/>
          <p:cNvSpPr/>
          <p:nvPr/>
        </p:nvSpPr>
        <p:spPr>
          <a:xfrm>
            <a:off x="1943100" y="3364992"/>
            <a:ext cx="114300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7. createBooking()</a:t>
            </a:r>
            <a:endParaRPr lang="en-US" sz="750" dirty="0"/>
          </a:p>
        </p:txBody>
      </p:sp>
      <p:sp>
        <p:nvSpPr>
          <p:cNvPr id="31" name="Shape 29"/>
          <p:cNvSpPr/>
          <p:nvPr/>
        </p:nvSpPr>
        <p:spPr>
          <a:xfrm>
            <a:off x="3086100" y="3840480"/>
            <a:ext cx="1097280" cy="0"/>
          </a:xfrm>
          <a:prstGeom prst="line">
            <a:avLst/>
          </a:prstGeom>
          <a:noFill/>
          <a:ln w="12700">
            <a:solidFill>
              <a:srgbClr val="1B4F72"/>
            </a:solidFill>
            <a:prstDash val="solid"/>
          </a:ln>
        </p:spPr>
        <p:txBody>
          <a:bodyPr/>
          <a:lstStyle/>
          <a:p>
            <a:endParaRPr lang="en-IN"/>
          </a:p>
        </p:txBody>
      </p:sp>
      <p:sp>
        <p:nvSpPr>
          <p:cNvPr id="32" name="Text 30"/>
          <p:cNvSpPr/>
          <p:nvPr/>
        </p:nvSpPr>
        <p:spPr>
          <a:xfrm>
            <a:off x="3131820" y="3639312"/>
            <a:ext cx="105156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8. saveBooking()</a:t>
            </a:r>
            <a:endParaRPr lang="en-US" sz="750" dirty="0"/>
          </a:p>
        </p:txBody>
      </p:sp>
      <p:sp>
        <p:nvSpPr>
          <p:cNvPr id="33" name="Shape 31"/>
          <p:cNvSpPr/>
          <p:nvPr/>
        </p:nvSpPr>
        <p:spPr>
          <a:xfrm>
            <a:off x="4183380" y="4114800"/>
            <a:ext cx="1097280" cy="0"/>
          </a:xfrm>
          <a:prstGeom prst="line">
            <a:avLst/>
          </a:prstGeom>
          <a:noFill/>
          <a:ln w="12700">
            <a:solidFill>
              <a:srgbClr val="1B4F72"/>
            </a:solidFill>
            <a:prstDash val="solid"/>
          </a:ln>
        </p:spPr>
        <p:txBody>
          <a:bodyPr/>
          <a:lstStyle/>
          <a:p>
            <a:endParaRPr lang="en-IN"/>
          </a:p>
        </p:txBody>
      </p:sp>
      <p:sp>
        <p:nvSpPr>
          <p:cNvPr id="34" name="Text 32"/>
          <p:cNvSpPr/>
          <p:nvPr/>
        </p:nvSpPr>
        <p:spPr>
          <a:xfrm>
            <a:off x="3131820" y="3913632"/>
            <a:ext cx="105156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9. success</a:t>
            </a:r>
            <a:endParaRPr lang="en-US" sz="750" dirty="0"/>
          </a:p>
        </p:txBody>
      </p:sp>
      <p:sp>
        <p:nvSpPr>
          <p:cNvPr id="35" name="Shape 33"/>
          <p:cNvSpPr/>
          <p:nvPr/>
        </p:nvSpPr>
        <p:spPr>
          <a:xfrm>
            <a:off x="3086100" y="4389120"/>
            <a:ext cx="2286000" cy="0"/>
          </a:xfrm>
          <a:prstGeom prst="line">
            <a:avLst/>
          </a:prstGeom>
          <a:noFill/>
          <a:ln w="12700">
            <a:solidFill>
              <a:srgbClr val="1B4F72"/>
            </a:solidFill>
            <a:prstDash val="solid"/>
          </a:ln>
        </p:spPr>
        <p:txBody>
          <a:bodyPr/>
          <a:lstStyle/>
          <a:p>
            <a:endParaRPr lang="en-IN"/>
          </a:p>
        </p:txBody>
      </p:sp>
      <p:sp>
        <p:nvSpPr>
          <p:cNvPr id="36" name="Text 34"/>
          <p:cNvSpPr/>
          <p:nvPr/>
        </p:nvSpPr>
        <p:spPr>
          <a:xfrm>
            <a:off x="845820" y="4187952"/>
            <a:ext cx="224028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10. confirmation</a:t>
            </a:r>
            <a:endParaRPr lang="en-US" sz="750" dirty="0"/>
          </a:p>
        </p:txBody>
      </p:sp>
      <p:sp>
        <p:nvSpPr>
          <p:cNvPr id="37" name="Text 35"/>
          <p:cNvSpPr/>
          <p:nvPr/>
        </p:nvSpPr>
        <p:spPr>
          <a:xfrm>
            <a:off x="4846320" y="1005840"/>
            <a:ext cx="4114800" cy="320040"/>
          </a:xfrm>
          <a:prstGeom prst="rect">
            <a:avLst/>
          </a:prstGeom>
          <a:noFill/>
          <a:ln/>
        </p:spPr>
        <p:txBody>
          <a:bodyPr wrap="square" lIns="0" tIns="0" rIns="0" bIns="0" rtlCol="0" anchor="ctr"/>
          <a:lstStyle/>
          <a:p>
            <a:pPr marL="0" indent="0">
              <a:buNone/>
            </a:pPr>
            <a:r>
              <a:rPr lang="en-US" sz="1300" b="1" dirty="0">
                <a:solidFill>
                  <a:srgbClr val="1B4F72"/>
                </a:solidFill>
                <a:latin typeface="Calibri" pitchFamily="34" charset="0"/>
                <a:ea typeface="Calibri" pitchFamily="34" charset="-122"/>
                <a:cs typeface="Calibri" pitchFamily="34" charset="-120"/>
              </a:rPr>
              <a:t>Maintenance Ticket Sequence</a:t>
            </a:r>
            <a:endParaRPr lang="en-US" sz="1300" dirty="0"/>
          </a:p>
        </p:txBody>
      </p:sp>
      <p:sp>
        <p:nvSpPr>
          <p:cNvPr id="38" name="Shape 36"/>
          <p:cNvSpPr/>
          <p:nvPr/>
        </p:nvSpPr>
        <p:spPr>
          <a:xfrm>
            <a:off x="4846320" y="1389888"/>
            <a:ext cx="868680" cy="347472"/>
          </a:xfrm>
          <a:prstGeom prst="rect">
            <a:avLst/>
          </a:prstGeom>
          <a:solidFill>
            <a:srgbClr val="1ABC9C"/>
          </a:solidFill>
          <a:ln w="12700">
            <a:solidFill>
              <a:srgbClr val="1ABC9C"/>
            </a:solidFill>
            <a:prstDash val="solid"/>
          </a:ln>
        </p:spPr>
        <p:txBody>
          <a:bodyPr/>
          <a:lstStyle/>
          <a:p>
            <a:endParaRPr lang="en-IN"/>
          </a:p>
        </p:txBody>
      </p:sp>
      <p:sp>
        <p:nvSpPr>
          <p:cNvPr id="39" name="Text 37"/>
          <p:cNvSpPr/>
          <p:nvPr/>
        </p:nvSpPr>
        <p:spPr>
          <a:xfrm>
            <a:off x="4846320" y="1389888"/>
            <a:ext cx="86868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:User</a:t>
            </a:r>
            <a:endParaRPr lang="en-US" sz="800" dirty="0"/>
          </a:p>
        </p:txBody>
      </p:sp>
      <p:sp>
        <p:nvSpPr>
          <p:cNvPr id="40" name="Shape 38"/>
          <p:cNvSpPr/>
          <p:nvPr/>
        </p:nvSpPr>
        <p:spPr>
          <a:xfrm>
            <a:off x="5280660" y="1737360"/>
            <a:ext cx="0" cy="3017520"/>
          </a:xfrm>
          <a:prstGeom prst="line">
            <a:avLst/>
          </a:prstGeom>
          <a:noFill/>
          <a:ln w="12700">
            <a:solidFill>
              <a:srgbClr val="7F8C8D"/>
            </a:solidFill>
            <a:prstDash val="dash"/>
          </a:ln>
        </p:spPr>
        <p:txBody>
          <a:bodyPr/>
          <a:lstStyle/>
          <a:p>
            <a:endParaRPr lang="en-IN"/>
          </a:p>
        </p:txBody>
      </p:sp>
      <p:sp>
        <p:nvSpPr>
          <p:cNvPr id="41" name="Shape 39"/>
          <p:cNvSpPr/>
          <p:nvPr/>
        </p:nvSpPr>
        <p:spPr>
          <a:xfrm>
            <a:off x="5943600" y="1389888"/>
            <a:ext cx="868680" cy="347472"/>
          </a:xfrm>
          <a:prstGeom prst="rect">
            <a:avLst/>
          </a:prstGeom>
          <a:solidFill>
            <a:srgbClr val="1ABC9C"/>
          </a:solidFill>
          <a:ln w="12700">
            <a:solidFill>
              <a:srgbClr val="1ABC9C"/>
            </a:solidFill>
            <a:prstDash val="solid"/>
          </a:ln>
        </p:spPr>
        <p:txBody>
          <a:bodyPr/>
          <a:lstStyle/>
          <a:p>
            <a:endParaRPr lang="en-IN"/>
          </a:p>
        </p:txBody>
      </p:sp>
      <p:sp>
        <p:nvSpPr>
          <p:cNvPr id="42" name="Text 40"/>
          <p:cNvSpPr/>
          <p:nvPr/>
        </p:nvSpPr>
        <p:spPr>
          <a:xfrm>
            <a:off x="5943600" y="1389888"/>
            <a:ext cx="86868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:TicketUI</a:t>
            </a:r>
            <a:endParaRPr lang="en-US" sz="800" dirty="0"/>
          </a:p>
        </p:txBody>
      </p:sp>
      <p:sp>
        <p:nvSpPr>
          <p:cNvPr id="43" name="Shape 41"/>
          <p:cNvSpPr/>
          <p:nvPr/>
        </p:nvSpPr>
        <p:spPr>
          <a:xfrm>
            <a:off x="6377940" y="1737360"/>
            <a:ext cx="0" cy="3017520"/>
          </a:xfrm>
          <a:prstGeom prst="line">
            <a:avLst/>
          </a:prstGeom>
          <a:noFill/>
          <a:ln w="12700">
            <a:solidFill>
              <a:srgbClr val="7F8C8D"/>
            </a:solidFill>
            <a:prstDash val="dash"/>
          </a:ln>
        </p:spPr>
        <p:txBody>
          <a:bodyPr/>
          <a:lstStyle/>
          <a:p>
            <a:endParaRPr lang="en-IN"/>
          </a:p>
        </p:txBody>
      </p:sp>
      <p:sp>
        <p:nvSpPr>
          <p:cNvPr id="44" name="Shape 42"/>
          <p:cNvSpPr/>
          <p:nvPr/>
        </p:nvSpPr>
        <p:spPr>
          <a:xfrm>
            <a:off x="7040880" y="1389888"/>
            <a:ext cx="868680" cy="347472"/>
          </a:xfrm>
          <a:prstGeom prst="rect">
            <a:avLst/>
          </a:prstGeom>
          <a:solidFill>
            <a:srgbClr val="1ABC9C"/>
          </a:solidFill>
          <a:ln w="12700">
            <a:solidFill>
              <a:srgbClr val="1ABC9C"/>
            </a:solidFill>
            <a:prstDash val="solid"/>
          </a:ln>
        </p:spPr>
        <p:txBody>
          <a:bodyPr/>
          <a:lstStyle/>
          <a:p>
            <a:endParaRPr lang="en-IN"/>
          </a:p>
        </p:txBody>
      </p:sp>
      <p:sp>
        <p:nvSpPr>
          <p:cNvPr id="45" name="Text 43"/>
          <p:cNvSpPr/>
          <p:nvPr/>
        </p:nvSpPr>
        <p:spPr>
          <a:xfrm>
            <a:off x="7040880" y="1389888"/>
            <a:ext cx="86868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:TicketCtrl</a:t>
            </a:r>
            <a:endParaRPr lang="en-US" sz="800" dirty="0"/>
          </a:p>
        </p:txBody>
      </p:sp>
      <p:sp>
        <p:nvSpPr>
          <p:cNvPr id="46" name="Shape 44"/>
          <p:cNvSpPr/>
          <p:nvPr/>
        </p:nvSpPr>
        <p:spPr>
          <a:xfrm>
            <a:off x="7475220" y="1737360"/>
            <a:ext cx="0" cy="3017520"/>
          </a:xfrm>
          <a:prstGeom prst="line">
            <a:avLst/>
          </a:prstGeom>
          <a:noFill/>
          <a:ln w="12700">
            <a:solidFill>
              <a:srgbClr val="7F8C8D"/>
            </a:solidFill>
            <a:prstDash val="dash"/>
          </a:ln>
        </p:spPr>
        <p:txBody>
          <a:bodyPr/>
          <a:lstStyle/>
          <a:p>
            <a:endParaRPr lang="en-IN"/>
          </a:p>
        </p:txBody>
      </p:sp>
      <p:sp>
        <p:nvSpPr>
          <p:cNvPr id="47" name="Shape 45"/>
          <p:cNvSpPr/>
          <p:nvPr/>
        </p:nvSpPr>
        <p:spPr>
          <a:xfrm>
            <a:off x="8092440" y="1389888"/>
            <a:ext cx="868680" cy="347472"/>
          </a:xfrm>
          <a:prstGeom prst="rect">
            <a:avLst/>
          </a:prstGeom>
          <a:solidFill>
            <a:srgbClr val="1ABC9C"/>
          </a:solidFill>
          <a:ln w="12700">
            <a:solidFill>
              <a:srgbClr val="1ABC9C"/>
            </a:solidFill>
            <a:prstDash val="solid"/>
          </a:ln>
        </p:spPr>
        <p:txBody>
          <a:bodyPr/>
          <a:lstStyle/>
          <a:p>
            <a:endParaRPr lang="en-IN"/>
          </a:p>
        </p:txBody>
      </p:sp>
      <p:sp>
        <p:nvSpPr>
          <p:cNvPr id="48" name="Text 46"/>
          <p:cNvSpPr/>
          <p:nvPr/>
        </p:nvSpPr>
        <p:spPr>
          <a:xfrm>
            <a:off x="8092440" y="1389888"/>
            <a:ext cx="86868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:TicketDB</a:t>
            </a:r>
            <a:endParaRPr lang="en-US" sz="800" dirty="0"/>
          </a:p>
        </p:txBody>
      </p:sp>
      <p:sp>
        <p:nvSpPr>
          <p:cNvPr id="49" name="Shape 47"/>
          <p:cNvSpPr/>
          <p:nvPr/>
        </p:nvSpPr>
        <p:spPr>
          <a:xfrm>
            <a:off x="8526780" y="1737360"/>
            <a:ext cx="0" cy="3017520"/>
          </a:xfrm>
          <a:prstGeom prst="line">
            <a:avLst/>
          </a:prstGeom>
          <a:noFill/>
          <a:ln w="12700">
            <a:solidFill>
              <a:srgbClr val="7F8C8D"/>
            </a:solidFill>
            <a:prstDash val="dash"/>
          </a:ln>
        </p:spPr>
        <p:txBody>
          <a:bodyPr/>
          <a:lstStyle/>
          <a:p>
            <a:endParaRPr lang="en-IN"/>
          </a:p>
        </p:txBody>
      </p:sp>
      <p:sp>
        <p:nvSpPr>
          <p:cNvPr id="50" name="Shape 48"/>
          <p:cNvSpPr/>
          <p:nvPr/>
        </p:nvSpPr>
        <p:spPr>
          <a:xfrm>
            <a:off x="5280660" y="1920240"/>
            <a:ext cx="1097280" cy="0"/>
          </a:xfrm>
          <a:prstGeom prst="line">
            <a:avLst/>
          </a:prstGeom>
          <a:noFill/>
          <a:ln w="12700">
            <a:solidFill>
              <a:srgbClr val="1ABC9C"/>
            </a:solidFill>
            <a:prstDash val="solid"/>
          </a:ln>
        </p:spPr>
        <p:txBody>
          <a:bodyPr/>
          <a:lstStyle/>
          <a:p>
            <a:endParaRPr lang="en-IN"/>
          </a:p>
        </p:txBody>
      </p:sp>
      <p:sp>
        <p:nvSpPr>
          <p:cNvPr id="51" name="Text 49"/>
          <p:cNvSpPr/>
          <p:nvPr/>
        </p:nvSpPr>
        <p:spPr>
          <a:xfrm>
            <a:off x="5326380" y="1719072"/>
            <a:ext cx="105156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1. fillTicketForm()</a:t>
            </a:r>
            <a:endParaRPr lang="en-US" sz="750" dirty="0"/>
          </a:p>
        </p:txBody>
      </p:sp>
      <p:sp>
        <p:nvSpPr>
          <p:cNvPr id="52" name="Shape 50"/>
          <p:cNvSpPr/>
          <p:nvPr/>
        </p:nvSpPr>
        <p:spPr>
          <a:xfrm>
            <a:off x="6377940" y="2194560"/>
            <a:ext cx="1097280" cy="0"/>
          </a:xfrm>
          <a:prstGeom prst="line">
            <a:avLst/>
          </a:prstGeom>
          <a:noFill/>
          <a:ln w="12700">
            <a:solidFill>
              <a:srgbClr val="1ABC9C"/>
            </a:solidFill>
            <a:prstDash val="solid"/>
          </a:ln>
        </p:spPr>
        <p:txBody>
          <a:bodyPr/>
          <a:lstStyle/>
          <a:p>
            <a:endParaRPr lang="en-IN"/>
          </a:p>
        </p:txBody>
      </p:sp>
      <p:sp>
        <p:nvSpPr>
          <p:cNvPr id="53" name="Text 51"/>
          <p:cNvSpPr/>
          <p:nvPr/>
        </p:nvSpPr>
        <p:spPr>
          <a:xfrm>
            <a:off x="6423660" y="1993392"/>
            <a:ext cx="105156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2. submitTicket()</a:t>
            </a:r>
            <a:endParaRPr lang="en-US" sz="750" dirty="0"/>
          </a:p>
        </p:txBody>
      </p:sp>
      <p:sp>
        <p:nvSpPr>
          <p:cNvPr id="54" name="Shape 52"/>
          <p:cNvSpPr/>
          <p:nvPr/>
        </p:nvSpPr>
        <p:spPr>
          <a:xfrm>
            <a:off x="7475220" y="2468880"/>
            <a:ext cx="1051560" cy="0"/>
          </a:xfrm>
          <a:prstGeom prst="line">
            <a:avLst/>
          </a:prstGeom>
          <a:noFill/>
          <a:ln w="12700">
            <a:solidFill>
              <a:srgbClr val="1ABC9C"/>
            </a:solidFill>
            <a:prstDash val="solid"/>
          </a:ln>
        </p:spPr>
        <p:txBody>
          <a:bodyPr/>
          <a:lstStyle/>
          <a:p>
            <a:endParaRPr lang="en-IN"/>
          </a:p>
        </p:txBody>
      </p:sp>
      <p:sp>
        <p:nvSpPr>
          <p:cNvPr id="55" name="Text 53"/>
          <p:cNvSpPr/>
          <p:nvPr/>
        </p:nvSpPr>
        <p:spPr>
          <a:xfrm>
            <a:off x="7520940" y="2267712"/>
            <a:ext cx="100584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3. saveTicket()</a:t>
            </a:r>
            <a:endParaRPr lang="en-US" sz="750" dirty="0"/>
          </a:p>
        </p:txBody>
      </p:sp>
      <p:sp>
        <p:nvSpPr>
          <p:cNvPr id="56" name="Shape 54"/>
          <p:cNvSpPr/>
          <p:nvPr/>
        </p:nvSpPr>
        <p:spPr>
          <a:xfrm>
            <a:off x="7475220" y="2743200"/>
            <a:ext cx="1051560" cy="0"/>
          </a:xfrm>
          <a:prstGeom prst="line">
            <a:avLst/>
          </a:prstGeom>
          <a:noFill/>
          <a:ln w="12700">
            <a:solidFill>
              <a:srgbClr val="1ABC9C"/>
            </a:solidFill>
            <a:prstDash val="solid"/>
          </a:ln>
        </p:spPr>
        <p:txBody>
          <a:bodyPr/>
          <a:lstStyle/>
          <a:p>
            <a:endParaRPr lang="en-IN"/>
          </a:p>
        </p:txBody>
      </p:sp>
      <p:sp>
        <p:nvSpPr>
          <p:cNvPr id="57" name="Text 55"/>
          <p:cNvSpPr/>
          <p:nvPr/>
        </p:nvSpPr>
        <p:spPr>
          <a:xfrm>
            <a:off x="7520940" y="2542032"/>
            <a:ext cx="100584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4. ticketId</a:t>
            </a:r>
            <a:endParaRPr lang="en-US" sz="750" dirty="0"/>
          </a:p>
        </p:txBody>
      </p:sp>
      <p:sp>
        <p:nvSpPr>
          <p:cNvPr id="58" name="Shape 56"/>
          <p:cNvSpPr/>
          <p:nvPr/>
        </p:nvSpPr>
        <p:spPr>
          <a:xfrm>
            <a:off x="5280660" y="3017520"/>
            <a:ext cx="2194560" cy="0"/>
          </a:xfrm>
          <a:prstGeom prst="line">
            <a:avLst/>
          </a:prstGeom>
          <a:noFill/>
          <a:ln w="12700">
            <a:solidFill>
              <a:srgbClr val="1ABC9C"/>
            </a:solidFill>
            <a:prstDash val="solid"/>
          </a:ln>
        </p:spPr>
        <p:txBody>
          <a:bodyPr/>
          <a:lstStyle/>
          <a:p>
            <a:endParaRPr lang="en-IN"/>
          </a:p>
        </p:txBody>
      </p:sp>
      <p:sp>
        <p:nvSpPr>
          <p:cNvPr id="59" name="Text 57"/>
          <p:cNvSpPr/>
          <p:nvPr/>
        </p:nvSpPr>
        <p:spPr>
          <a:xfrm>
            <a:off x="5326380" y="2816352"/>
            <a:ext cx="214884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5. confirmation</a:t>
            </a:r>
            <a:endParaRPr lang="en-US" sz="750" dirty="0"/>
          </a:p>
        </p:txBody>
      </p:sp>
      <p:sp>
        <p:nvSpPr>
          <p:cNvPr id="60" name="Shape 58"/>
          <p:cNvSpPr/>
          <p:nvPr/>
        </p:nvSpPr>
        <p:spPr>
          <a:xfrm>
            <a:off x="5280660" y="3474720"/>
            <a:ext cx="1097280" cy="0"/>
          </a:xfrm>
          <a:prstGeom prst="line">
            <a:avLst/>
          </a:prstGeom>
          <a:noFill/>
          <a:ln w="12700">
            <a:solidFill>
              <a:srgbClr val="1ABC9C"/>
            </a:solidFill>
            <a:prstDash val="solid"/>
          </a:ln>
        </p:spPr>
        <p:txBody>
          <a:bodyPr/>
          <a:lstStyle/>
          <a:p>
            <a:endParaRPr lang="en-IN"/>
          </a:p>
        </p:txBody>
      </p:sp>
      <p:sp>
        <p:nvSpPr>
          <p:cNvPr id="61" name="Text 59"/>
          <p:cNvSpPr/>
          <p:nvPr/>
        </p:nvSpPr>
        <p:spPr>
          <a:xfrm>
            <a:off x="5326380" y="3273552"/>
            <a:ext cx="105156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6. viewStatus()</a:t>
            </a:r>
            <a:endParaRPr lang="en-US" sz="750" dirty="0"/>
          </a:p>
        </p:txBody>
      </p:sp>
      <p:sp>
        <p:nvSpPr>
          <p:cNvPr id="62" name="Shape 60"/>
          <p:cNvSpPr/>
          <p:nvPr/>
        </p:nvSpPr>
        <p:spPr>
          <a:xfrm>
            <a:off x="6377940" y="3749040"/>
            <a:ext cx="1097280" cy="0"/>
          </a:xfrm>
          <a:prstGeom prst="line">
            <a:avLst/>
          </a:prstGeom>
          <a:noFill/>
          <a:ln w="12700">
            <a:solidFill>
              <a:srgbClr val="1ABC9C"/>
            </a:solidFill>
            <a:prstDash val="solid"/>
          </a:ln>
        </p:spPr>
        <p:txBody>
          <a:bodyPr/>
          <a:lstStyle/>
          <a:p>
            <a:endParaRPr lang="en-IN"/>
          </a:p>
        </p:txBody>
      </p:sp>
      <p:sp>
        <p:nvSpPr>
          <p:cNvPr id="63" name="Text 61"/>
          <p:cNvSpPr/>
          <p:nvPr/>
        </p:nvSpPr>
        <p:spPr>
          <a:xfrm>
            <a:off x="6423660" y="3547872"/>
            <a:ext cx="105156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7. getStatus()</a:t>
            </a:r>
            <a:endParaRPr lang="en-US" sz="750" dirty="0"/>
          </a:p>
        </p:txBody>
      </p:sp>
      <p:sp>
        <p:nvSpPr>
          <p:cNvPr id="64" name="Shape 62"/>
          <p:cNvSpPr/>
          <p:nvPr/>
        </p:nvSpPr>
        <p:spPr>
          <a:xfrm>
            <a:off x="7475220" y="4023360"/>
            <a:ext cx="1051560" cy="0"/>
          </a:xfrm>
          <a:prstGeom prst="line">
            <a:avLst/>
          </a:prstGeom>
          <a:noFill/>
          <a:ln w="12700">
            <a:solidFill>
              <a:srgbClr val="1ABC9C"/>
            </a:solidFill>
            <a:prstDash val="solid"/>
          </a:ln>
        </p:spPr>
        <p:txBody>
          <a:bodyPr/>
          <a:lstStyle/>
          <a:p>
            <a:endParaRPr lang="en-IN"/>
          </a:p>
        </p:txBody>
      </p:sp>
      <p:sp>
        <p:nvSpPr>
          <p:cNvPr id="65" name="Text 63"/>
          <p:cNvSpPr/>
          <p:nvPr/>
        </p:nvSpPr>
        <p:spPr>
          <a:xfrm>
            <a:off x="7520940" y="3822192"/>
            <a:ext cx="100584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8. queryStatus()</a:t>
            </a:r>
            <a:endParaRPr lang="en-US" sz="750" dirty="0"/>
          </a:p>
        </p:txBody>
      </p:sp>
      <p:sp>
        <p:nvSpPr>
          <p:cNvPr id="66" name="Shape 64"/>
          <p:cNvSpPr/>
          <p:nvPr/>
        </p:nvSpPr>
        <p:spPr>
          <a:xfrm>
            <a:off x="5280660" y="4297680"/>
            <a:ext cx="3246120" cy="0"/>
          </a:xfrm>
          <a:prstGeom prst="line">
            <a:avLst/>
          </a:prstGeom>
          <a:noFill/>
          <a:ln w="12700">
            <a:solidFill>
              <a:srgbClr val="1ABC9C"/>
            </a:solidFill>
            <a:prstDash val="solid"/>
          </a:ln>
        </p:spPr>
        <p:txBody>
          <a:bodyPr/>
          <a:lstStyle/>
          <a:p>
            <a:endParaRPr lang="en-IN"/>
          </a:p>
        </p:txBody>
      </p:sp>
      <p:sp>
        <p:nvSpPr>
          <p:cNvPr id="67" name="Text 65"/>
          <p:cNvSpPr/>
          <p:nvPr/>
        </p:nvSpPr>
        <p:spPr>
          <a:xfrm>
            <a:off x="5326380" y="4096512"/>
            <a:ext cx="3200400" cy="201168"/>
          </a:xfrm>
          <a:prstGeom prst="rect">
            <a:avLst/>
          </a:prstGeom>
          <a:noFill/>
          <a:ln/>
        </p:spPr>
        <p:txBody>
          <a:bodyPr wrap="square" lIns="0" tIns="0" rIns="0" bIns="0" rtlCol="0" anchor="ctr"/>
          <a:lstStyle/>
          <a:p>
            <a:pPr marL="0" indent="0">
              <a:buNone/>
            </a:pPr>
            <a:r>
              <a:rPr lang="en-US" sz="750" dirty="0">
                <a:solidFill>
                  <a:srgbClr val="0D1B2A"/>
                </a:solidFill>
                <a:latin typeface="Calibri" pitchFamily="34" charset="0"/>
                <a:ea typeface="Calibri" pitchFamily="34" charset="-122"/>
                <a:cs typeface="Calibri" pitchFamily="34" charset="-120"/>
              </a:rPr>
              <a:t>9. statusResult</a:t>
            </a:r>
            <a:endParaRPr lang="en-US" sz="750" dirty="0"/>
          </a:p>
        </p:txBody>
      </p:sp>
      <p:sp>
        <p:nvSpPr>
          <p:cNvPr id="68" name="Shape 66"/>
          <p:cNvSpPr/>
          <p:nvPr/>
        </p:nvSpPr>
        <p:spPr>
          <a:xfrm>
            <a:off x="4617720" y="914400"/>
            <a:ext cx="0" cy="4114800"/>
          </a:xfrm>
          <a:prstGeom prst="line">
            <a:avLst/>
          </a:prstGeom>
          <a:noFill/>
          <a:ln w="12700">
            <a:solidFill>
              <a:srgbClr val="ECF0F1"/>
            </a:solidFill>
            <a:prstDash val="dash"/>
          </a:ln>
        </p:spPr>
        <p:txBody>
          <a:bodyPr/>
          <a:lstStyle/>
          <a:p>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F72"/>
          </a:solidFill>
          <a:ln w="12700">
            <a:solidFill>
              <a:srgbClr val="1B4F72"/>
            </a:solidFill>
            <a:prstDash val="solid"/>
          </a:ln>
        </p:spPr>
        <p:txBody>
          <a:bodyPr/>
          <a:lstStyle/>
          <a:p>
            <a:endParaRPr lang="en-IN"/>
          </a:p>
        </p:txBody>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Design Model — State Diagrams</a:t>
            </a:r>
            <a:endParaRPr lang="en-US" sz="2600" dirty="0"/>
          </a:p>
        </p:txBody>
      </p:sp>
      <p:sp>
        <p:nvSpPr>
          <p:cNvPr id="4" name="Text 2"/>
          <p:cNvSpPr/>
          <p:nvPr/>
        </p:nvSpPr>
        <p:spPr>
          <a:xfrm>
            <a:off x="274320" y="1005840"/>
            <a:ext cx="3931920" cy="320040"/>
          </a:xfrm>
          <a:prstGeom prst="rect">
            <a:avLst/>
          </a:prstGeom>
          <a:noFill/>
          <a:ln/>
        </p:spPr>
        <p:txBody>
          <a:bodyPr wrap="square" lIns="0" tIns="0" rIns="0" bIns="0" rtlCol="0" anchor="ctr"/>
          <a:lstStyle/>
          <a:p>
            <a:pPr marL="0" indent="0">
              <a:buNone/>
            </a:pPr>
            <a:r>
              <a:rPr lang="en-US" sz="1300" b="1" dirty="0">
                <a:solidFill>
                  <a:srgbClr val="1B4F72"/>
                </a:solidFill>
                <a:latin typeface="Calibri" pitchFamily="34" charset="0"/>
                <a:ea typeface="Calibri" pitchFamily="34" charset="-122"/>
                <a:cs typeface="Calibri" pitchFamily="34" charset="-120"/>
              </a:rPr>
              <a:t>Booking State Machine</a:t>
            </a:r>
            <a:endParaRPr lang="en-US" sz="1300" dirty="0"/>
          </a:p>
        </p:txBody>
      </p:sp>
      <p:sp>
        <p:nvSpPr>
          <p:cNvPr id="5" name="Shape 3"/>
          <p:cNvSpPr/>
          <p:nvPr/>
        </p:nvSpPr>
        <p:spPr>
          <a:xfrm>
            <a:off x="457200" y="1417320"/>
            <a:ext cx="1691640" cy="548640"/>
          </a:xfrm>
          <a:prstGeom prst="rect">
            <a:avLst/>
          </a:prstGeom>
          <a:solidFill>
            <a:srgbClr val="2E86C1"/>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6" name="Text 4"/>
          <p:cNvSpPr/>
          <p:nvPr/>
        </p:nvSpPr>
        <p:spPr>
          <a:xfrm>
            <a:off x="457200" y="1417320"/>
            <a:ext cx="169164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Initiated</a:t>
            </a:r>
            <a:endParaRPr lang="en-US" sz="1000" dirty="0"/>
          </a:p>
        </p:txBody>
      </p:sp>
      <p:sp>
        <p:nvSpPr>
          <p:cNvPr id="7" name="Shape 5"/>
          <p:cNvSpPr/>
          <p:nvPr/>
        </p:nvSpPr>
        <p:spPr>
          <a:xfrm>
            <a:off x="457200" y="2194560"/>
            <a:ext cx="1691640" cy="548640"/>
          </a:xfrm>
          <a:prstGeom prst="rect">
            <a:avLst/>
          </a:prstGeom>
          <a:solidFill>
            <a:srgbClr val="2E86C1"/>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8" name="Text 6"/>
          <p:cNvSpPr/>
          <p:nvPr/>
        </p:nvSpPr>
        <p:spPr>
          <a:xfrm>
            <a:off x="457200" y="2194560"/>
            <a:ext cx="169164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Pending</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Confirmation</a:t>
            </a:r>
            <a:endParaRPr lang="en-US" sz="1000" dirty="0"/>
          </a:p>
        </p:txBody>
      </p:sp>
      <p:sp>
        <p:nvSpPr>
          <p:cNvPr id="9" name="Shape 7"/>
          <p:cNvSpPr/>
          <p:nvPr/>
        </p:nvSpPr>
        <p:spPr>
          <a:xfrm>
            <a:off x="457200" y="3017520"/>
            <a:ext cx="1691640" cy="548640"/>
          </a:xfrm>
          <a:prstGeom prst="rect">
            <a:avLst/>
          </a:prstGeom>
          <a:solidFill>
            <a:srgbClr val="1ABC9C"/>
          </a:solidFill>
          <a:ln w="12700">
            <a:solidFill>
              <a:srgbClr val="1ABC9C"/>
            </a:solidFill>
            <a:prstDash val="solid"/>
          </a:ln>
          <a:effectLst>
            <a:outerShdw blurRad="101600" dist="38100" dir="8100000" algn="bl" rotWithShape="0">
              <a:srgbClr val="000000">
                <a:alpha val="20000"/>
              </a:srgbClr>
            </a:outerShdw>
          </a:effectLst>
        </p:spPr>
        <p:txBody>
          <a:bodyPr/>
          <a:lstStyle/>
          <a:p>
            <a:endParaRPr lang="en-IN"/>
          </a:p>
        </p:txBody>
      </p:sp>
      <p:sp>
        <p:nvSpPr>
          <p:cNvPr id="10" name="Text 8"/>
          <p:cNvSpPr/>
          <p:nvPr/>
        </p:nvSpPr>
        <p:spPr>
          <a:xfrm>
            <a:off x="457200" y="3017520"/>
            <a:ext cx="169164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Confirmed</a:t>
            </a:r>
            <a:endParaRPr lang="en-US" sz="1000" dirty="0"/>
          </a:p>
        </p:txBody>
      </p:sp>
      <p:sp>
        <p:nvSpPr>
          <p:cNvPr id="11" name="Shape 9"/>
          <p:cNvSpPr/>
          <p:nvPr/>
        </p:nvSpPr>
        <p:spPr>
          <a:xfrm>
            <a:off x="457200" y="3840480"/>
            <a:ext cx="1691640" cy="548640"/>
          </a:xfrm>
          <a:prstGeom prst="rect">
            <a:avLst/>
          </a:prstGeom>
          <a:solidFill>
            <a:srgbClr val="1ABC9C"/>
          </a:solidFill>
          <a:ln w="12700">
            <a:solidFill>
              <a:srgbClr val="1ABC9C"/>
            </a:solidFill>
            <a:prstDash val="solid"/>
          </a:ln>
          <a:effectLst>
            <a:outerShdw blurRad="101600" dist="38100" dir="8100000" algn="bl" rotWithShape="0">
              <a:srgbClr val="000000">
                <a:alpha val="20000"/>
              </a:srgbClr>
            </a:outerShdw>
          </a:effectLst>
        </p:spPr>
        <p:txBody>
          <a:bodyPr/>
          <a:lstStyle/>
          <a:p>
            <a:endParaRPr lang="en-IN"/>
          </a:p>
        </p:txBody>
      </p:sp>
      <p:sp>
        <p:nvSpPr>
          <p:cNvPr id="12" name="Text 10"/>
          <p:cNvSpPr/>
          <p:nvPr/>
        </p:nvSpPr>
        <p:spPr>
          <a:xfrm>
            <a:off x="457200" y="3840480"/>
            <a:ext cx="169164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Checked-In</a:t>
            </a:r>
            <a:endParaRPr lang="en-US" sz="1000" dirty="0"/>
          </a:p>
        </p:txBody>
      </p:sp>
      <p:sp>
        <p:nvSpPr>
          <p:cNvPr id="13" name="Shape 11"/>
          <p:cNvSpPr/>
          <p:nvPr/>
        </p:nvSpPr>
        <p:spPr>
          <a:xfrm>
            <a:off x="457200" y="4663440"/>
            <a:ext cx="1691640" cy="548640"/>
          </a:xfrm>
          <a:prstGeom prst="rect">
            <a:avLst/>
          </a:prstGeom>
          <a:solidFill>
            <a:srgbClr val="27AE60"/>
          </a:solidFill>
          <a:ln w="12700">
            <a:solidFill>
              <a:srgbClr val="27AE60"/>
            </a:solidFill>
            <a:prstDash val="solid"/>
          </a:ln>
          <a:effectLst>
            <a:outerShdw blurRad="101600" dist="38100" dir="8100000" algn="bl" rotWithShape="0">
              <a:srgbClr val="000000">
                <a:alpha val="20000"/>
              </a:srgbClr>
            </a:outerShdw>
          </a:effectLst>
        </p:spPr>
        <p:txBody>
          <a:bodyPr/>
          <a:lstStyle/>
          <a:p>
            <a:endParaRPr lang="en-IN"/>
          </a:p>
        </p:txBody>
      </p:sp>
      <p:sp>
        <p:nvSpPr>
          <p:cNvPr id="14" name="Text 12"/>
          <p:cNvSpPr/>
          <p:nvPr/>
        </p:nvSpPr>
        <p:spPr>
          <a:xfrm>
            <a:off x="457200" y="4663440"/>
            <a:ext cx="169164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Completed</a:t>
            </a:r>
            <a:endParaRPr lang="en-US" sz="1000" dirty="0"/>
          </a:p>
        </p:txBody>
      </p:sp>
      <p:sp>
        <p:nvSpPr>
          <p:cNvPr id="15" name="Shape 13"/>
          <p:cNvSpPr/>
          <p:nvPr/>
        </p:nvSpPr>
        <p:spPr>
          <a:xfrm>
            <a:off x="2560320" y="3017520"/>
            <a:ext cx="1691640" cy="548640"/>
          </a:xfrm>
          <a:prstGeom prst="rect">
            <a:avLst/>
          </a:prstGeom>
          <a:solidFill>
            <a:srgbClr val="E74C3C"/>
          </a:solidFill>
          <a:ln w="12700">
            <a:solidFill>
              <a:srgbClr val="E74C3C"/>
            </a:solidFill>
            <a:prstDash val="solid"/>
          </a:ln>
          <a:effectLst>
            <a:outerShdw blurRad="101600" dist="38100" dir="8100000" algn="bl" rotWithShape="0">
              <a:srgbClr val="000000">
                <a:alpha val="20000"/>
              </a:srgbClr>
            </a:outerShdw>
          </a:effectLst>
        </p:spPr>
        <p:txBody>
          <a:bodyPr/>
          <a:lstStyle/>
          <a:p>
            <a:endParaRPr lang="en-IN"/>
          </a:p>
        </p:txBody>
      </p:sp>
      <p:sp>
        <p:nvSpPr>
          <p:cNvPr id="16" name="Text 14"/>
          <p:cNvSpPr/>
          <p:nvPr/>
        </p:nvSpPr>
        <p:spPr>
          <a:xfrm>
            <a:off x="2560320" y="3017520"/>
            <a:ext cx="169164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Cancelled</a:t>
            </a:r>
            <a:endParaRPr lang="en-US" sz="1000" dirty="0"/>
          </a:p>
        </p:txBody>
      </p:sp>
      <p:sp>
        <p:nvSpPr>
          <p:cNvPr id="17" name="Shape 15"/>
          <p:cNvSpPr/>
          <p:nvPr/>
        </p:nvSpPr>
        <p:spPr>
          <a:xfrm>
            <a:off x="1303020" y="1965960"/>
            <a:ext cx="0" cy="228600"/>
          </a:xfrm>
          <a:prstGeom prst="line">
            <a:avLst/>
          </a:prstGeom>
          <a:noFill/>
          <a:ln w="12700">
            <a:solidFill>
              <a:srgbClr val="7F8C8D"/>
            </a:solidFill>
            <a:prstDash val="solid"/>
          </a:ln>
        </p:spPr>
        <p:txBody>
          <a:bodyPr/>
          <a:lstStyle/>
          <a:p>
            <a:endParaRPr lang="en-IN"/>
          </a:p>
        </p:txBody>
      </p:sp>
      <p:sp>
        <p:nvSpPr>
          <p:cNvPr id="18" name="Text 16"/>
          <p:cNvSpPr/>
          <p:nvPr/>
        </p:nvSpPr>
        <p:spPr>
          <a:xfrm>
            <a:off x="1367028" y="1970532"/>
            <a:ext cx="914400" cy="228600"/>
          </a:xfrm>
          <a:prstGeom prst="rect">
            <a:avLst/>
          </a:prstGeom>
          <a:noFill/>
          <a:ln/>
        </p:spPr>
        <p:txBody>
          <a:bodyPr wrap="square" lIns="0" tIns="0" rIns="0" bIns="0" rtlCol="0" anchor="ctr"/>
          <a:lstStyle/>
          <a:p>
            <a:pPr marL="0" indent="0">
              <a:buNone/>
            </a:pPr>
            <a:r>
              <a:rPr lang="en-US" sz="800" dirty="0">
                <a:solidFill>
                  <a:srgbClr val="7F8C8D"/>
                </a:solidFill>
                <a:latin typeface="Calibri" pitchFamily="34" charset="0"/>
                <a:ea typeface="Calibri" pitchFamily="34" charset="-122"/>
                <a:cs typeface="Calibri" pitchFamily="34" charset="-120"/>
              </a:rPr>
              <a:t>submit()</a:t>
            </a:r>
            <a:endParaRPr lang="en-US" sz="800" dirty="0"/>
          </a:p>
        </p:txBody>
      </p:sp>
      <p:sp>
        <p:nvSpPr>
          <p:cNvPr id="19" name="Shape 17"/>
          <p:cNvSpPr/>
          <p:nvPr/>
        </p:nvSpPr>
        <p:spPr>
          <a:xfrm>
            <a:off x="1303020" y="2743200"/>
            <a:ext cx="0" cy="274320"/>
          </a:xfrm>
          <a:prstGeom prst="line">
            <a:avLst/>
          </a:prstGeom>
          <a:noFill/>
          <a:ln w="12700">
            <a:solidFill>
              <a:srgbClr val="7F8C8D"/>
            </a:solidFill>
            <a:prstDash val="solid"/>
          </a:ln>
        </p:spPr>
        <p:txBody>
          <a:bodyPr/>
          <a:lstStyle/>
          <a:p>
            <a:endParaRPr lang="en-IN"/>
          </a:p>
        </p:txBody>
      </p:sp>
      <p:sp>
        <p:nvSpPr>
          <p:cNvPr id="20" name="Text 18"/>
          <p:cNvSpPr/>
          <p:nvPr/>
        </p:nvSpPr>
        <p:spPr>
          <a:xfrm>
            <a:off x="1367028" y="2770632"/>
            <a:ext cx="914400" cy="228600"/>
          </a:xfrm>
          <a:prstGeom prst="rect">
            <a:avLst/>
          </a:prstGeom>
          <a:noFill/>
          <a:ln/>
        </p:spPr>
        <p:txBody>
          <a:bodyPr wrap="square" lIns="0" tIns="0" rIns="0" bIns="0" rtlCol="0" anchor="ctr"/>
          <a:lstStyle/>
          <a:p>
            <a:pPr marL="0" indent="0">
              <a:buNone/>
            </a:pPr>
            <a:r>
              <a:rPr lang="en-US" sz="800" dirty="0">
                <a:solidFill>
                  <a:srgbClr val="7F8C8D"/>
                </a:solidFill>
                <a:latin typeface="Calibri" pitchFamily="34" charset="0"/>
                <a:ea typeface="Calibri" pitchFamily="34" charset="-122"/>
                <a:cs typeface="Calibri" pitchFamily="34" charset="-120"/>
              </a:rPr>
              <a:t>confirm()</a:t>
            </a:r>
            <a:endParaRPr lang="en-US" sz="800" dirty="0"/>
          </a:p>
        </p:txBody>
      </p:sp>
      <p:sp>
        <p:nvSpPr>
          <p:cNvPr id="21" name="Shape 19"/>
          <p:cNvSpPr/>
          <p:nvPr/>
        </p:nvSpPr>
        <p:spPr>
          <a:xfrm>
            <a:off x="1303020" y="3566160"/>
            <a:ext cx="0" cy="274320"/>
          </a:xfrm>
          <a:prstGeom prst="line">
            <a:avLst/>
          </a:prstGeom>
          <a:noFill/>
          <a:ln w="12700">
            <a:solidFill>
              <a:srgbClr val="7F8C8D"/>
            </a:solidFill>
            <a:prstDash val="solid"/>
          </a:ln>
        </p:spPr>
        <p:txBody>
          <a:bodyPr/>
          <a:lstStyle/>
          <a:p>
            <a:endParaRPr lang="en-IN"/>
          </a:p>
        </p:txBody>
      </p:sp>
      <p:sp>
        <p:nvSpPr>
          <p:cNvPr id="22" name="Text 20"/>
          <p:cNvSpPr/>
          <p:nvPr/>
        </p:nvSpPr>
        <p:spPr>
          <a:xfrm>
            <a:off x="1367028" y="3593592"/>
            <a:ext cx="914400" cy="228600"/>
          </a:xfrm>
          <a:prstGeom prst="rect">
            <a:avLst/>
          </a:prstGeom>
          <a:noFill/>
          <a:ln/>
        </p:spPr>
        <p:txBody>
          <a:bodyPr wrap="square" lIns="0" tIns="0" rIns="0" bIns="0" rtlCol="0" anchor="ctr"/>
          <a:lstStyle/>
          <a:p>
            <a:pPr marL="0" indent="0">
              <a:buNone/>
            </a:pPr>
            <a:r>
              <a:rPr lang="en-US" sz="800" dirty="0">
                <a:solidFill>
                  <a:srgbClr val="7F8C8D"/>
                </a:solidFill>
                <a:latin typeface="Calibri" pitchFamily="34" charset="0"/>
                <a:ea typeface="Calibri" pitchFamily="34" charset="-122"/>
                <a:cs typeface="Calibri" pitchFamily="34" charset="-120"/>
              </a:rPr>
              <a:t>checkIn()</a:t>
            </a:r>
            <a:endParaRPr lang="en-US" sz="800" dirty="0"/>
          </a:p>
        </p:txBody>
      </p:sp>
      <p:sp>
        <p:nvSpPr>
          <p:cNvPr id="23" name="Shape 21"/>
          <p:cNvSpPr/>
          <p:nvPr/>
        </p:nvSpPr>
        <p:spPr>
          <a:xfrm>
            <a:off x="1303020" y="4389120"/>
            <a:ext cx="0" cy="274320"/>
          </a:xfrm>
          <a:prstGeom prst="line">
            <a:avLst/>
          </a:prstGeom>
          <a:noFill/>
          <a:ln w="12700">
            <a:solidFill>
              <a:srgbClr val="7F8C8D"/>
            </a:solidFill>
            <a:prstDash val="solid"/>
          </a:ln>
        </p:spPr>
        <p:txBody>
          <a:bodyPr/>
          <a:lstStyle/>
          <a:p>
            <a:endParaRPr lang="en-IN"/>
          </a:p>
        </p:txBody>
      </p:sp>
      <p:sp>
        <p:nvSpPr>
          <p:cNvPr id="24" name="Text 22"/>
          <p:cNvSpPr/>
          <p:nvPr/>
        </p:nvSpPr>
        <p:spPr>
          <a:xfrm>
            <a:off x="1367028" y="4416552"/>
            <a:ext cx="914400" cy="228600"/>
          </a:xfrm>
          <a:prstGeom prst="rect">
            <a:avLst/>
          </a:prstGeom>
          <a:noFill/>
          <a:ln/>
        </p:spPr>
        <p:txBody>
          <a:bodyPr wrap="square" lIns="0" tIns="0" rIns="0" bIns="0" rtlCol="0" anchor="ctr"/>
          <a:lstStyle/>
          <a:p>
            <a:pPr marL="0" indent="0">
              <a:buNone/>
            </a:pPr>
            <a:r>
              <a:rPr lang="en-US" sz="800" dirty="0">
                <a:solidFill>
                  <a:srgbClr val="7F8C8D"/>
                </a:solidFill>
                <a:latin typeface="Calibri" pitchFamily="34" charset="0"/>
                <a:ea typeface="Calibri" pitchFamily="34" charset="-122"/>
                <a:cs typeface="Calibri" pitchFamily="34" charset="-120"/>
              </a:rPr>
              <a:t>complete()</a:t>
            </a:r>
            <a:endParaRPr lang="en-US" sz="800" dirty="0"/>
          </a:p>
        </p:txBody>
      </p:sp>
      <p:sp>
        <p:nvSpPr>
          <p:cNvPr id="25" name="Shape 23"/>
          <p:cNvSpPr/>
          <p:nvPr/>
        </p:nvSpPr>
        <p:spPr>
          <a:xfrm>
            <a:off x="2148840" y="3291840"/>
            <a:ext cx="411480" cy="0"/>
          </a:xfrm>
          <a:prstGeom prst="line">
            <a:avLst/>
          </a:prstGeom>
          <a:noFill/>
          <a:ln w="12700">
            <a:solidFill>
              <a:srgbClr val="E74C3C"/>
            </a:solidFill>
            <a:prstDash val="solid"/>
          </a:ln>
        </p:spPr>
        <p:txBody>
          <a:bodyPr/>
          <a:lstStyle/>
          <a:p>
            <a:endParaRPr lang="en-IN"/>
          </a:p>
        </p:txBody>
      </p:sp>
      <p:sp>
        <p:nvSpPr>
          <p:cNvPr id="26" name="Text 24"/>
          <p:cNvSpPr/>
          <p:nvPr/>
        </p:nvSpPr>
        <p:spPr>
          <a:xfrm>
            <a:off x="2148840" y="3090672"/>
            <a:ext cx="731520" cy="201168"/>
          </a:xfrm>
          <a:prstGeom prst="rect">
            <a:avLst/>
          </a:prstGeom>
          <a:noFill/>
          <a:ln/>
        </p:spPr>
        <p:txBody>
          <a:bodyPr wrap="square" lIns="0" tIns="0" rIns="0" bIns="0" rtlCol="0" anchor="ctr"/>
          <a:lstStyle/>
          <a:p>
            <a:pPr marL="0" indent="0">
              <a:buNone/>
            </a:pPr>
            <a:r>
              <a:rPr lang="en-US" sz="800" dirty="0">
                <a:solidFill>
                  <a:srgbClr val="E74C3C"/>
                </a:solidFill>
                <a:latin typeface="Calibri" pitchFamily="34" charset="0"/>
                <a:ea typeface="Calibri" pitchFamily="34" charset="-122"/>
                <a:cs typeface="Calibri" pitchFamily="34" charset="-120"/>
              </a:rPr>
              <a:t>cancel()</a:t>
            </a:r>
            <a:endParaRPr lang="en-US" sz="800" dirty="0"/>
          </a:p>
        </p:txBody>
      </p:sp>
      <p:sp>
        <p:nvSpPr>
          <p:cNvPr id="27" name="Text 25"/>
          <p:cNvSpPr/>
          <p:nvPr/>
        </p:nvSpPr>
        <p:spPr>
          <a:xfrm>
            <a:off x="4754880" y="1005840"/>
            <a:ext cx="3931920" cy="320040"/>
          </a:xfrm>
          <a:prstGeom prst="rect">
            <a:avLst/>
          </a:prstGeom>
          <a:noFill/>
          <a:ln/>
        </p:spPr>
        <p:txBody>
          <a:bodyPr wrap="square" lIns="0" tIns="0" rIns="0" bIns="0" rtlCol="0" anchor="ctr"/>
          <a:lstStyle/>
          <a:p>
            <a:pPr marL="0" indent="0">
              <a:buNone/>
            </a:pPr>
            <a:r>
              <a:rPr lang="en-US" sz="1300" b="1" dirty="0">
                <a:solidFill>
                  <a:srgbClr val="1B4F72"/>
                </a:solidFill>
                <a:latin typeface="Calibri" pitchFamily="34" charset="0"/>
                <a:ea typeface="Calibri" pitchFamily="34" charset="-122"/>
                <a:cs typeface="Calibri" pitchFamily="34" charset="-120"/>
              </a:rPr>
              <a:t>Ticket State Machine</a:t>
            </a:r>
            <a:endParaRPr lang="en-US" sz="1300" dirty="0"/>
          </a:p>
        </p:txBody>
      </p:sp>
      <p:sp>
        <p:nvSpPr>
          <p:cNvPr id="28" name="Shape 26"/>
          <p:cNvSpPr/>
          <p:nvPr/>
        </p:nvSpPr>
        <p:spPr>
          <a:xfrm>
            <a:off x="4937760" y="1417320"/>
            <a:ext cx="1691640" cy="548640"/>
          </a:xfrm>
          <a:prstGeom prst="rect">
            <a:avLst/>
          </a:prstGeom>
          <a:solidFill>
            <a:srgbClr val="2E86C1"/>
          </a:solidFill>
          <a:ln w="12700">
            <a:solidFill>
              <a:srgbClr val="2E86C1"/>
            </a:solidFill>
            <a:prstDash val="solid"/>
          </a:ln>
          <a:effectLst>
            <a:outerShdw blurRad="101600" dist="38100" dir="8100000" algn="bl" rotWithShape="0">
              <a:srgbClr val="000000">
                <a:alpha val="20000"/>
              </a:srgbClr>
            </a:outerShdw>
          </a:effectLst>
        </p:spPr>
        <p:txBody>
          <a:bodyPr/>
          <a:lstStyle/>
          <a:p>
            <a:endParaRPr lang="en-IN"/>
          </a:p>
        </p:txBody>
      </p:sp>
      <p:sp>
        <p:nvSpPr>
          <p:cNvPr id="29" name="Text 27"/>
          <p:cNvSpPr/>
          <p:nvPr/>
        </p:nvSpPr>
        <p:spPr>
          <a:xfrm>
            <a:off x="4937760" y="1417320"/>
            <a:ext cx="169164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Created</a:t>
            </a:r>
            <a:endParaRPr lang="en-US" sz="1000" dirty="0"/>
          </a:p>
        </p:txBody>
      </p:sp>
      <p:sp>
        <p:nvSpPr>
          <p:cNvPr id="30" name="Shape 28"/>
          <p:cNvSpPr/>
          <p:nvPr/>
        </p:nvSpPr>
        <p:spPr>
          <a:xfrm>
            <a:off x="4937760" y="2286000"/>
            <a:ext cx="1691640" cy="548640"/>
          </a:xfrm>
          <a:prstGeom prst="rect">
            <a:avLst/>
          </a:prstGeom>
          <a:solidFill>
            <a:srgbClr val="E67E22"/>
          </a:solidFill>
          <a:ln w="12700">
            <a:solidFill>
              <a:srgbClr val="E67E22"/>
            </a:solidFill>
            <a:prstDash val="solid"/>
          </a:ln>
          <a:effectLst>
            <a:outerShdw blurRad="101600" dist="38100" dir="8100000" algn="bl" rotWithShape="0">
              <a:srgbClr val="000000">
                <a:alpha val="20000"/>
              </a:srgbClr>
            </a:outerShdw>
          </a:effectLst>
        </p:spPr>
        <p:txBody>
          <a:bodyPr/>
          <a:lstStyle/>
          <a:p>
            <a:endParaRPr lang="en-IN"/>
          </a:p>
        </p:txBody>
      </p:sp>
      <p:sp>
        <p:nvSpPr>
          <p:cNvPr id="31" name="Text 29"/>
          <p:cNvSpPr/>
          <p:nvPr/>
        </p:nvSpPr>
        <p:spPr>
          <a:xfrm>
            <a:off x="4937760" y="2286000"/>
            <a:ext cx="169164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Assigned</a:t>
            </a:r>
            <a:endParaRPr lang="en-US" sz="1000" dirty="0"/>
          </a:p>
        </p:txBody>
      </p:sp>
      <p:sp>
        <p:nvSpPr>
          <p:cNvPr id="32" name="Shape 30"/>
          <p:cNvSpPr/>
          <p:nvPr/>
        </p:nvSpPr>
        <p:spPr>
          <a:xfrm>
            <a:off x="4937760" y="3154680"/>
            <a:ext cx="1691640" cy="548640"/>
          </a:xfrm>
          <a:prstGeom prst="rect">
            <a:avLst/>
          </a:prstGeom>
          <a:solidFill>
            <a:srgbClr val="F39C12"/>
          </a:solidFill>
          <a:ln w="12700">
            <a:solidFill>
              <a:srgbClr val="F39C12"/>
            </a:solidFill>
            <a:prstDash val="solid"/>
          </a:ln>
          <a:effectLst>
            <a:outerShdw blurRad="101600" dist="38100" dir="8100000" algn="bl" rotWithShape="0">
              <a:srgbClr val="000000">
                <a:alpha val="20000"/>
              </a:srgbClr>
            </a:outerShdw>
          </a:effectLst>
        </p:spPr>
        <p:txBody>
          <a:bodyPr/>
          <a:lstStyle/>
          <a:p>
            <a:endParaRPr lang="en-IN"/>
          </a:p>
        </p:txBody>
      </p:sp>
      <p:sp>
        <p:nvSpPr>
          <p:cNvPr id="33" name="Text 31"/>
          <p:cNvSpPr/>
          <p:nvPr/>
        </p:nvSpPr>
        <p:spPr>
          <a:xfrm>
            <a:off x="4937760" y="3154680"/>
            <a:ext cx="169164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 Progress</a:t>
            </a:r>
            <a:endParaRPr lang="en-US" sz="1000" dirty="0"/>
          </a:p>
        </p:txBody>
      </p:sp>
      <p:sp>
        <p:nvSpPr>
          <p:cNvPr id="34" name="Shape 32"/>
          <p:cNvSpPr/>
          <p:nvPr/>
        </p:nvSpPr>
        <p:spPr>
          <a:xfrm>
            <a:off x="4937760" y="4023360"/>
            <a:ext cx="1691640" cy="548640"/>
          </a:xfrm>
          <a:prstGeom prst="rect">
            <a:avLst/>
          </a:prstGeom>
          <a:solidFill>
            <a:srgbClr val="1ABC9C"/>
          </a:solidFill>
          <a:ln w="12700">
            <a:solidFill>
              <a:srgbClr val="1ABC9C"/>
            </a:solidFill>
            <a:prstDash val="solid"/>
          </a:ln>
          <a:effectLst>
            <a:outerShdw blurRad="101600" dist="38100" dir="8100000" algn="bl" rotWithShape="0">
              <a:srgbClr val="000000">
                <a:alpha val="20000"/>
              </a:srgbClr>
            </a:outerShdw>
          </a:effectLst>
        </p:spPr>
        <p:txBody>
          <a:bodyPr/>
          <a:lstStyle/>
          <a:p>
            <a:endParaRPr lang="en-IN"/>
          </a:p>
        </p:txBody>
      </p:sp>
      <p:sp>
        <p:nvSpPr>
          <p:cNvPr id="35" name="Text 33"/>
          <p:cNvSpPr/>
          <p:nvPr/>
        </p:nvSpPr>
        <p:spPr>
          <a:xfrm>
            <a:off x="4937760" y="4023360"/>
            <a:ext cx="169164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Resolved</a:t>
            </a:r>
            <a:endParaRPr lang="en-US" sz="1000" dirty="0"/>
          </a:p>
        </p:txBody>
      </p:sp>
      <p:sp>
        <p:nvSpPr>
          <p:cNvPr id="36" name="Shape 34"/>
          <p:cNvSpPr/>
          <p:nvPr/>
        </p:nvSpPr>
        <p:spPr>
          <a:xfrm>
            <a:off x="4937760" y="4663440"/>
            <a:ext cx="1691640" cy="548640"/>
          </a:xfrm>
          <a:prstGeom prst="rect">
            <a:avLst/>
          </a:prstGeom>
          <a:solidFill>
            <a:srgbClr val="27AE60"/>
          </a:solidFill>
          <a:ln w="12700">
            <a:solidFill>
              <a:srgbClr val="27AE60"/>
            </a:solidFill>
            <a:prstDash val="solid"/>
          </a:ln>
          <a:effectLst>
            <a:outerShdw blurRad="101600" dist="38100" dir="8100000" algn="bl" rotWithShape="0">
              <a:srgbClr val="000000">
                <a:alpha val="20000"/>
              </a:srgbClr>
            </a:outerShdw>
          </a:effectLst>
        </p:spPr>
        <p:txBody>
          <a:bodyPr/>
          <a:lstStyle/>
          <a:p>
            <a:endParaRPr lang="en-IN"/>
          </a:p>
        </p:txBody>
      </p:sp>
      <p:sp>
        <p:nvSpPr>
          <p:cNvPr id="37" name="Text 35"/>
          <p:cNvSpPr/>
          <p:nvPr/>
        </p:nvSpPr>
        <p:spPr>
          <a:xfrm>
            <a:off x="4937760" y="4663440"/>
            <a:ext cx="169164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Closed</a:t>
            </a:r>
            <a:endParaRPr lang="en-US" sz="1000" dirty="0"/>
          </a:p>
        </p:txBody>
      </p:sp>
      <p:sp>
        <p:nvSpPr>
          <p:cNvPr id="38" name="Shape 36"/>
          <p:cNvSpPr/>
          <p:nvPr/>
        </p:nvSpPr>
        <p:spPr>
          <a:xfrm>
            <a:off x="7040880" y="3154680"/>
            <a:ext cx="1691640" cy="548640"/>
          </a:xfrm>
          <a:prstGeom prst="rect">
            <a:avLst/>
          </a:prstGeom>
          <a:solidFill>
            <a:srgbClr val="E74C3C"/>
          </a:solidFill>
          <a:ln w="12700">
            <a:solidFill>
              <a:srgbClr val="E74C3C"/>
            </a:solidFill>
            <a:prstDash val="solid"/>
          </a:ln>
          <a:effectLst>
            <a:outerShdw blurRad="101600" dist="38100" dir="8100000" algn="bl" rotWithShape="0">
              <a:srgbClr val="000000">
                <a:alpha val="20000"/>
              </a:srgbClr>
            </a:outerShdw>
          </a:effectLst>
        </p:spPr>
        <p:txBody>
          <a:bodyPr/>
          <a:lstStyle/>
          <a:p>
            <a:endParaRPr lang="en-IN"/>
          </a:p>
        </p:txBody>
      </p:sp>
      <p:sp>
        <p:nvSpPr>
          <p:cNvPr id="39" name="Text 37"/>
          <p:cNvSpPr/>
          <p:nvPr/>
        </p:nvSpPr>
        <p:spPr>
          <a:xfrm>
            <a:off x="7040880" y="3154680"/>
            <a:ext cx="1691640" cy="5486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Rejected</a:t>
            </a:r>
            <a:endParaRPr lang="en-US" sz="1000" dirty="0"/>
          </a:p>
        </p:txBody>
      </p:sp>
      <p:sp>
        <p:nvSpPr>
          <p:cNvPr id="40" name="Shape 38"/>
          <p:cNvSpPr/>
          <p:nvPr/>
        </p:nvSpPr>
        <p:spPr>
          <a:xfrm>
            <a:off x="5783580" y="1965960"/>
            <a:ext cx="0" cy="320040"/>
          </a:xfrm>
          <a:prstGeom prst="line">
            <a:avLst/>
          </a:prstGeom>
          <a:noFill/>
          <a:ln w="12700">
            <a:solidFill>
              <a:srgbClr val="7F8C8D"/>
            </a:solidFill>
            <a:prstDash val="solid"/>
          </a:ln>
        </p:spPr>
        <p:txBody>
          <a:bodyPr/>
          <a:lstStyle/>
          <a:p>
            <a:endParaRPr lang="en-IN"/>
          </a:p>
        </p:txBody>
      </p:sp>
      <p:sp>
        <p:nvSpPr>
          <p:cNvPr id="41" name="Text 39"/>
          <p:cNvSpPr/>
          <p:nvPr/>
        </p:nvSpPr>
        <p:spPr>
          <a:xfrm>
            <a:off x="5847588" y="2016252"/>
            <a:ext cx="914400" cy="228600"/>
          </a:xfrm>
          <a:prstGeom prst="rect">
            <a:avLst/>
          </a:prstGeom>
          <a:noFill/>
          <a:ln/>
        </p:spPr>
        <p:txBody>
          <a:bodyPr wrap="square" lIns="0" tIns="0" rIns="0" bIns="0" rtlCol="0" anchor="ctr"/>
          <a:lstStyle/>
          <a:p>
            <a:pPr marL="0" indent="0">
              <a:buNone/>
            </a:pPr>
            <a:r>
              <a:rPr lang="en-US" sz="800" dirty="0">
                <a:solidFill>
                  <a:srgbClr val="7F8C8D"/>
                </a:solidFill>
                <a:latin typeface="Calibri" pitchFamily="34" charset="0"/>
                <a:ea typeface="Calibri" pitchFamily="34" charset="-122"/>
                <a:cs typeface="Calibri" pitchFamily="34" charset="-120"/>
              </a:rPr>
              <a:t>assign()</a:t>
            </a:r>
            <a:endParaRPr lang="en-US" sz="800" dirty="0"/>
          </a:p>
        </p:txBody>
      </p:sp>
      <p:sp>
        <p:nvSpPr>
          <p:cNvPr id="42" name="Shape 40"/>
          <p:cNvSpPr/>
          <p:nvPr/>
        </p:nvSpPr>
        <p:spPr>
          <a:xfrm>
            <a:off x="5783580" y="2834640"/>
            <a:ext cx="0" cy="320040"/>
          </a:xfrm>
          <a:prstGeom prst="line">
            <a:avLst/>
          </a:prstGeom>
          <a:noFill/>
          <a:ln w="12700">
            <a:solidFill>
              <a:srgbClr val="7F8C8D"/>
            </a:solidFill>
            <a:prstDash val="solid"/>
          </a:ln>
        </p:spPr>
        <p:txBody>
          <a:bodyPr/>
          <a:lstStyle/>
          <a:p>
            <a:endParaRPr lang="en-IN"/>
          </a:p>
        </p:txBody>
      </p:sp>
      <p:sp>
        <p:nvSpPr>
          <p:cNvPr id="43" name="Text 41"/>
          <p:cNvSpPr/>
          <p:nvPr/>
        </p:nvSpPr>
        <p:spPr>
          <a:xfrm>
            <a:off x="5847588" y="2884932"/>
            <a:ext cx="914400" cy="228600"/>
          </a:xfrm>
          <a:prstGeom prst="rect">
            <a:avLst/>
          </a:prstGeom>
          <a:noFill/>
          <a:ln/>
        </p:spPr>
        <p:txBody>
          <a:bodyPr wrap="square" lIns="0" tIns="0" rIns="0" bIns="0" rtlCol="0" anchor="ctr"/>
          <a:lstStyle/>
          <a:p>
            <a:pPr marL="0" indent="0">
              <a:buNone/>
            </a:pPr>
            <a:r>
              <a:rPr lang="en-US" sz="800" dirty="0">
                <a:solidFill>
                  <a:srgbClr val="7F8C8D"/>
                </a:solidFill>
                <a:latin typeface="Calibri" pitchFamily="34" charset="0"/>
                <a:ea typeface="Calibri" pitchFamily="34" charset="-122"/>
                <a:cs typeface="Calibri" pitchFamily="34" charset="-120"/>
              </a:rPr>
              <a:t>start()</a:t>
            </a:r>
            <a:endParaRPr lang="en-US" sz="800" dirty="0"/>
          </a:p>
        </p:txBody>
      </p:sp>
      <p:sp>
        <p:nvSpPr>
          <p:cNvPr id="44" name="Shape 42"/>
          <p:cNvSpPr/>
          <p:nvPr/>
        </p:nvSpPr>
        <p:spPr>
          <a:xfrm>
            <a:off x="5783580" y="3703320"/>
            <a:ext cx="0" cy="320040"/>
          </a:xfrm>
          <a:prstGeom prst="line">
            <a:avLst/>
          </a:prstGeom>
          <a:noFill/>
          <a:ln w="12700">
            <a:solidFill>
              <a:srgbClr val="7F8C8D"/>
            </a:solidFill>
            <a:prstDash val="solid"/>
          </a:ln>
        </p:spPr>
        <p:txBody>
          <a:bodyPr/>
          <a:lstStyle/>
          <a:p>
            <a:endParaRPr lang="en-IN"/>
          </a:p>
        </p:txBody>
      </p:sp>
      <p:sp>
        <p:nvSpPr>
          <p:cNvPr id="45" name="Text 43"/>
          <p:cNvSpPr/>
          <p:nvPr/>
        </p:nvSpPr>
        <p:spPr>
          <a:xfrm>
            <a:off x="5847588" y="3753612"/>
            <a:ext cx="914400" cy="228600"/>
          </a:xfrm>
          <a:prstGeom prst="rect">
            <a:avLst/>
          </a:prstGeom>
          <a:noFill/>
          <a:ln/>
        </p:spPr>
        <p:txBody>
          <a:bodyPr wrap="square" lIns="0" tIns="0" rIns="0" bIns="0" rtlCol="0" anchor="ctr"/>
          <a:lstStyle/>
          <a:p>
            <a:pPr marL="0" indent="0">
              <a:buNone/>
            </a:pPr>
            <a:r>
              <a:rPr lang="en-US" sz="800" dirty="0">
                <a:solidFill>
                  <a:srgbClr val="7F8C8D"/>
                </a:solidFill>
                <a:latin typeface="Calibri" pitchFamily="34" charset="0"/>
                <a:ea typeface="Calibri" pitchFamily="34" charset="-122"/>
                <a:cs typeface="Calibri" pitchFamily="34" charset="-120"/>
              </a:rPr>
              <a:t>resolve()</a:t>
            </a:r>
            <a:endParaRPr lang="en-US" sz="800" dirty="0"/>
          </a:p>
        </p:txBody>
      </p:sp>
      <p:sp>
        <p:nvSpPr>
          <p:cNvPr id="46" name="Shape 44"/>
          <p:cNvSpPr/>
          <p:nvPr/>
        </p:nvSpPr>
        <p:spPr>
          <a:xfrm>
            <a:off x="5783580" y="4572000"/>
            <a:ext cx="0" cy="91440"/>
          </a:xfrm>
          <a:prstGeom prst="line">
            <a:avLst/>
          </a:prstGeom>
          <a:noFill/>
          <a:ln w="12700">
            <a:solidFill>
              <a:srgbClr val="7F8C8D"/>
            </a:solidFill>
            <a:prstDash val="solid"/>
          </a:ln>
        </p:spPr>
        <p:txBody>
          <a:bodyPr/>
          <a:lstStyle/>
          <a:p>
            <a:endParaRPr lang="en-IN"/>
          </a:p>
        </p:txBody>
      </p:sp>
      <p:sp>
        <p:nvSpPr>
          <p:cNvPr id="47" name="Text 45"/>
          <p:cNvSpPr/>
          <p:nvPr/>
        </p:nvSpPr>
        <p:spPr>
          <a:xfrm>
            <a:off x="5847588" y="4507992"/>
            <a:ext cx="914400" cy="228600"/>
          </a:xfrm>
          <a:prstGeom prst="rect">
            <a:avLst/>
          </a:prstGeom>
          <a:noFill/>
          <a:ln/>
        </p:spPr>
        <p:txBody>
          <a:bodyPr wrap="square" lIns="0" tIns="0" rIns="0" bIns="0" rtlCol="0" anchor="ctr"/>
          <a:lstStyle/>
          <a:p>
            <a:pPr marL="0" indent="0">
              <a:buNone/>
            </a:pPr>
            <a:r>
              <a:rPr lang="en-US" sz="800" dirty="0">
                <a:solidFill>
                  <a:srgbClr val="7F8C8D"/>
                </a:solidFill>
                <a:latin typeface="Calibri" pitchFamily="34" charset="0"/>
                <a:ea typeface="Calibri" pitchFamily="34" charset="-122"/>
                <a:cs typeface="Calibri" pitchFamily="34" charset="-120"/>
              </a:rPr>
              <a:t>close()</a:t>
            </a:r>
            <a:endParaRPr lang="en-US" sz="800" dirty="0"/>
          </a:p>
        </p:txBody>
      </p:sp>
      <p:sp>
        <p:nvSpPr>
          <p:cNvPr id="48" name="Shape 46"/>
          <p:cNvSpPr/>
          <p:nvPr/>
        </p:nvSpPr>
        <p:spPr>
          <a:xfrm>
            <a:off x="6629400" y="3429000"/>
            <a:ext cx="411480" cy="0"/>
          </a:xfrm>
          <a:prstGeom prst="line">
            <a:avLst/>
          </a:prstGeom>
          <a:noFill/>
          <a:ln w="12700">
            <a:solidFill>
              <a:srgbClr val="E74C3C"/>
            </a:solidFill>
            <a:prstDash val="solid"/>
          </a:ln>
        </p:spPr>
        <p:txBody>
          <a:bodyPr/>
          <a:lstStyle/>
          <a:p>
            <a:endParaRPr lang="en-IN"/>
          </a:p>
        </p:txBody>
      </p:sp>
      <p:sp>
        <p:nvSpPr>
          <p:cNvPr id="49" name="Text 47"/>
          <p:cNvSpPr/>
          <p:nvPr/>
        </p:nvSpPr>
        <p:spPr>
          <a:xfrm>
            <a:off x="6629400" y="3227832"/>
            <a:ext cx="731520" cy="201168"/>
          </a:xfrm>
          <a:prstGeom prst="rect">
            <a:avLst/>
          </a:prstGeom>
          <a:noFill/>
          <a:ln/>
        </p:spPr>
        <p:txBody>
          <a:bodyPr wrap="square" lIns="0" tIns="0" rIns="0" bIns="0" rtlCol="0" anchor="ctr"/>
          <a:lstStyle/>
          <a:p>
            <a:pPr marL="0" indent="0">
              <a:buNone/>
            </a:pPr>
            <a:r>
              <a:rPr lang="en-US" sz="800" dirty="0">
                <a:solidFill>
                  <a:srgbClr val="E74C3C"/>
                </a:solidFill>
                <a:latin typeface="Calibri" pitchFamily="34" charset="0"/>
                <a:ea typeface="Calibri" pitchFamily="34" charset="-122"/>
                <a:cs typeface="Calibri" pitchFamily="34" charset="-120"/>
              </a:rPr>
              <a:t>reject()</a:t>
            </a:r>
            <a:endParaRPr lang="en-US" sz="800" dirty="0"/>
          </a:p>
        </p:txBody>
      </p:sp>
      <p:sp>
        <p:nvSpPr>
          <p:cNvPr id="50" name="Shape 48"/>
          <p:cNvSpPr/>
          <p:nvPr/>
        </p:nvSpPr>
        <p:spPr>
          <a:xfrm>
            <a:off x="4572000" y="914400"/>
            <a:ext cx="0" cy="4114800"/>
          </a:xfrm>
          <a:prstGeom prst="line">
            <a:avLst/>
          </a:prstGeom>
          <a:noFill/>
          <a:ln w="12700">
            <a:solidFill>
              <a:srgbClr val="ECF0F1"/>
            </a:solidFill>
            <a:prstDash val="dash"/>
          </a:ln>
        </p:spPr>
        <p:txBody>
          <a:bodyPr/>
          <a:lstStyle/>
          <a:p>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4F72"/>
          </a:solidFill>
          <a:ln w="12700">
            <a:solidFill>
              <a:srgbClr val="1B4F72"/>
            </a:solidFill>
            <a:prstDash val="solid"/>
          </a:ln>
        </p:spPr>
        <p:txBody>
          <a:bodyPr/>
          <a:lstStyle/>
          <a:p>
            <a:endParaRPr lang="en-IN"/>
          </a:p>
        </p:txBody>
      </p:sp>
      <p:sp>
        <p:nvSpPr>
          <p:cNvPr id="3" name="Text 1"/>
          <p:cNvSpPr/>
          <p:nvPr/>
        </p:nvSpPr>
        <p:spPr>
          <a:xfrm>
            <a:off x="457200" y="137160"/>
            <a:ext cx="8229600" cy="640080"/>
          </a:xfrm>
          <a:prstGeom prst="rect">
            <a:avLst/>
          </a:prstGeom>
          <a:noFill/>
          <a:ln/>
        </p:spPr>
        <p:txBody>
          <a:bodyPr wrap="square" lIns="0" tIns="0" rIns="0" bIns="0" rtlCol="0" anchor="ctr"/>
          <a:lstStyle/>
          <a:p>
            <a:pPr marL="0" indent="0" algn="l">
              <a:buNone/>
            </a:pPr>
            <a:r>
              <a:rPr lang="en-US" sz="2600" b="1" dirty="0">
                <a:solidFill>
                  <a:srgbClr val="FFFFFF"/>
                </a:solidFill>
                <a:latin typeface="Calibri" pitchFamily="34" charset="0"/>
                <a:ea typeface="Calibri" pitchFamily="34" charset="-122"/>
                <a:cs typeface="Calibri" pitchFamily="34" charset="-120"/>
              </a:rPr>
              <a:t>Architecture Summary</a:t>
            </a:r>
            <a:endParaRPr lang="en-US" sz="2600" dirty="0"/>
          </a:p>
        </p:txBody>
      </p:sp>
      <p:sp>
        <p:nvSpPr>
          <p:cNvPr id="4" name="Shape 2"/>
          <p:cNvSpPr/>
          <p:nvPr/>
        </p:nvSpPr>
        <p:spPr>
          <a:xfrm>
            <a:off x="320040" y="1051560"/>
            <a:ext cx="4114800" cy="1737360"/>
          </a:xfrm>
          <a:prstGeom prst="rect">
            <a:avLst/>
          </a:prstGeom>
          <a:solidFill>
            <a:srgbClr val="FFFFFF"/>
          </a:solidFill>
          <a:ln w="12700">
            <a:solidFill>
              <a:srgbClr val="ECF0F1"/>
            </a:solidFill>
            <a:prstDash val="solid"/>
          </a:ln>
          <a:effectLst>
            <a:outerShdw blurRad="101600" dist="38100" dir="8100000" algn="bl" rotWithShape="0">
              <a:srgbClr val="000000">
                <a:alpha val="20000"/>
              </a:srgbClr>
            </a:outerShdw>
          </a:effectLst>
        </p:spPr>
        <p:txBody>
          <a:bodyPr/>
          <a:lstStyle/>
          <a:p>
            <a:endParaRPr lang="en-IN"/>
          </a:p>
        </p:txBody>
      </p:sp>
      <p:sp>
        <p:nvSpPr>
          <p:cNvPr id="5" name="Shape 3"/>
          <p:cNvSpPr/>
          <p:nvPr/>
        </p:nvSpPr>
        <p:spPr>
          <a:xfrm>
            <a:off x="320040" y="1051560"/>
            <a:ext cx="4114800" cy="384048"/>
          </a:xfrm>
          <a:prstGeom prst="rect">
            <a:avLst/>
          </a:prstGeom>
          <a:solidFill>
            <a:srgbClr val="2E86C1"/>
          </a:solidFill>
          <a:ln w="12700">
            <a:solidFill>
              <a:srgbClr val="2E86C1"/>
            </a:solidFill>
            <a:prstDash val="solid"/>
          </a:ln>
        </p:spPr>
        <p:txBody>
          <a:bodyPr/>
          <a:lstStyle/>
          <a:p>
            <a:endParaRPr lang="en-IN"/>
          </a:p>
        </p:txBody>
      </p:sp>
      <p:sp>
        <p:nvSpPr>
          <p:cNvPr id="6" name="Text 4"/>
          <p:cNvSpPr/>
          <p:nvPr/>
        </p:nvSpPr>
        <p:spPr>
          <a:xfrm>
            <a:off x="457200" y="1097280"/>
            <a:ext cx="38404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Project Vision</a:t>
            </a:r>
            <a:endParaRPr lang="en-US" sz="1300" dirty="0"/>
          </a:p>
        </p:txBody>
      </p:sp>
      <p:sp>
        <p:nvSpPr>
          <p:cNvPr id="7" name="Shape 5"/>
          <p:cNvSpPr/>
          <p:nvPr/>
        </p:nvSpPr>
        <p:spPr>
          <a:xfrm>
            <a:off x="457200" y="1600200"/>
            <a:ext cx="128016" cy="128016"/>
          </a:xfrm>
          <a:prstGeom prst="ellipse">
            <a:avLst/>
          </a:prstGeom>
          <a:solidFill>
            <a:srgbClr val="2E86C1"/>
          </a:solidFill>
          <a:ln w="12700">
            <a:solidFill>
              <a:srgbClr val="2E86C1"/>
            </a:solidFill>
            <a:prstDash val="solid"/>
          </a:ln>
        </p:spPr>
        <p:txBody>
          <a:bodyPr/>
          <a:lstStyle/>
          <a:p>
            <a:endParaRPr lang="en-IN"/>
          </a:p>
        </p:txBody>
      </p:sp>
      <p:sp>
        <p:nvSpPr>
          <p:cNvPr id="8" name="Text 6"/>
          <p:cNvSpPr/>
          <p:nvPr/>
        </p:nvSpPr>
        <p:spPr>
          <a:xfrm>
            <a:off x="667512" y="1508760"/>
            <a:ext cx="3611880" cy="365760"/>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SCFMS transforms reactive → proactive facility management</a:t>
            </a:r>
            <a:endParaRPr lang="en-US" sz="1050" dirty="0"/>
          </a:p>
        </p:txBody>
      </p:sp>
      <p:sp>
        <p:nvSpPr>
          <p:cNvPr id="9" name="Shape 7"/>
          <p:cNvSpPr/>
          <p:nvPr/>
        </p:nvSpPr>
        <p:spPr>
          <a:xfrm>
            <a:off x="457200" y="2002536"/>
            <a:ext cx="128016" cy="128016"/>
          </a:xfrm>
          <a:prstGeom prst="ellipse">
            <a:avLst/>
          </a:prstGeom>
          <a:solidFill>
            <a:srgbClr val="2E86C1"/>
          </a:solidFill>
          <a:ln w="12700">
            <a:solidFill>
              <a:srgbClr val="2E86C1"/>
            </a:solidFill>
            <a:prstDash val="solid"/>
          </a:ln>
        </p:spPr>
        <p:txBody>
          <a:bodyPr/>
          <a:lstStyle/>
          <a:p>
            <a:endParaRPr lang="en-IN"/>
          </a:p>
        </p:txBody>
      </p:sp>
      <p:sp>
        <p:nvSpPr>
          <p:cNvPr id="10" name="Text 8"/>
          <p:cNvSpPr/>
          <p:nvPr/>
        </p:nvSpPr>
        <p:spPr>
          <a:xfrm>
            <a:off x="667512" y="1911096"/>
            <a:ext cx="3611880" cy="365760"/>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AI-powered real-time monitoring, 30% projected cost reduction</a:t>
            </a:r>
            <a:endParaRPr lang="en-US" sz="1050" dirty="0"/>
          </a:p>
        </p:txBody>
      </p:sp>
      <p:sp>
        <p:nvSpPr>
          <p:cNvPr id="11" name="Shape 9"/>
          <p:cNvSpPr/>
          <p:nvPr/>
        </p:nvSpPr>
        <p:spPr>
          <a:xfrm>
            <a:off x="457200" y="2404872"/>
            <a:ext cx="128016" cy="128016"/>
          </a:xfrm>
          <a:prstGeom prst="ellipse">
            <a:avLst/>
          </a:prstGeom>
          <a:solidFill>
            <a:srgbClr val="2E86C1"/>
          </a:solidFill>
          <a:ln w="12700">
            <a:solidFill>
              <a:srgbClr val="2E86C1"/>
            </a:solidFill>
            <a:prstDash val="solid"/>
          </a:ln>
        </p:spPr>
        <p:txBody>
          <a:bodyPr/>
          <a:lstStyle/>
          <a:p>
            <a:endParaRPr lang="en-IN"/>
          </a:p>
        </p:txBody>
      </p:sp>
      <p:sp>
        <p:nvSpPr>
          <p:cNvPr id="12" name="Text 10"/>
          <p:cNvSpPr/>
          <p:nvPr/>
        </p:nvSpPr>
        <p:spPr>
          <a:xfrm>
            <a:off x="667512" y="2313432"/>
            <a:ext cx="3611880" cy="365760"/>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Java-based implementation</a:t>
            </a:r>
            <a:endParaRPr lang="en-US" sz="1050" dirty="0"/>
          </a:p>
        </p:txBody>
      </p:sp>
      <p:sp>
        <p:nvSpPr>
          <p:cNvPr id="13" name="Shape 11"/>
          <p:cNvSpPr/>
          <p:nvPr/>
        </p:nvSpPr>
        <p:spPr>
          <a:xfrm>
            <a:off x="4754880" y="1051560"/>
            <a:ext cx="4114800" cy="1737360"/>
          </a:xfrm>
          <a:prstGeom prst="rect">
            <a:avLst/>
          </a:prstGeom>
          <a:solidFill>
            <a:srgbClr val="FFFFFF"/>
          </a:solidFill>
          <a:ln w="12700">
            <a:solidFill>
              <a:srgbClr val="ECF0F1"/>
            </a:solidFill>
            <a:prstDash val="solid"/>
          </a:ln>
          <a:effectLst>
            <a:outerShdw blurRad="101600" dist="38100" dir="8100000" algn="bl" rotWithShape="0">
              <a:srgbClr val="000000">
                <a:alpha val="20000"/>
              </a:srgbClr>
            </a:outerShdw>
          </a:effectLst>
        </p:spPr>
        <p:txBody>
          <a:bodyPr/>
          <a:lstStyle/>
          <a:p>
            <a:endParaRPr lang="en-IN"/>
          </a:p>
        </p:txBody>
      </p:sp>
      <p:sp>
        <p:nvSpPr>
          <p:cNvPr id="14" name="Shape 12"/>
          <p:cNvSpPr/>
          <p:nvPr/>
        </p:nvSpPr>
        <p:spPr>
          <a:xfrm>
            <a:off x="4754880" y="1051560"/>
            <a:ext cx="4114800" cy="384048"/>
          </a:xfrm>
          <a:prstGeom prst="rect">
            <a:avLst/>
          </a:prstGeom>
          <a:solidFill>
            <a:srgbClr val="1ABC9C"/>
          </a:solidFill>
          <a:ln w="12700">
            <a:solidFill>
              <a:srgbClr val="1ABC9C"/>
            </a:solidFill>
            <a:prstDash val="solid"/>
          </a:ln>
        </p:spPr>
        <p:txBody>
          <a:bodyPr/>
          <a:lstStyle/>
          <a:p>
            <a:endParaRPr lang="en-IN"/>
          </a:p>
        </p:txBody>
      </p:sp>
      <p:sp>
        <p:nvSpPr>
          <p:cNvPr id="15" name="Text 13"/>
          <p:cNvSpPr/>
          <p:nvPr/>
        </p:nvSpPr>
        <p:spPr>
          <a:xfrm>
            <a:off x="4892040" y="1097280"/>
            <a:ext cx="38404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Requirements</a:t>
            </a:r>
            <a:endParaRPr lang="en-US" sz="1300" dirty="0"/>
          </a:p>
        </p:txBody>
      </p:sp>
      <p:sp>
        <p:nvSpPr>
          <p:cNvPr id="16" name="Shape 14"/>
          <p:cNvSpPr/>
          <p:nvPr/>
        </p:nvSpPr>
        <p:spPr>
          <a:xfrm>
            <a:off x="4892040" y="1600200"/>
            <a:ext cx="128016" cy="128016"/>
          </a:xfrm>
          <a:prstGeom prst="ellipse">
            <a:avLst/>
          </a:prstGeom>
          <a:solidFill>
            <a:srgbClr val="1ABC9C"/>
          </a:solidFill>
          <a:ln w="12700">
            <a:solidFill>
              <a:srgbClr val="1ABC9C"/>
            </a:solidFill>
            <a:prstDash val="solid"/>
          </a:ln>
        </p:spPr>
        <p:txBody>
          <a:bodyPr/>
          <a:lstStyle/>
          <a:p>
            <a:endParaRPr lang="en-IN"/>
          </a:p>
        </p:txBody>
      </p:sp>
      <p:sp>
        <p:nvSpPr>
          <p:cNvPr id="17" name="Text 15"/>
          <p:cNvSpPr/>
          <p:nvPr/>
        </p:nvSpPr>
        <p:spPr>
          <a:xfrm>
            <a:off x="5102352" y="1508760"/>
            <a:ext cx="3611880" cy="365760"/>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7 Use Cases covering full user lifecycle</a:t>
            </a:r>
            <a:endParaRPr lang="en-US" sz="1050" dirty="0"/>
          </a:p>
        </p:txBody>
      </p:sp>
      <p:sp>
        <p:nvSpPr>
          <p:cNvPr id="18" name="Shape 16"/>
          <p:cNvSpPr/>
          <p:nvPr/>
        </p:nvSpPr>
        <p:spPr>
          <a:xfrm>
            <a:off x="4892040" y="2002536"/>
            <a:ext cx="128016" cy="128016"/>
          </a:xfrm>
          <a:prstGeom prst="ellipse">
            <a:avLst/>
          </a:prstGeom>
          <a:solidFill>
            <a:srgbClr val="1ABC9C"/>
          </a:solidFill>
          <a:ln w="12700">
            <a:solidFill>
              <a:srgbClr val="1ABC9C"/>
            </a:solidFill>
            <a:prstDash val="solid"/>
          </a:ln>
        </p:spPr>
        <p:txBody>
          <a:bodyPr/>
          <a:lstStyle/>
          <a:p>
            <a:endParaRPr lang="en-IN"/>
          </a:p>
        </p:txBody>
      </p:sp>
      <p:sp>
        <p:nvSpPr>
          <p:cNvPr id="19" name="Text 17"/>
          <p:cNvSpPr/>
          <p:nvPr/>
        </p:nvSpPr>
        <p:spPr>
          <a:xfrm>
            <a:off x="5102352" y="1911096"/>
            <a:ext cx="3611880" cy="365760"/>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Activity flows for booking, ticket creation &amp; tracking</a:t>
            </a:r>
            <a:endParaRPr lang="en-US" sz="1050" dirty="0"/>
          </a:p>
        </p:txBody>
      </p:sp>
      <p:sp>
        <p:nvSpPr>
          <p:cNvPr id="20" name="Shape 18"/>
          <p:cNvSpPr/>
          <p:nvPr/>
        </p:nvSpPr>
        <p:spPr>
          <a:xfrm>
            <a:off x="4892040" y="2404872"/>
            <a:ext cx="128016" cy="128016"/>
          </a:xfrm>
          <a:prstGeom prst="ellipse">
            <a:avLst/>
          </a:prstGeom>
          <a:solidFill>
            <a:srgbClr val="1ABC9C"/>
          </a:solidFill>
          <a:ln w="12700">
            <a:solidFill>
              <a:srgbClr val="1ABC9C"/>
            </a:solidFill>
            <a:prstDash val="solid"/>
          </a:ln>
        </p:spPr>
        <p:txBody>
          <a:bodyPr/>
          <a:lstStyle/>
          <a:p>
            <a:endParaRPr lang="en-IN"/>
          </a:p>
        </p:txBody>
      </p:sp>
      <p:sp>
        <p:nvSpPr>
          <p:cNvPr id="21" name="Text 19"/>
          <p:cNvSpPr/>
          <p:nvPr/>
        </p:nvSpPr>
        <p:spPr>
          <a:xfrm>
            <a:off x="5102352" y="2313432"/>
            <a:ext cx="3611880" cy="365760"/>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Actors: Student, Faculty, Manager, Admin, Maintenance Staff</a:t>
            </a:r>
            <a:endParaRPr lang="en-US" sz="1050" dirty="0"/>
          </a:p>
        </p:txBody>
      </p:sp>
      <p:sp>
        <p:nvSpPr>
          <p:cNvPr id="22" name="Shape 20"/>
          <p:cNvSpPr/>
          <p:nvPr/>
        </p:nvSpPr>
        <p:spPr>
          <a:xfrm>
            <a:off x="320040" y="3017520"/>
            <a:ext cx="4114800" cy="1737360"/>
          </a:xfrm>
          <a:prstGeom prst="rect">
            <a:avLst/>
          </a:prstGeom>
          <a:solidFill>
            <a:srgbClr val="FFFFFF"/>
          </a:solidFill>
          <a:ln w="12700">
            <a:solidFill>
              <a:srgbClr val="ECF0F1"/>
            </a:solidFill>
            <a:prstDash val="solid"/>
          </a:ln>
          <a:effectLst>
            <a:outerShdw blurRad="101600" dist="38100" dir="8100000" algn="bl" rotWithShape="0">
              <a:srgbClr val="000000">
                <a:alpha val="20000"/>
              </a:srgbClr>
            </a:outerShdw>
          </a:effectLst>
        </p:spPr>
        <p:txBody>
          <a:bodyPr/>
          <a:lstStyle/>
          <a:p>
            <a:endParaRPr lang="en-IN"/>
          </a:p>
        </p:txBody>
      </p:sp>
      <p:sp>
        <p:nvSpPr>
          <p:cNvPr id="23" name="Shape 21"/>
          <p:cNvSpPr/>
          <p:nvPr/>
        </p:nvSpPr>
        <p:spPr>
          <a:xfrm>
            <a:off x="320040" y="3017520"/>
            <a:ext cx="4114800" cy="384048"/>
          </a:xfrm>
          <a:prstGeom prst="rect">
            <a:avLst/>
          </a:prstGeom>
          <a:solidFill>
            <a:srgbClr val="E67E22"/>
          </a:solidFill>
          <a:ln w="12700">
            <a:solidFill>
              <a:srgbClr val="E67E22"/>
            </a:solidFill>
            <a:prstDash val="solid"/>
          </a:ln>
        </p:spPr>
        <p:txBody>
          <a:bodyPr/>
          <a:lstStyle/>
          <a:p>
            <a:endParaRPr lang="en-IN"/>
          </a:p>
        </p:txBody>
      </p:sp>
      <p:sp>
        <p:nvSpPr>
          <p:cNvPr id="24" name="Text 22"/>
          <p:cNvSpPr/>
          <p:nvPr/>
        </p:nvSpPr>
        <p:spPr>
          <a:xfrm>
            <a:off x="457200" y="3063240"/>
            <a:ext cx="38404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Analysis Model</a:t>
            </a:r>
            <a:endParaRPr lang="en-US" sz="1300" dirty="0"/>
          </a:p>
        </p:txBody>
      </p:sp>
      <p:sp>
        <p:nvSpPr>
          <p:cNvPr id="25" name="Shape 23"/>
          <p:cNvSpPr/>
          <p:nvPr/>
        </p:nvSpPr>
        <p:spPr>
          <a:xfrm>
            <a:off x="457200" y="3566160"/>
            <a:ext cx="128016" cy="128016"/>
          </a:xfrm>
          <a:prstGeom prst="ellipse">
            <a:avLst/>
          </a:prstGeom>
          <a:solidFill>
            <a:srgbClr val="E67E22"/>
          </a:solidFill>
          <a:ln w="12700">
            <a:solidFill>
              <a:srgbClr val="E67E22"/>
            </a:solidFill>
            <a:prstDash val="solid"/>
          </a:ln>
        </p:spPr>
        <p:txBody>
          <a:bodyPr/>
          <a:lstStyle/>
          <a:p>
            <a:endParaRPr lang="en-IN"/>
          </a:p>
        </p:txBody>
      </p:sp>
      <p:sp>
        <p:nvSpPr>
          <p:cNvPr id="26" name="Text 24"/>
          <p:cNvSpPr/>
          <p:nvPr/>
        </p:nvSpPr>
        <p:spPr>
          <a:xfrm>
            <a:off x="667512" y="3474720"/>
            <a:ext cx="3611880" cy="365760"/>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Robustness Diagrams: Boundary, Control, Entity separation</a:t>
            </a:r>
            <a:endParaRPr lang="en-US" sz="1050" dirty="0"/>
          </a:p>
        </p:txBody>
      </p:sp>
      <p:sp>
        <p:nvSpPr>
          <p:cNvPr id="27" name="Shape 25"/>
          <p:cNvSpPr/>
          <p:nvPr/>
        </p:nvSpPr>
        <p:spPr>
          <a:xfrm>
            <a:off x="457200" y="3968496"/>
            <a:ext cx="128016" cy="128016"/>
          </a:xfrm>
          <a:prstGeom prst="ellipse">
            <a:avLst/>
          </a:prstGeom>
          <a:solidFill>
            <a:srgbClr val="E67E22"/>
          </a:solidFill>
          <a:ln w="12700">
            <a:solidFill>
              <a:srgbClr val="E67E22"/>
            </a:solidFill>
            <a:prstDash val="solid"/>
          </a:ln>
        </p:spPr>
        <p:txBody>
          <a:bodyPr/>
          <a:lstStyle/>
          <a:p>
            <a:endParaRPr lang="en-IN"/>
          </a:p>
        </p:txBody>
      </p:sp>
      <p:sp>
        <p:nvSpPr>
          <p:cNvPr id="28" name="Text 26"/>
          <p:cNvSpPr/>
          <p:nvPr/>
        </p:nvSpPr>
        <p:spPr>
          <a:xfrm>
            <a:off x="667512" y="3877056"/>
            <a:ext cx="3611880" cy="365760"/>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Collaboration Diagrams: Object messaging flows</a:t>
            </a:r>
            <a:endParaRPr lang="en-US" sz="1050" dirty="0"/>
          </a:p>
        </p:txBody>
      </p:sp>
      <p:sp>
        <p:nvSpPr>
          <p:cNvPr id="29" name="Shape 27"/>
          <p:cNvSpPr/>
          <p:nvPr/>
        </p:nvSpPr>
        <p:spPr>
          <a:xfrm>
            <a:off x="457200" y="4370832"/>
            <a:ext cx="128016" cy="128016"/>
          </a:xfrm>
          <a:prstGeom prst="ellipse">
            <a:avLst/>
          </a:prstGeom>
          <a:solidFill>
            <a:srgbClr val="E67E22"/>
          </a:solidFill>
          <a:ln w="12700">
            <a:solidFill>
              <a:srgbClr val="E67E22"/>
            </a:solidFill>
            <a:prstDash val="solid"/>
          </a:ln>
        </p:spPr>
        <p:txBody>
          <a:bodyPr/>
          <a:lstStyle/>
          <a:p>
            <a:endParaRPr lang="en-IN"/>
          </a:p>
        </p:txBody>
      </p:sp>
      <p:sp>
        <p:nvSpPr>
          <p:cNvPr id="30" name="Text 28"/>
          <p:cNvSpPr/>
          <p:nvPr/>
        </p:nvSpPr>
        <p:spPr>
          <a:xfrm>
            <a:off x="667512" y="4279392"/>
            <a:ext cx="3611880" cy="365760"/>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Clear MVC separation for all major features</a:t>
            </a:r>
            <a:endParaRPr lang="en-US" sz="1050" dirty="0"/>
          </a:p>
        </p:txBody>
      </p:sp>
      <p:sp>
        <p:nvSpPr>
          <p:cNvPr id="31" name="Shape 29"/>
          <p:cNvSpPr/>
          <p:nvPr/>
        </p:nvSpPr>
        <p:spPr>
          <a:xfrm>
            <a:off x="4754880" y="3017520"/>
            <a:ext cx="4114800" cy="1737360"/>
          </a:xfrm>
          <a:prstGeom prst="rect">
            <a:avLst/>
          </a:prstGeom>
          <a:solidFill>
            <a:srgbClr val="FFFFFF"/>
          </a:solidFill>
          <a:ln w="12700">
            <a:solidFill>
              <a:srgbClr val="ECF0F1"/>
            </a:solidFill>
            <a:prstDash val="solid"/>
          </a:ln>
          <a:effectLst>
            <a:outerShdw blurRad="101600" dist="38100" dir="8100000" algn="bl" rotWithShape="0">
              <a:srgbClr val="000000">
                <a:alpha val="20000"/>
              </a:srgbClr>
            </a:outerShdw>
          </a:effectLst>
        </p:spPr>
        <p:txBody>
          <a:bodyPr/>
          <a:lstStyle/>
          <a:p>
            <a:endParaRPr lang="en-IN"/>
          </a:p>
        </p:txBody>
      </p:sp>
      <p:sp>
        <p:nvSpPr>
          <p:cNvPr id="32" name="Shape 30"/>
          <p:cNvSpPr/>
          <p:nvPr/>
        </p:nvSpPr>
        <p:spPr>
          <a:xfrm>
            <a:off x="4754880" y="3017520"/>
            <a:ext cx="4114800" cy="384048"/>
          </a:xfrm>
          <a:prstGeom prst="rect">
            <a:avLst/>
          </a:prstGeom>
          <a:solidFill>
            <a:srgbClr val="8E44AD"/>
          </a:solidFill>
          <a:ln w="12700">
            <a:solidFill>
              <a:srgbClr val="8E44AD"/>
            </a:solidFill>
            <a:prstDash val="solid"/>
          </a:ln>
        </p:spPr>
        <p:txBody>
          <a:bodyPr/>
          <a:lstStyle/>
          <a:p>
            <a:endParaRPr lang="en-IN"/>
          </a:p>
        </p:txBody>
      </p:sp>
      <p:sp>
        <p:nvSpPr>
          <p:cNvPr id="33" name="Text 31"/>
          <p:cNvSpPr/>
          <p:nvPr/>
        </p:nvSpPr>
        <p:spPr>
          <a:xfrm>
            <a:off x="4892040" y="3063240"/>
            <a:ext cx="384048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Design Model</a:t>
            </a:r>
            <a:endParaRPr lang="en-US" sz="1300" dirty="0"/>
          </a:p>
        </p:txBody>
      </p:sp>
      <p:sp>
        <p:nvSpPr>
          <p:cNvPr id="34" name="Shape 32"/>
          <p:cNvSpPr/>
          <p:nvPr/>
        </p:nvSpPr>
        <p:spPr>
          <a:xfrm>
            <a:off x="4892040" y="3566160"/>
            <a:ext cx="128016" cy="128016"/>
          </a:xfrm>
          <a:prstGeom prst="ellipse">
            <a:avLst/>
          </a:prstGeom>
          <a:solidFill>
            <a:srgbClr val="8E44AD"/>
          </a:solidFill>
          <a:ln w="12700">
            <a:solidFill>
              <a:srgbClr val="8E44AD"/>
            </a:solidFill>
            <a:prstDash val="solid"/>
          </a:ln>
        </p:spPr>
        <p:txBody>
          <a:bodyPr/>
          <a:lstStyle/>
          <a:p>
            <a:endParaRPr lang="en-IN"/>
          </a:p>
        </p:txBody>
      </p:sp>
      <p:sp>
        <p:nvSpPr>
          <p:cNvPr id="35" name="Text 33"/>
          <p:cNvSpPr/>
          <p:nvPr/>
        </p:nvSpPr>
        <p:spPr>
          <a:xfrm>
            <a:off x="5102352" y="3474720"/>
            <a:ext cx="3611880" cy="365760"/>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Class Diagram: 6 core domain classes with relationships</a:t>
            </a:r>
            <a:endParaRPr lang="en-US" sz="1050" dirty="0"/>
          </a:p>
        </p:txBody>
      </p:sp>
      <p:sp>
        <p:nvSpPr>
          <p:cNvPr id="36" name="Shape 34"/>
          <p:cNvSpPr/>
          <p:nvPr/>
        </p:nvSpPr>
        <p:spPr>
          <a:xfrm>
            <a:off x="4892040" y="3968496"/>
            <a:ext cx="128016" cy="128016"/>
          </a:xfrm>
          <a:prstGeom prst="ellipse">
            <a:avLst/>
          </a:prstGeom>
          <a:solidFill>
            <a:srgbClr val="8E44AD"/>
          </a:solidFill>
          <a:ln w="12700">
            <a:solidFill>
              <a:srgbClr val="8E44AD"/>
            </a:solidFill>
            <a:prstDash val="solid"/>
          </a:ln>
        </p:spPr>
        <p:txBody>
          <a:bodyPr/>
          <a:lstStyle/>
          <a:p>
            <a:endParaRPr lang="en-IN"/>
          </a:p>
        </p:txBody>
      </p:sp>
      <p:sp>
        <p:nvSpPr>
          <p:cNvPr id="37" name="Text 35"/>
          <p:cNvSpPr/>
          <p:nvPr/>
        </p:nvSpPr>
        <p:spPr>
          <a:xfrm>
            <a:off x="5102352" y="3877056"/>
            <a:ext cx="3611880" cy="365760"/>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Component Diagram: 3-layer architecture</a:t>
            </a:r>
            <a:endParaRPr lang="en-US" sz="1050" dirty="0"/>
          </a:p>
        </p:txBody>
      </p:sp>
      <p:sp>
        <p:nvSpPr>
          <p:cNvPr id="38" name="Shape 36"/>
          <p:cNvSpPr/>
          <p:nvPr/>
        </p:nvSpPr>
        <p:spPr>
          <a:xfrm>
            <a:off x="4892040" y="4370832"/>
            <a:ext cx="128016" cy="128016"/>
          </a:xfrm>
          <a:prstGeom prst="ellipse">
            <a:avLst/>
          </a:prstGeom>
          <a:solidFill>
            <a:srgbClr val="8E44AD"/>
          </a:solidFill>
          <a:ln w="12700">
            <a:solidFill>
              <a:srgbClr val="8E44AD"/>
            </a:solidFill>
            <a:prstDash val="solid"/>
          </a:ln>
        </p:spPr>
        <p:txBody>
          <a:bodyPr/>
          <a:lstStyle/>
          <a:p>
            <a:endParaRPr lang="en-IN"/>
          </a:p>
        </p:txBody>
      </p:sp>
      <p:sp>
        <p:nvSpPr>
          <p:cNvPr id="39" name="Text 37"/>
          <p:cNvSpPr/>
          <p:nvPr/>
        </p:nvSpPr>
        <p:spPr>
          <a:xfrm>
            <a:off x="5102352" y="4279392"/>
            <a:ext cx="3611880" cy="365760"/>
          </a:xfrm>
          <a:prstGeom prst="rect">
            <a:avLst/>
          </a:prstGeom>
          <a:noFill/>
          <a:ln/>
        </p:spPr>
        <p:txBody>
          <a:bodyPr wrap="square" lIns="0" tIns="0" rIns="0" bIns="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Sequence &amp; State Diagrams for all key workflows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ABC9C"/>
          </a:solidFill>
          <a:ln w="12700">
            <a:solidFill>
              <a:srgbClr val="1ABC9C"/>
            </a:solidFill>
            <a:prstDash val="solid"/>
          </a:ln>
        </p:spPr>
        <p:txBody>
          <a:bodyPr/>
          <a:lstStyle/>
          <a:p>
            <a:endParaRPr lang="en-IN"/>
          </a:p>
        </p:txBody>
      </p:sp>
      <p:sp>
        <p:nvSpPr>
          <p:cNvPr id="3" name="Shape 1"/>
          <p:cNvSpPr/>
          <p:nvPr/>
        </p:nvSpPr>
        <p:spPr>
          <a:xfrm>
            <a:off x="0" y="5070348"/>
            <a:ext cx="9144000" cy="73152"/>
          </a:xfrm>
          <a:prstGeom prst="rect">
            <a:avLst/>
          </a:prstGeom>
          <a:solidFill>
            <a:srgbClr val="1ABC9C"/>
          </a:solidFill>
          <a:ln w="12700">
            <a:solidFill>
              <a:srgbClr val="1ABC9C"/>
            </a:solidFill>
            <a:prstDash val="solid"/>
          </a:ln>
        </p:spPr>
        <p:txBody>
          <a:bodyPr/>
          <a:lstStyle/>
          <a:p>
            <a:endParaRPr lang="en-IN"/>
          </a:p>
        </p:txBody>
      </p:sp>
      <p:sp>
        <p:nvSpPr>
          <p:cNvPr id="4" name="Shape 2"/>
          <p:cNvSpPr/>
          <p:nvPr/>
        </p:nvSpPr>
        <p:spPr>
          <a:xfrm>
            <a:off x="0" y="0"/>
            <a:ext cx="164592" cy="5143500"/>
          </a:xfrm>
          <a:prstGeom prst="rect">
            <a:avLst/>
          </a:prstGeom>
          <a:solidFill>
            <a:srgbClr val="2E86C1"/>
          </a:solidFill>
          <a:ln w="12700">
            <a:solidFill>
              <a:srgbClr val="2E86C1"/>
            </a:solidFill>
            <a:prstDash val="solid"/>
          </a:ln>
        </p:spPr>
        <p:txBody>
          <a:bodyPr/>
          <a:lstStyle/>
          <a:p>
            <a:endParaRPr lang="en-IN"/>
          </a:p>
        </p:txBody>
      </p:sp>
      <p:sp>
        <p:nvSpPr>
          <p:cNvPr id="5" name="Text 3"/>
          <p:cNvSpPr/>
          <p:nvPr/>
        </p:nvSpPr>
        <p:spPr>
          <a:xfrm>
            <a:off x="457200" y="822960"/>
            <a:ext cx="8229600" cy="1280160"/>
          </a:xfrm>
          <a:prstGeom prst="rect">
            <a:avLst/>
          </a:prstGeom>
          <a:noFill/>
          <a:ln/>
        </p:spPr>
        <p:txBody>
          <a:bodyPr wrap="square" lIns="0" tIns="0" rIns="0" bIns="0" rtlCol="0" anchor="ctr"/>
          <a:lstStyle/>
          <a:p>
            <a:pPr marL="0" indent="0" algn="l">
              <a:buNone/>
            </a:pPr>
            <a:r>
              <a:rPr lang="en-US" sz="6800" b="1" dirty="0">
                <a:solidFill>
                  <a:srgbClr val="FFFFFF"/>
                </a:solidFill>
                <a:latin typeface="Calibri" pitchFamily="34" charset="0"/>
                <a:ea typeface="Calibri" pitchFamily="34" charset="-122"/>
                <a:cs typeface="Calibri" pitchFamily="34" charset="-120"/>
              </a:rPr>
              <a:t>Thank You</a:t>
            </a:r>
            <a:endParaRPr lang="en-US" sz="6800" dirty="0"/>
          </a:p>
        </p:txBody>
      </p:sp>
      <p:sp>
        <p:nvSpPr>
          <p:cNvPr id="6" name="Shape 4"/>
          <p:cNvSpPr/>
          <p:nvPr/>
        </p:nvSpPr>
        <p:spPr>
          <a:xfrm>
            <a:off x="457200" y="2148840"/>
            <a:ext cx="3657600" cy="36576"/>
          </a:xfrm>
          <a:prstGeom prst="rect">
            <a:avLst/>
          </a:prstGeom>
          <a:solidFill>
            <a:srgbClr val="1ABC9C"/>
          </a:solidFill>
          <a:ln w="12700">
            <a:solidFill>
              <a:srgbClr val="1ABC9C"/>
            </a:solidFill>
            <a:prstDash val="solid"/>
          </a:ln>
        </p:spPr>
        <p:txBody>
          <a:bodyPr/>
          <a:lstStyle/>
          <a:p>
            <a:endParaRPr lang="en-IN"/>
          </a:p>
        </p:txBody>
      </p:sp>
      <p:sp>
        <p:nvSpPr>
          <p:cNvPr id="7" name="Text 5"/>
          <p:cNvSpPr/>
          <p:nvPr/>
        </p:nvSpPr>
        <p:spPr>
          <a:xfrm>
            <a:off x="457200" y="2331720"/>
            <a:ext cx="7315200" cy="457200"/>
          </a:xfrm>
          <a:prstGeom prst="rect">
            <a:avLst/>
          </a:prstGeom>
          <a:noFill/>
          <a:ln/>
        </p:spPr>
        <p:txBody>
          <a:bodyPr wrap="square" lIns="0" tIns="0" rIns="0" bIns="0" rtlCol="0" anchor="ctr"/>
          <a:lstStyle/>
          <a:p>
            <a:pPr marL="0" indent="0" algn="l">
              <a:buNone/>
            </a:pPr>
            <a:r>
              <a:rPr lang="en-US" sz="2000" dirty="0">
                <a:solidFill>
                  <a:srgbClr val="AED6F1"/>
                </a:solidFill>
                <a:latin typeface="Calibri" pitchFamily="34" charset="0"/>
                <a:ea typeface="Calibri" pitchFamily="34" charset="-122"/>
                <a:cs typeface="Calibri" pitchFamily="34" charset="-120"/>
              </a:rPr>
              <a:t>Questions &amp; Discussion</a:t>
            </a:r>
            <a:endParaRPr lang="en-US" sz="2000" dirty="0"/>
          </a:p>
        </p:txBody>
      </p:sp>
      <p:sp>
        <p:nvSpPr>
          <p:cNvPr id="8" name="Text 6"/>
          <p:cNvSpPr/>
          <p:nvPr/>
        </p:nvSpPr>
        <p:spPr>
          <a:xfrm>
            <a:off x="457200" y="3017520"/>
            <a:ext cx="5486400" cy="36576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Sasi Sai Nadh Boddu</a:t>
            </a:r>
            <a:endParaRPr lang="en-US" sz="1600" dirty="0"/>
          </a:p>
        </p:txBody>
      </p:sp>
      <p:sp>
        <p:nvSpPr>
          <p:cNvPr id="9" name="Text 7"/>
          <p:cNvSpPr/>
          <p:nvPr/>
        </p:nvSpPr>
        <p:spPr>
          <a:xfrm>
            <a:off x="457200" y="3429000"/>
            <a:ext cx="5486400" cy="320040"/>
          </a:xfrm>
          <a:prstGeom prst="rect">
            <a:avLst/>
          </a:prstGeom>
          <a:noFill/>
          <a:ln/>
        </p:spPr>
        <p:txBody>
          <a:bodyPr wrap="square" lIns="0" tIns="0" rIns="0" bIns="0" rtlCol="0" anchor="ctr"/>
          <a:lstStyle/>
          <a:p>
            <a:pPr marL="0" indent="0" algn="l">
              <a:buNone/>
            </a:pPr>
            <a:r>
              <a:rPr lang="en-US" sz="1400" dirty="0">
                <a:solidFill>
                  <a:srgbClr val="AED6F1"/>
                </a:solidFill>
                <a:latin typeface="Calibri" pitchFamily="34" charset="0"/>
                <a:ea typeface="Calibri" pitchFamily="34" charset="-122"/>
                <a:cs typeface="Calibri" pitchFamily="34" charset="-120"/>
              </a:rPr>
              <a:t>GWID: G22742105  |  Group 24</a:t>
            </a:r>
            <a:endParaRPr lang="en-US" sz="1400" dirty="0"/>
          </a:p>
        </p:txBody>
      </p:sp>
      <p:sp>
        <p:nvSpPr>
          <p:cNvPr id="10" name="Text 8"/>
          <p:cNvSpPr/>
          <p:nvPr/>
        </p:nvSpPr>
        <p:spPr>
          <a:xfrm>
            <a:off x="457200" y="3886200"/>
            <a:ext cx="6400800" cy="320040"/>
          </a:xfrm>
          <a:prstGeom prst="rect">
            <a:avLst/>
          </a:prstGeom>
          <a:noFill/>
          <a:ln/>
        </p:spPr>
        <p:txBody>
          <a:bodyPr wrap="square" lIns="0" tIns="0" rIns="0" bIns="0" rtlCol="0" anchor="ctr"/>
          <a:lstStyle/>
          <a:p>
            <a:pPr marL="0" indent="0" algn="l">
              <a:buNone/>
            </a:pPr>
            <a:r>
              <a:rPr lang="en-US" sz="1300" i="1" dirty="0">
                <a:solidFill>
                  <a:srgbClr val="7F8C8D"/>
                </a:solidFill>
                <a:latin typeface="Calibri" pitchFamily="34" charset="0"/>
                <a:ea typeface="Calibri" pitchFamily="34" charset="-122"/>
                <a:cs typeface="Calibri" pitchFamily="34" charset="-120"/>
              </a:rPr>
              <a:t>SCFMS — Smart Campus Facility Management System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1101</Words>
  <Application>Microsoft Office PowerPoint</Application>
  <PresentationFormat>On-screen Show (16:9)</PresentationFormat>
  <Paragraphs>309</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SCFMS - Final Project Architecture</dc:title>
  <dc:subject>PptxGenJS Presentation</dc:subject>
  <dc:creator>Sasi Sai Nadh Boddu</dc:creator>
  <cp:lastModifiedBy>Sai Nadh</cp:lastModifiedBy>
  <cp:revision>2</cp:revision>
  <dcterms:created xsi:type="dcterms:W3CDTF">2026-02-19T00:09:43Z</dcterms:created>
  <dcterms:modified xsi:type="dcterms:W3CDTF">2026-02-19T00:20:51Z</dcterms:modified>
</cp:coreProperties>
</file>