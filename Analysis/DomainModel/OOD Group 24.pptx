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</p:sldIdLst>
  <p:sldSz cx="12192000" cy="6858000"/>
  <p:notesSz cx="6858000" cy="12192000"/>
  <p:embeddedFontLst>
    <p:embeddedFont>
      <p:font typeface="Liter" panose="020B0604020202020204" charset="0"/>
      <p:regular r:id="rId14"/>
    </p:embeddedFont>
    <p:embeddedFont>
      <p:font typeface="Quattrocento Sans" panose="020B05020500000200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82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2E27E-EDBE-71DA-B137-4F9E9CC7F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15905B-F994-987B-8B67-FA89EA8DD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9496A-E1B0-D6A3-07A0-F6A75A98E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C17E2-8307-CF4E-FB0A-6555EBCBB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63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C230F-0E87-0FE9-6E3D-3ECB773A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FE011E-8379-6CE7-1E0E-6368B0E0E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6DC49-1B92-E176-D04A-EB1DB7966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410F9C-1FE0-F51C-E2C4-465F80667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35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0561-52A0-01BB-562A-EA17EB31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4330C0-9DB5-7670-55A9-D041D793C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19270-17C5-2BEA-101C-D0EE2115C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060126-653A-7B04-22A7-79E930317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84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385AA-9FCE-728B-D000-65256633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7FCA1F-ED8C-10B1-2760-8BD619B0B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629BE-6900-5EDD-0826-D69829F831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72375-A46D-3988-6CD8-CC6B58EEF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061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2DA0A-AC6D-8711-F228-C132F9703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A496A-E0CD-411B-7D31-C1BF510CA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EE2F1F-564C-5978-B87D-A43E7776D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3A10C-6054-4860-27B9-01174099FE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552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2ADD8-660D-D6C5-B8D1-329A9471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91525-B4DB-78AD-6B24-6E0C5AE4E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17F18-D218-006C-E1FB-C47C23F00F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0978F-92D3-4526-2AE0-35DCEBEC6D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16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1E1F-6062-464F-C40D-96456F4F9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9BF63F-FA21-C7BA-C068-37215493F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73F5FA-D4E7-405F-3DC1-2858C21A1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888F3-E4B5-D4B0-342E-A03F02AC81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2939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8FE34-EBC4-CC64-5B4A-60AF271D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AD7B8-5EF4-C3E7-8024-6BDE871A1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24EAA2-E566-8017-00DB-F05552A82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F7837-E459-A02D-4DD0-8B3CD3E16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435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18B75-9798-5063-8EA2-FC2191A5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FDD9BF-0279-5A68-0F13-BFEF933C2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7BF8B-22C2-0FBB-1A82-EB309D4AC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221B6-918A-047D-E19B-5B4379FEA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657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ebstoriesshares.com/90eadd9fdddc15aab6cb64f197669f76503af4bb.png"/>
          <p:cNvPicPr>
            <a:picLocks noChangeAspect="1"/>
          </p:cNvPicPr>
          <p:nvPr/>
        </p:nvPicPr>
        <p:blipFill>
          <a:blip r:embed="rId3">
            <a:alphaModFix amt="4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DB6AC">
                  <a:alpha val="3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4810" y="689610"/>
            <a:ext cx="3408045" cy="388620"/>
          </a:xfrm>
          <a:custGeom>
            <a:avLst/>
            <a:gdLst/>
            <a:ahLst/>
            <a:cxnLst/>
            <a:rect l="l" t="t" r="r" b="b"/>
            <a:pathLst>
              <a:path w="3408045" h="388620">
                <a:moveTo>
                  <a:pt x="194310" y="0"/>
                </a:moveTo>
                <a:lnTo>
                  <a:pt x="3213735" y="0"/>
                </a:lnTo>
                <a:cubicBezTo>
                  <a:pt x="3321049" y="0"/>
                  <a:pt x="3408045" y="86996"/>
                  <a:pt x="3408045" y="194310"/>
                </a:cubicBezTo>
                <a:lnTo>
                  <a:pt x="3408045" y="194310"/>
                </a:lnTo>
                <a:cubicBezTo>
                  <a:pt x="3408045" y="301624"/>
                  <a:pt x="3321049" y="388620"/>
                  <a:pt x="3213735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4DB6AC">
              <a:alpha val="20000"/>
            </a:srgbClr>
          </a:solidFill>
          <a:ln w="10160">
            <a:solidFill>
              <a:srgbClr val="4DB6AC">
                <a:alpha val="50196"/>
              </a:srgbClr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Project OOD</a:t>
            </a:r>
            <a:endParaRPr lang="en-IN" dirty="0">
              <a:solidFill>
                <a:schemeClr val="bg1"/>
              </a:solidFill>
              <a:latin typeface="Liter" panose="020B060402020202020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9120" y="800100"/>
            <a:ext cx="309681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88344"/>
            <a:ext cx="3547944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SCFMS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71744" y="1988344"/>
            <a:ext cx="963811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3253264"/>
            <a:ext cx="1524000" cy="38100"/>
          </a:xfrm>
          <a:custGeom>
            <a:avLst/>
            <a:gdLst/>
            <a:ahLst/>
            <a:cxnLst/>
            <a:rect l="l" t="t" r="r" b="b"/>
            <a:pathLst>
              <a:path w="1524000" h="38100">
                <a:moveTo>
                  <a:pt x="0" y="0"/>
                </a:moveTo>
                <a:lnTo>
                  <a:pt x="1524000" y="0"/>
                </a:lnTo>
                <a:lnTo>
                  <a:pt x="15240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80999" y="3519964"/>
            <a:ext cx="10522789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Campus Facility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0E0E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System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529614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Intelligent Solutions for Modern Campus Operations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5528" y="59721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42863" y="0"/>
                </a:moveTo>
                <a:cubicBezTo>
                  <a:pt x="48790" y="0"/>
                  <a:pt x="53578" y="4789"/>
                  <a:pt x="53578" y="10716"/>
                </a:cubicBezTo>
                <a:lnTo>
                  <a:pt x="53578" y="21431"/>
                </a:lnTo>
                <a:lnTo>
                  <a:pt x="96441" y="21431"/>
                </a:lnTo>
                <a:lnTo>
                  <a:pt x="96441" y="10716"/>
                </a:lnTo>
                <a:cubicBezTo>
                  <a:pt x="96441" y="4789"/>
                  <a:pt x="101229" y="0"/>
                  <a:pt x="107156" y="0"/>
                </a:cubicBezTo>
                <a:cubicBezTo>
                  <a:pt x="113083" y="0"/>
                  <a:pt x="117872" y="4789"/>
                  <a:pt x="117872" y="10716"/>
                </a:cubicBezTo>
                <a:lnTo>
                  <a:pt x="117872" y="21431"/>
                </a:lnTo>
                <a:lnTo>
                  <a:pt x="128588" y="21431"/>
                </a:lnTo>
                <a:cubicBezTo>
                  <a:pt x="140408" y="21431"/>
                  <a:pt x="150019" y="31042"/>
                  <a:pt x="150019" y="42863"/>
                </a:cubicBezTo>
                <a:lnTo>
                  <a:pt x="150019" y="139303"/>
                </a:lnTo>
                <a:cubicBezTo>
                  <a:pt x="150019" y="151124"/>
                  <a:pt x="140408" y="160734"/>
                  <a:pt x="128588" y="160734"/>
                </a:cubicBezTo>
                <a:lnTo>
                  <a:pt x="21431" y="160734"/>
                </a:lnTo>
                <a:cubicBezTo>
                  <a:pt x="9611" y="160734"/>
                  <a:pt x="0" y="151124"/>
                  <a:pt x="0" y="139303"/>
                </a:cubicBezTo>
                <a:lnTo>
                  <a:pt x="0" y="42863"/>
                </a:lnTo>
                <a:cubicBezTo>
                  <a:pt x="0" y="31042"/>
                  <a:pt x="9611" y="21431"/>
                  <a:pt x="21431" y="21431"/>
                </a:cubicBezTo>
                <a:lnTo>
                  <a:pt x="32147" y="21431"/>
                </a:lnTo>
                <a:lnTo>
                  <a:pt x="32147" y="10716"/>
                </a:lnTo>
                <a:cubicBezTo>
                  <a:pt x="32147" y="4789"/>
                  <a:pt x="36935" y="0"/>
                  <a:pt x="42863" y="0"/>
                </a:cubicBezTo>
                <a:close/>
                <a:moveTo>
                  <a:pt x="21431" y="80367"/>
                </a:moveTo>
                <a:lnTo>
                  <a:pt x="21431" y="91083"/>
                </a:lnTo>
                <a:cubicBezTo>
                  <a:pt x="21431" y="94030"/>
                  <a:pt x="23842" y="96441"/>
                  <a:pt x="26789" y="96441"/>
                </a:cubicBezTo>
                <a:lnTo>
                  <a:pt x="37505" y="96441"/>
                </a:lnTo>
                <a:cubicBezTo>
                  <a:pt x="40451" y="96441"/>
                  <a:pt x="42863" y="94030"/>
                  <a:pt x="42863" y="91083"/>
                </a:cubicBezTo>
                <a:lnTo>
                  <a:pt x="42863" y="80367"/>
                </a:lnTo>
                <a:cubicBezTo>
                  <a:pt x="42863" y="77420"/>
                  <a:pt x="40451" y="75009"/>
                  <a:pt x="37505" y="75009"/>
                </a:cubicBezTo>
                <a:lnTo>
                  <a:pt x="26789" y="75009"/>
                </a:lnTo>
                <a:cubicBezTo>
                  <a:pt x="23842" y="75009"/>
                  <a:pt x="21431" y="77420"/>
                  <a:pt x="21431" y="80367"/>
                </a:cubicBezTo>
                <a:close/>
                <a:moveTo>
                  <a:pt x="64294" y="80367"/>
                </a:moveTo>
                <a:lnTo>
                  <a:pt x="64294" y="91083"/>
                </a:lnTo>
                <a:cubicBezTo>
                  <a:pt x="64294" y="94030"/>
                  <a:pt x="66705" y="96441"/>
                  <a:pt x="69652" y="96441"/>
                </a:cubicBezTo>
                <a:lnTo>
                  <a:pt x="80367" y="96441"/>
                </a:lnTo>
                <a:cubicBezTo>
                  <a:pt x="83314" y="96441"/>
                  <a:pt x="85725" y="94030"/>
                  <a:pt x="85725" y="91083"/>
                </a:cubicBezTo>
                <a:lnTo>
                  <a:pt x="85725" y="80367"/>
                </a:lnTo>
                <a:cubicBezTo>
                  <a:pt x="85725" y="77420"/>
                  <a:pt x="83314" y="75009"/>
                  <a:pt x="80367" y="75009"/>
                </a:cubicBezTo>
                <a:lnTo>
                  <a:pt x="69652" y="75009"/>
                </a:lnTo>
                <a:cubicBezTo>
                  <a:pt x="66705" y="75009"/>
                  <a:pt x="64294" y="77420"/>
                  <a:pt x="64294" y="80367"/>
                </a:cubicBezTo>
                <a:close/>
                <a:moveTo>
                  <a:pt x="112514" y="75009"/>
                </a:moveTo>
                <a:cubicBezTo>
                  <a:pt x="109567" y="75009"/>
                  <a:pt x="107156" y="77420"/>
                  <a:pt x="107156" y="80367"/>
                </a:cubicBezTo>
                <a:lnTo>
                  <a:pt x="107156" y="91083"/>
                </a:lnTo>
                <a:cubicBezTo>
                  <a:pt x="107156" y="94030"/>
                  <a:pt x="109567" y="96441"/>
                  <a:pt x="112514" y="96441"/>
                </a:cubicBezTo>
                <a:lnTo>
                  <a:pt x="123230" y="96441"/>
                </a:lnTo>
                <a:cubicBezTo>
                  <a:pt x="126176" y="96441"/>
                  <a:pt x="128588" y="94030"/>
                  <a:pt x="128588" y="91083"/>
                </a:cubicBezTo>
                <a:lnTo>
                  <a:pt x="128588" y="80367"/>
                </a:lnTo>
                <a:cubicBezTo>
                  <a:pt x="128588" y="77420"/>
                  <a:pt x="126176" y="75009"/>
                  <a:pt x="123230" y="75009"/>
                </a:cubicBezTo>
                <a:lnTo>
                  <a:pt x="112514" y="75009"/>
                </a:lnTo>
                <a:close/>
                <a:moveTo>
                  <a:pt x="21431" y="123230"/>
                </a:moveTo>
                <a:lnTo>
                  <a:pt x="21431" y="133945"/>
                </a:lnTo>
                <a:cubicBezTo>
                  <a:pt x="21431" y="136892"/>
                  <a:pt x="23842" y="139303"/>
                  <a:pt x="26789" y="139303"/>
                </a:cubicBezTo>
                <a:lnTo>
                  <a:pt x="37505" y="139303"/>
                </a:lnTo>
                <a:cubicBezTo>
                  <a:pt x="40451" y="139303"/>
                  <a:pt x="42863" y="136892"/>
                  <a:pt x="42863" y="133945"/>
                </a:cubicBezTo>
                <a:lnTo>
                  <a:pt x="42863" y="123230"/>
                </a:lnTo>
                <a:cubicBezTo>
                  <a:pt x="42863" y="120283"/>
                  <a:pt x="40451" y="117872"/>
                  <a:pt x="37505" y="117872"/>
                </a:cubicBezTo>
                <a:lnTo>
                  <a:pt x="26789" y="117872"/>
                </a:lnTo>
                <a:cubicBezTo>
                  <a:pt x="23842" y="117872"/>
                  <a:pt x="21431" y="120283"/>
                  <a:pt x="21431" y="123230"/>
                </a:cubicBezTo>
                <a:close/>
                <a:moveTo>
                  <a:pt x="69652" y="117872"/>
                </a:moveTo>
                <a:cubicBezTo>
                  <a:pt x="66705" y="117872"/>
                  <a:pt x="64294" y="120283"/>
                  <a:pt x="64294" y="123230"/>
                </a:cubicBezTo>
                <a:lnTo>
                  <a:pt x="64294" y="133945"/>
                </a:lnTo>
                <a:cubicBezTo>
                  <a:pt x="64294" y="136892"/>
                  <a:pt x="66705" y="139303"/>
                  <a:pt x="69652" y="139303"/>
                </a:cubicBezTo>
                <a:lnTo>
                  <a:pt x="80367" y="139303"/>
                </a:lnTo>
                <a:cubicBezTo>
                  <a:pt x="83314" y="139303"/>
                  <a:pt x="85725" y="136892"/>
                  <a:pt x="85725" y="133945"/>
                </a:cubicBezTo>
                <a:lnTo>
                  <a:pt x="85725" y="123230"/>
                </a:lnTo>
                <a:cubicBezTo>
                  <a:pt x="85725" y="120283"/>
                  <a:pt x="83314" y="117872"/>
                  <a:pt x="80367" y="117872"/>
                </a:cubicBezTo>
                <a:lnTo>
                  <a:pt x="69652" y="117872"/>
                </a:lnTo>
                <a:close/>
                <a:moveTo>
                  <a:pt x="107156" y="123230"/>
                </a:moveTo>
                <a:lnTo>
                  <a:pt x="107156" y="133945"/>
                </a:lnTo>
                <a:cubicBezTo>
                  <a:pt x="107156" y="136892"/>
                  <a:pt x="109567" y="139303"/>
                  <a:pt x="112514" y="139303"/>
                </a:cubicBezTo>
                <a:lnTo>
                  <a:pt x="123230" y="139303"/>
                </a:lnTo>
                <a:cubicBezTo>
                  <a:pt x="126176" y="139303"/>
                  <a:pt x="128588" y="136892"/>
                  <a:pt x="128588" y="133945"/>
                </a:cubicBezTo>
                <a:lnTo>
                  <a:pt x="128588" y="123230"/>
                </a:lnTo>
                <a:cubicBezTo>
                  <a:pt x="128588" y="120283"/>
                  <a:pt x="126176" y="117872"/>
                  <a:pt x="123230" y="117872"/>
                </a:cubicBezTo>
                <a:lnTo>
                  <a:pt x="112514" y="117872"/>
                </a:lnTo>
                <a:cubicBezTo>
                  <a:pt x="109567" y="117872"/>
                  <a:pt x="107156" y="120283"/>
                  <a:pt x="107156" y="123230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42607" y="5152975"/>
            <a:ext cx="6372674" cy="1581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30000"/>
              </a:lnSpc>
            </a:pPr>
            <a:r>
              <a:rPr lang="en-US" b="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Sasi Sai Nadh Boddu</a:t>
            </a:r>
          </a:p>
          <a:p>
            <a:pPr algn="just">
              <a:lnSpc>
                <a:spcPct val="130000"/>
              </a:lnSpc>
            </a:pPr>
            <a:r>
              <a:rPr lang="en-US" b="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GWID: G22742105</a:t>
            </a:r>
          </a:p>
          <a:p>
            <a:pPr algn="just">
              <a:lnSpc>
                <a:spcPct val="130000"/>
              </a:lnSpc>
            </a:pPr>
            <a:r>
              <a:rPr lang="en-US" b="1" dirty="0">
                <a:solidFill>
                  <a:srgbClr val="E0E0E0">
                    <a:alpha val="60000"/>
                  </a:srgbClr>
                </a:solidFill>
                <a:latin typeface="Quattrocento Sans" pitchFamily="34" charset="0"/>
              </a:rPr>
              <a:t>Group 24</a:t>
            </a:r>
            <a:endParaRPr lang="en-US" sz="2400" b="1" dirty="0"/>
          </a:p>
        </p:txBody>
      </p:sp>
      <p:sp>
        <p:nvSpPr>
          <p:cNvPr id="14" name="Text 11"/>
          <p:cNvSpPr/>
          <p:nvPr/>
        </p:nvSpPr>
        <p:spPr>
          <a:xfrm>
            <a:off x="2287310" y="5943600"/>
            <a:ext cx="2114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SCFMS (Smart Campus Facility Management System)</a:t>
            </a:r>
            <a:r>
              <a:rPr lang="en-US" sz="1500" dirty="0">
                <a:solidFill>
                  <a:srgbClr val="E0E0E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an integrated platform designed to revolutionize how educational institutions manage their physical infrastructure. By combining real-time sensor networks, artificial intelligence, and cloud-based analytics, SCFMS creates a unified ecosystem that transforms traditional facility management from reactive maintenance to proactive optimization.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3262312"/>
            <a:ext cx="7210425" cy="2109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system continuously monitors building systems including HVAC, lighting, security, and energy consumption, providing facility managers with unprecedented visibility and control. </a:t>
            </a:r>
            <a:endParaRPr lang="en-US" sz="1350" dirty="0">
              <a:solidFill>
                <a:srgbClr val="E0E0E0">
                  <a:alpha val="80000"/>
                </a:srgbClr>
              </a:solidFill>
              <a:latin typeface="Quattrocento Sans" pitchFamily="34" charset="0"/>
            </a:endParaRPr>
          </a:p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</a:rPr>
              <a:t>The programming language used here would be Java.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4810" y="5551171"/>
            <a:ext cx="2265045" cy="922020"/>
          </a:xfrm>
          <a:custGeom>
            <a:avLst/>
            <a:gdLst/>
            <a:ahLst/>
            <a:cxnLst/>
            <a:rect l="l" t="t" r="r" b="b"/>
            <a:pathLst>
              <a:path w="2265045" h="922020">
                <a:moveTo>
                  <a:pt x="76196" y="0"/>
                </a:moveTo>
                <a:lnTo>
                  <a:pt x="2188849" y="0"/>
                </a:lnTo>
                <a:cubicBezTo>
                  <a:pt x="2230931" y="0"/>
                  <a:pt x="2265045" y="34114"/>
                  <a:pt x="2265045" y="76196"/>
                </a:cubicBezTo>
                <a:lnTo>
                  <a:pt x="2265045" y="845824"/>
                </a:lnTo>
                <a:cubicBezTo>
                  <a:pt x="2265045" y="887906"/>
                  <a:pt x="2230931" y="922020"/>
                  <a:pt x="218884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24/7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682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10470" y="5551171"/>
            <a:ext cx="2265045" cy="922020"/>
          </a:xfrm>
          <a:custGeom>
            <a:avLst/>
            <a:gdLst/>
            <a:ahLst/>
            <a:cxnLst/>
            <a:rect l="l" t="t" r="r" b="b"/>
            <a:pathLst>
              <a:path w="2265045" h="922020">
                <a:moveTo>
                  <a:pt x="76196" y="0"/>
                </a:moveTo>
                <a:lnTo>
                  <a:pt x="2188849" y="0"/>
                </a:lnTo>
                <a:cubicBezTo>
                  <a:pt x="2230931" y="0"/>
                  <a:pt x="2265045" y="34114"/>
                  <a:pt x="2265045" y="76196"/>
                </a:cubicBezTo>
                <a:lnTo>
                  <a:pt x="2265045" y="845824"/>
                </a:lnTo>
                <a:cubicBezTo>
                  <a:pt x="2265045" y="887906"/>
                  <a:pt x="2230931" y="922020"/>
                  <a:pt x="218884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FFD54F">
              <a:alpha val="10196"/>
            </a:srgbClr>
          </a:solidFill>
          <a:ln w="10160">
            <a:solidFill>
              <a:srgbClr val="FFD54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8095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FD5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Powered Analytics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6131" y="5551171"/>
            <a:ext cx="2265045" cy="922020"/>
          </a:xfrm>
          <a:custGeom>
            <a:avLst/>
            <a:gdLst/>
            <a:ahLst/>
            <a:cxnLst/>
            <a:rect l="l" t="t" r="r" b="b"/>
            <a:pathLst>
              <a:path w="2265045" h="922020">
                <a:moveTo>
                  <a:pt x="76196" y="0"/>
                </a:moveTo>
                <a:lnTo>
                  <a:pt x="2188849" y="0"/>
                </a:lnTo>
                <a:cubicBezTo>
                  <a:pt x="2230931" y="0"/>
                  <a:pt x="2265045" y="34114"/>
                  <a:pt x="2265045" y="76196"/>
                </a:cubicBezTo>
                <a:lnTo>
                  <a:pt x="2265045" y="845824"/>
                </a:lnTo>
                <a:cubicBezTo>
                  <a:pt x="2265045" y="887906"/>
                  <a:pt x="2230931" y="922020"/>
                  <a:pt x="2188849" y="922020"/>
                </a:cubicBezTo>
                <a:lnTo>
                  <a:pt x="76196" y="922020"/>
                </a:lnTo>
                <a:cubicBezTo>
                  <a:pt x="34114" y="922020"/>
                  <a:pt x="0" y="887906"/>
                  <a:pt x="0" y="845824"/>
                </a:cubicBezTo>
                <a:lnTo>
                  <a:pt x="0" y="76196"/>
                </a:lnTo>
                <a:cubicBezTo>
                  <a:pt x="0" y="34114"/>
                  <a:pt x="34114" y="0"/>
                  <a:pt x="76196" y="0"/>
                </a:cubicBezTo>
                <a:close/>
              </a:path>
            </a:pathLst>
          </a:custGeom>
          <a:solidFill>
            <a:srgbClr val="4DB6AC">
              <a:alpha val="10196"/>
            </a:srgbClr>
          </a:solidFill>
          <a:ln w="10160">
            <a:solidFill>
              <a:srgbClr val="4DB6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4DB6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0E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</a:t>
            </a:r>
            <a:endParaRPr lang="en-US" sz="1600" dirty="0"/>
          </a:p>
        </p:txBody>
      </p:sp>
      <p:pic>
        <p:nvPicPr>
          <p:cNvPr id="16" name="Image 0" descr="https://kimi-web-img.moonshot.cn/img/a.storyblok.com/89387903111c4298713d67e042bbb3311c1aa5c3.jpg"/>
          <p:cNvPicPr>
            <a:picLocks noChangeAspect="1"/>
          </p:cNvPicPr>
          <p:nvPr/>
        </p:nvPicPr>
        <p:blipFill>
          <a:blip r:embed="rId3"/>
          <a:srcRect t="9247" b="9247"/>
          <a:stretch/>
        </p:blipFill>
        <p:spPr>
          <a:xfrm>
            <a:off x="7810500" y="1485900"/>
            <a:ext cx="3971925" cy="2638425"/>
          </a:xfrm>
          <a:prstGeom prst="roundRect">
            <a:avLst>
              <a:gd name="adj" fmla="val 4332"/>
            </a:avLst>
          </a:prstGeom>
        </p:spPr>
      </p:pic>
      <p:sp>
        <p:nvSpPr>
          <p:cNvPr id="17" name="Shape 14"/>
          <p:cNvSpPr/>
          <p:nvPr/>
        </p:nvSpPr>
        <p:spPr>
          <a:xfrm>
            <a:off x="7829550" y="4724400"/>
            <a:ext cx="3981450" cy="1752600"/>
          </a:xfrm>
          <a:custGeom>
            <a:avLst/>
            <a:gdLst/>
            <a:ahLst/>
            <a:cxnLst/>
            <a:rect l="l" t="t" r="r" b="b"/>
            <a:pathLst>
              <a:path w="3981450" h="1752600">
                <a:moveTo>
                  <a:pt x="0" y="0"/>
                </a:moveTo>
                <a:lnTo>
                  <a:pt x="3905247" y="0"/>
                </a:lnTo>
                <a:cubicBezTo>
                  <a:pt x="3947333" y="0"/>
                  <a:pt x="3981450" y="34117"/>
                  <a:pt x="3981450" y="76203"/>
                </a:cubicBezTo>
                <a:lnTo>
                  <a:pt x="3981450" y="1676397"/>
                </a:lnTo>
                <a:cubicBezTo>
                  <a:pt x="3981450" y="1718483"/>
                  <a:pt x="3947333" y="1752600"/>
                  <a:pt x="3905247" y="1752600"/>
                </a:cubicBez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5F6B7A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7829550" y="47244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8084344" y="496252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4DB6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4DB6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39100" y="5295900"/>
            <a:ext cx="3657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0E0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Unlike traditional BMS solutions, SCFMS integrates predictive maintenance algorithms that learn from historical data patterns to forecast equipment failures 7-14 days in advance, enabling proactive intervention.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67D1E0-3307-4660-2B1E-51075DBD8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26BCBF-8B5B-D9F8-B5D4-4F28A1E57CD4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FC95A20-2DE1-DD9A-B8A3-CA991F65144C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</a:rPr>
              <a:t>Major Function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E48B09-5278-9FBF-9719-FB0E9CD906F4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11DFCE1-FCC6-92CA-E6D3-613A5A1550ED}"/>
              </a:ext>
            </a:extLst>
          </p:cNvPr>
          <p:cNvSpPr/>
          <p:nvPr/>
        </p:nvSpPr>
        <p:spPr>
          <a:xfrm>
            <a:off x="455295" y="666750"/>
            <a:ext cx="9693442" cy="5440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User Authentication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Secure credential verification for system access control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Room Booking Management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Enable users to reserve and manage campus facility spaces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Room Availability Search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Real-time search functionality to find available rooms based on criteria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Check-in/Check-out Management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Track and manage room occupancy and usage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Maintenance Ticket Creation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Allow users to submit facility maintenance requests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Ticket Status Tracking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Monitor and track the progress of maintenance requests</a:t>
            </a: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  <a:latin typeface="Liter" panose="020B0604020202020204" charset="0"/>
              </a:rPr>
              <a:t>Real-time Facility Monitoring</a:t>
            </a:r>
            <a:r>
              <a:rPr lang="en-US" dirty="0">
                <a:solidFill>
                  <a:schemeClr val="bg1"/>
                </a:solidFill>
                <a:latin typeface="Liter" panose="020B0604020202020204" charset="0"/>
              </a:rPr>
              <a:t> - 24/7 monitoring of building systems (HVAC, lighting, security, energy) with AI-powered analytics</a:t>
            </a:r>
            <a:br>
              <a:rPr lang="en-US" sz="1600" dirty="0">
                <a:solidFill>
                  <a:schemeClr val="bg1"/>
                </a:solidFill>
                <a:latin typeface="Liter" panose="020B0604020202020204" charset="0"/>
              </a:rPr>
            </a:br>
            <a:br>
              <a:rPr lang="en-US" sz="1600" dirty="0">
                <a:solidFill>
                  <a:schemeClr val="bg1"/>
                </a:solidFill>
                <a:latin typeface="Liter" panose="020B0604020202020204" charset="0"/>
              </a:rPr>
            </a:br>
            <a:endParaRPr lang="en-US" sz="1600" dirty="0">
              <a:solidFill>
                <a:schemeClr val="bg1"/>
              </a:solidFill>
              <a:latin typeface="Liter" panose="020B060402020202020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739A073-18CF-4C8A-40A8-73D33B713DA4}"/>
              </a:ext>
            </a:extLst>
          </p:cNvPr>
          <p:cNvSpPr/>
          <p:nvPr/>
        </p:nvSpPr>
        <p:spPr>
          <a:xfrm>
            <a:off x="381000" y="3262312"/>
            <a:ext cx="7210425" cy="2109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C113D3-9DCA-303A-F3E9-268A2DBA0316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8C58D0F-4842-A8C7-4058-5FEADD853C6D}"/>
              </a:ext>
            </a:extLst>
          </p:cNvPr>
          <p:cNvSpPr/>
          <p:nvPr/>
        </p:nvSpPr>
        <p:spPr>
          <a:xfrm>
            <a:off x="507682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967FA37-8417-9CDA-05B0-89BCC5573855}"/>
              </a:ext>
            </a:extLst>
          </p:cNvPr>
          <p:cNvSpPr/>
          <p:nvPr/>
        </p:nvSpPr>
        <p:spPr>
          <a:xfrm>
            <a:off x="288095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22F787B-D35A-2453-DEF4-7A79FDA4446F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91A1191-684C-9EF0-ED63-57C928452108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8100069-FDDB-8165-5EBE-55767E1AD20C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4795358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102AA-C450-5889-3715-DB25692B6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BA0F56-4821-3357-4AB6-5796C87B8C5F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71A77F-CCB1-DE1A-5922-3AA919308CA6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 Model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C538DEB-F8B9-C2B6-5625-E6945BD52E19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40CC1E-5291-85E6-AE79-61135AF3AEBC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AC928-FCF7-0D58-718A-D4DA25090ACD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AFF4A2-9D7A-FA5C-67E3-672D2156E413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E626378-2580-1456-3424-D0B923CF1B44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6F07C61-F06B-D203-BD03-AECDCE6FCFC6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D8F7784-B5DC-83A9-65F2-2F23A68F613C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A0985C9-9080-2AA8-D064-1AC2EFD61651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F76D622-8373-5ABB-B0AD-3FA686CE1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718611" y="248573"/>
            <a:ext cx="4171055" cy="721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79195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30968-F001-6391-8CDB-DA867E51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B01F64-1EBF-3304-F571-69D4A8BB81E0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F79BC1F-6E0D-3705-87E4-EC0363B37EF1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 Check IN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B2B079-A6B8-6CD4-1C11-207DFAA8DF4C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CDC9FF7-07D2-E79D-12FC-F48AFF97BA27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A79F72-F5BE-FAC8-BFDB-75CE20DDF1D0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DFDECB-0A4E-3CF5-3A83-CE102E3C867C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7D09F99-C6CB-A958-1569-D898629F30C3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3DD1BD7-ECD8-82C3-CD6B-C222D5E22D5A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5FC9F0F-D4A0-5C95-FD7C-C76CEECF011A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A3726773-21DD-4151-E2DE-B2BA863043F2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FAC791-B79B-4F8B-CBF6-C0C82321F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474" y="2056426"/>
            <a:ext cx="7429913" cy="378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58506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0F777-41DB-7202-6A80-B1CF2517B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78FB5A-26B2-6D0E-38AC-EDAB265970AA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D6633D-AECA-3901-1A36-4E72A9A97758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Authenticate Credentials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53062E8-15BC-AFBA-3CCC-7B20F4B92690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9BF6CD-CD18-2AA0-6219-D84958C19531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B2EDFA-CD0D-D32A-A799-8B9AF04BF0D3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D949FF8-C8A4-AE2E-841E-6AE76B74A55E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CDA070B-B930-6FE0-5C69-374DE37B3EE1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EEA464A-55AE-73EE-948F-4150CB520FAF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78EBAB6-3637-545E-30C5-71396669821F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B22C5AD-E98E-0FD0-F832-6074998EBEF2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756D0B-975B-AFE8-E1B7-EC48C41F8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27" y="1485900"/>
            <a:ext cx="9526329" cy="453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483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C1680-ECE9-B4AC-0AF6-18491E351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51EAD1-502A-96E2-CB44-2DD588979137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4C1304-2834-416E-4CC4-5F0EA49821D0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</a:rPr>
              <a:t>Book Room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95E776C-67D9-1BE6-9074-645B5DDEE1FF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D6F2B84-8099-4941-70BD-97A39A05F4D7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72F4E8E-3848-E8D5-E078-26998696347C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9BF65F-E254-FA59-0020-82967D9B0AFB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66D9A6F-D3B3-767F-06AE-09F805470D32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CEADE49-16A3-1D83-6146-9007BC783B9A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0A8D038-CB14-4D74-A211-01F1F18F9604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E973100-38E7-5FC0-6604-3E135752FC26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A6A904-F712-CBB4-6F2D-D8FB204CE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191" y="1727738"/>
            <a:ext cx="7655493" cy="382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2447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CD68B0-1792-EA51-A2B8-E99A7DFE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D1BFD0B-3AAB-7547-5D8C-252C68C53FCF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D54911D-9222-1D3D-AB92-C76E686B1228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Ticket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3E0B980-9BF5-28D3-BF02-85FD5185E034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CEB120-C76A-7E80-A873-170CB380CB3C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E821C2-7662-0DBB-3776-CB0ED0DFFA83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DECD21A-834F-1DD1-AB36-936CA8489D83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CC96C1-F8A5-3307-13DC-3AC0503965DD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9526729-1BA9-501B-BD1E-33C90E12839C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50543B3-76A7-F075-D728-B0F47282AB61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76FD781-DACE-8D87-EC46-C6D543EC6061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126FE5-50DA-61C1-868D-A423A54F6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941" y="1789693"/>
            <a:ext cx="9194113" cy="389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3849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E8D32-F34E-7DE1-CD40-0242BCDC6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1A4F25-9917-067B-2486-5FE5D56861DF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0DE6A1-AC94-3CA8-D129-575746027C1C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Search Availability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F15EF0B-0668-C5FF-7018-C10143C07F58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23CDD9-D450-7BF5-F197-73C2984A4DB6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3A7B8F-0169-20C4-DCD8-69B519D8A9C6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BB570AA-22FE-70A2-FE94-DBE287C8D88A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96B575B-91EC-3811-EE0B-35A8FEDD5BEC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0C6547-A997-F3A0-D2AA-C45710275904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061CC48-B63D-C597-A3A2-01A94BEADCC4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80A6C39-4D6C-F821-5F77-104EDE614CC2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161CF7-1C32-9EE1-ED23-4F1A5444A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352" y="1724180"/>
            <a:ext cx="8163969" cy="3831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2947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3C1AB-7B17-AED1-5D48-385B9A30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5FF1DA-61D2-0129-BCB7-978C0BB44F9E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974E7E-E8C5-9FCA-6B2C-BF3892915659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Ticket Status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AAE110-8557-A0C3-A3FE-A1080BCE984D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8F2D69-6F59-3A8D-A825-15CE822FE0F2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FAB74F8-EFE7-3BC8-B853-B6A0AABF2C01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4CE3F55-636D-1935-D926-8E629DA529D3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4336F27-18E1-9369-084D-A0F58CFC834D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B36A38-311D-90A7-9BCE-5AFEABD1349C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70BBA64-B226-E0F8-0F88-49C3C0B35DD2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2C003A1-BF83-8974-0B26-B0F20B31397F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5AED13-3E68-1FD4-B1F5-933E1AEA5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478" y="2096935"/>
            <a:ext cx="8092100" cy="352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8212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154492-3772-8C64-EFB6-E59FC2E5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DC676C-BCC0-9879-B2F8-2D3F4C694898}"/>
              </a:ext>
            </a:extLst>
          </p:cNvPr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8248B6-CFE7-52E2-0321-0C2473B5E780}"/>
              </a:ext>
            </a:extLst>
          </p:cNvPr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0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Model</a:t>
            </a:r>
            <a:endParaRPr lang="en-US" sz="1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A15F479-21A4-B744-5EDC-45DCA0FA3019}"/>
              </a:ext>
            </a:extLst>
          </p:cNvPr>
          <p:cNvSpPr/>
          <p:nvPr/>
        </p:nvSpPr>
        <p:spPr>
          <a:xfrm>
            <a:off x="381000" y="12192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4DB6AC"/>
              </a:gs>
              <a:gs pos="100000">
                <a:srgbClr val="FFD54F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53BBE4-59AF-D5C3-625D-2DAD03DB76DF}"/>
              </a:ext>
            </a:extLst>
          </p:cNvPr>
          <p:cNvSpPr/>
          <p:nvPr/>
        </p:nvSpPr>
        <p:spPr>
          <a:xfrm>
            <a:off x="381000" y="1485900"/>
            <a:ext cx="7219950" cy="1928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CA05937-6B5E-52BF-E2E2-66A6BF2B0293}"/>
              </a:ext>
            </a:extLst>
          </p:cNvPr>
          <p:cNvSpPr/>
          <p:nvPr/>
        </p:nvSpPr>
        <p:spPr>
          <a:xfrm>
            <a:off x="152400" y="1789693"/>
            <a:ext cx="11303479" cy="5414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altLang="en-US" sz="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B8D6C2-E812-258F-BB06-B90522F0518F}"/>
              </a:ext>
            </a:extLst>
          </p:cNvPr>
          <p:cNvSpPr/>
          <p:nvPr/>
        </p:nvSpPr>
        <p:spPr>
          <a:xfrm>
            <a:off x="455295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44C8B23-B648-00B4-B640-214842C6398E}"/>
              </a:ext>
            </a:extLst>
          </p:cNvPr>
          <p:cNvSpPr/>
          <p:nvPr/>
        </p:nvSpPr>
        <p:spPr>
          <a:xfrm>
            <a:off x="293334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3BBDDA8-8074-9AF7-9577-73729B9096EB}"/>
              </a:ext>
            </a:extLst>
          </p:cNvPr>
          <p:cNvSpPr/>
          <p:nvPr/>
        </p:nvSpPr>
        <p:spPr>
          <a:xfrm>
            <a:off x="5306616" y="5707380"/>
            <a:ext cx="21240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6561229-D34F-09C2-6837-74593F600A53}"/>
              </a:ext>
            </a:extLst>
          </p:cNvPr>
          <p:cNvSpPr/>
          <p:nvPr/>
        </p:nvSpPr>
        <p:spPr>
          <a:xfrm>
            <a:off x="5359003" y="612648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654CF37-925A-A19B-ECA7-F063E26BE683}"/>
              </a:ext>
            </a:extLst>
          </p:cNvPr>
          <p:cNvSpPr/>
          <p:nvPr/>
        </p:nvSpPr>
        <p:spPr>
          <a:xfrm>
            <a:off x="8258175" y="49149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FCF8630-BDFC-F878-3356-664536DF2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751" y="1408693"/>
            <a:ext cx="6962775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641053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282</Words>
  <Application>Microsoft Office PowerPoint</Application>
  <PresentationFormat>Widescreen</PresentationFormat>
  <Paragraphs>48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Quattrocento Sans</vt:lpstr>
      <vt:lpstr>Liter</vt:lpstr>
      <vt:lpstr>Arial</vt:lpstr>
      <vt:lpstr>Times New Roman</vt:lpstr>
      <vt:lpstr>Wingdings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SCFMS+ — Smart Campus Facility Management System</dc:title>
  <dc:subject>SCFMS+ — Smart Campus Facility Management System</dc:subject>
  <dc:creator>Kimi</dc:creator>
  <cp:lastModifiedBy>Sai Nadh</cp:lastModifiedBy>
  <cp:revision>8</cp:revision>
  <dcterms:created xsi:type="dcterms:W3CDTF">2026-01-29T23:29:10Z</dcterms:created>
  <dcterms:modified xsi:type="dcterms:W3CDTF">2026-02-17T02:36:24Z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{"Label":"SCFMS+ — Smart Campus Facility Management System","ContentProducer":"001191110108MACG2KBH8F10000","ProduceID":"19c0c13a-6c72-8deb-8000-00005166c575","ReservedCode1":"","ContentPropagator":"001191110108MACG2KBH8F20000","PropagateID":"19c0c13a-6c72-8deb-8000-00005166c575","ReservedCode2":""}</vt:lpwstr>
  </property>
</Properties>
</file>